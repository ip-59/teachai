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1695" cy="6858000"/>
  <p:notesSz cx="6858000" cy="12191695"/>
  <p:embeddedFontLst>
    <p:embeddedFont>
      <p:font typeface="Noto Sans Bold"/>
      <p:regular r:id="rId201314"/>
    </p:embeddedFont>
    <p:embeddedFont>
      <p:font typeface="Noto Sans ExtraBold"/>
      <p:regular r:id="rId201315"/>
    </p:embeddedFont>
    <p:embeddedFont>
      <p:font typeface="Noto Sans"/>
      <p:regular r:id="rId201316"/>
    </p:embeddedFont>
    <p:embeddedFont>
      <p:font typeface="Noto Sans Medium"/>
      <p:regular r:id="rId201317"/>
    </p:embeddedFont>
    <p:embeddedFont>
      <p:font typeface="Noto Sans SemiBold"/>
      <p:regular r:id="rId201318"/>
    </p:embeddedFont>
    <p:embeddedFont>
      <p:font typeface="Noto Sans Black"/>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github.com/Ip-59/TeachAI" TargetMode="Externa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16874"/>
            <a:ext cx="11582110"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2A1233"/>
                </a:solidFill>
                <a:latin typeface="Noto Sans SemiBold" pitchFamily="34" charset="0"/>
                <a:ea typeface="Noto Sans SemiBold" pitchFamily="34" charset="-122"/>
                <a:cs typeface="Noto Sans SemiBold" pitchFamily="34" charset="-120"/>
              </a:rPr>
              <a:t>ДИПЛОМНЫЙ ПРОЕКТ · AI/ML - РАЗРАБОТЧИК</a:t>
            </a:r>
            <a:endParaRPr lang="en-US" sz="1200" dirty="0"/>
          </a:p>
        </p:txBody>
      </p:sp>
      <p:sp>
        <p:nvSpPr>
          <p:cNvPr id="3" name="Text 1"/>
          <p:cNvSpPr/>
          <p:nvPr/>
        </p:nvSpPr>
        <p:spPr>
          <a:xfrm>
            <a:off x="609585" y="1554071"/>
            <a:ext cx="10972526" cy="896045"/>
          </a:xfrm>
          <a:prstGeom prst="rect">
            <a:avLst/>
          </a:prstGeom>
          <a:noFill/>
          <a:ln/>
        </p:spPr>
        <p:txBody>
          <a:bodyPr wrap="none" lIns="0" tIns="0" rIns="0" bIns="0" rtlCol="0" anchor="t"/>
          <a:lstStyle/>
          <a:p>
            <a:pPr algn="l" indent="0" marL="0">
              <a:lnSpc>
                <a:spcPct val="82000"/>
              </a:lnSpc>
              <a:buNone/>
            </a:pPr>
            <a:r>
              <a:rPr lang="en-US" sz="7200" spc="-144" kern="100" dirty="0">
                <a:solidFill>
                  <a:srgbClr val="2A1233"/>
                </a:solidFill>
                <a:latin typeface="Noto Sans Black" pitchFamily="34" charset="0"/>
                <a:ea typeface="Noto Sans Black" pitchFamily="34" charset="-122"/>
                <a:cs typeface="Noto Sans Black" pitchFamily="34" charset="-120"/>
              </a:rPr>
              <a:t>TeachAI</a:t>
            </a:r>
            <a:endParaRPr lang="en-US" sz="7200" dirty="0"/>
          </a:p>
        </p:txBody>
      </p:sp>
      <p:sp>
        <p:nvSpPr>
          <p:cNvPr id="4" name="Text 2"/>
          <p:cNvSpPr/>
          <p:nvPr/>
        </p:nvSpPr>
        <p:spPr>
          <a:xfrm>
            <a:off x="609585" y="2577682"/>
            <a:ext cx="10972526" cy="1440061"/>
          </a:xfrm>
          <a:prstGeom prst="rect">
            <a:avLst/>
          </a:prstGeom>
          <a:noFill/>
          <a:ln/>
        </p:spPr>
        <p:txBody>
          <a:bodyPr wrap="square" lIns="0" tIns="0" rIns="0" bIns="0" rtlCol="0" anchor="t">
            <a:normAutofit/>
          </a:bodyPr>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Интеллектуальная система персонализированного обучения на основе языковой модели</a:t>
            </a:r>
            <a:endParaRPr lang="en-US" sz="3600" dirty="0"/>
          </a:p>
        </p:txBody>
      </p:sp>
      <p:sp>
        <p:nvSpPr>
          <p:cNvPr id="5" name="Shape 3"/>
          <p:cNvSpPr/>
          <p:nvPr/>
        </p:nvSpPr>
        <p:spPr>
          <a:xfrm>
            <a:off x="609585" y="4249142"/>
            <a:ext cx="2743131" cy="38100"/>
          </a:xfrm>
          <a:prstGeom prst="roundRect">
            <a:avLst>
              <a:gd name="adj" fmla="val 49999"/>
            </a:avLst>
          </a:prstGeom>
          <a:solidFill>
            <a:srgbClr val="2A1233"/>
          </a:solidFill>
          <a:ln/>
        </p:spPr>
      </p:sp>
      <p:sp>
        <p:nvSpPr>
          <p:cNvPr id="6" name="Text 4"/>
          <p:cNvSpPr/>
          <p:nvPr/>
        </p:nvSpPr>
        <p:spPr>
          <a:xfrm>
            <a:off x="609585" y="4561245"/>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Игорь Пучкин</a:t>
            </a:r>
            <a:endParaRPr lang="en-US" sz="1800" dirty="0"/>
          </a:p>
        </p:txBody>
      </p:sp>
      <p:sp>
        <p:nvSpPr>
          <p:cNvPr id="7" name="Text 5"/>
          <p:cNvSpPr/>
          <p:nvPr/>
        </p:nvSpPr>
        <p:spPr>
          <a:xfrm>
            <a:off x="609585" y="5087600"/>
            <a:ext cx="11582110" cy="319980"/>
          </a:xfrm>
          <a:prstGeom prst="rect">
            <a:avLst/>
          </a:prstGeom>
          <a:noFill/>
          <a:ln/>
        </p:spPr>
        <p:txBody>
          <a:bodyPr wrap="none" lIns="0" tIns="0" rIns="0" bIns="0" rtlCol="0" anchor="t"/>
          <a:lstStyle/>
          <a:p>
            <a:pPr algn="l" indent="0" marL="0">
              <a:lnSpc>
                <a:spcPct val="117000"/>
              </a:lnSpc>
              <a:buNone/>
            </a:pPr>
            <a:r>
              <a:rPr lang="en-US" sz="1800" spc="36" kern="100" dirty="0">
                <a:solidFill>
                  <a:srgbClr val="2A1233"/>
                </a:solidFill>
                <a:latin typeface="Noto Sans Medium" pitchFamily="34" charset="0"/>
                <a:ea typeface="Noto Sans Medium" pitchFamily="34" charset="-122"/>
                <a:cs typeface="Noto Sans Medium" pitchFamily="34" charset="-120"/>
              </a:rPr>
              <a:t>Университет искусственного интеллекта · Пермь · 2026</a:t>
            </a:r>
            <a:endParaRPr lang="en-US" sz="1800" dirty="0"/>
          </a:p>
        </p:txBody>
      </p:sp>
      <p:sp>
        <p:nvSpPr>
          <p:cNvPr id="8" name="Text 6"/>
          <p:cNvSpPr/>
          <p:nvPr/>
        </p:nvSpPr>
        <p:spPr>
          <a:xfrm>
            <a:off x="609585" y="6036508"/>
            <a:ext cx="11582110"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Заочная версия: читается без доклада. Даты старта обучения и защиты будут подставлены.</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Как читать этот файл</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Shape 2"/>
          <p:cNvSpPr/>
          <p:nvPr/>
        </p:nvSpPr>
        <p:spPr>
          <a:xfrm>
            <a:off x="609585" y="2193429"/>
            <a:ext cx="10972526" cy="848320"/>
          </a:xfrm>
          <a:prstGeom prst="rect">
            <a:avLst/>
          </a:prstGeom>
          <a:solidFill>
            <a:srgbClr val="F1EBF1"/>
          </a:solidFill>
          <a:ln/>
        </p:spPr>
      </p:sp>
      <p:sp>
        <p:nvSpPr>
          <p:cNvPr id="5" name="Text 3"/>
          <p:cNvSpPr/>
          <p:nvPr/>
        </p:nvSpPr>
        <p:spPr>
          <a:xfrm>
            <a:off x="838179" y="2429014"/>
            <a:ext cx="10743931" cy="391120"/>
          </a:xfrm>
          <a:prstGeom prst="rect">
            <a:avLst/>
          </a:prstGeom>
          <a:noFill/>
          <a:ln/>
        </p:spPr>
        <p:txBody>
          <a:bodyPr wrap="none" lIns="0" tIns="0" rIns="0" bIns="0" rtlCol="0" anchor="t"/>
          <a:lstStyle/>
          <a:p>
            <a:pPr algn="l" indent="0" marL="0">
              <a:lnSpc>
                <a:spcPct val="117000"/>
              </a:lnSpc>
              <a:buNone/>
            </a:pPr>
            <a:r>
              <a:rPr lang="en-US" sz="2200" dirty="0">
                <a:solidFill>
                  <a:srgbClr val="2A1233"/>
                </a:solidFill>
                <a:latin typeface="Noto Sans" pitchFamily="34" charset="0"/>
                <a:ea typeface="Noto Sans" pitchFamily="34" charset="-122"/>
                <a:cs typeface="Noto Sans" pitchFamily="34" charset="-120"/>
              </a:rPr>
              <a:t>Это подробное описание для чтения без автора.</a:t>
            </a:r>
            <a:endParaRPr lang="en-US" sz="2200" dirty="0"/>
          </a:p>
        </p:txBody>
      </p:sp>
      <p:sp>
        <p:nvSpPr>
          <p:cNvPr id="6" name="Text 4"/>
          <p:cNvSpPr/>
          <p:nvPr/>
        </p:nvSpPr>
        <p:spPr>
          <a:xfrm>
            <a:off x="609585" y="3585627"/>
            <a:ext cx="10972526"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Скриншоты ниже показывают реальные экраны одной учебной сессии в Jupyter.</a:t>
            </a:r>
            <a:endParaRPr lang="en-US" sz="1800" dirty="0"/>
          </a:p>
        </p:txBody>
      </p:sp>
      <p:sp>
        <p:nvSpPr>
          <p:cNvPr id="7" name="Text 5"/>
          <p:cNvSpPr/>
          <p:nvPr/>
        </p:nvSpPr>
        <p:spPr>
          <a:xfrm>
            <a:off x="609585" y="4667607"/>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Часы, минуты и проценты на экранах относятся к этой сессии. Значение каждого числа объясняется на слайде, где показан экран.</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Что делает система</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2155369"/>
            <a:ext cx="11582110" cy="391120"/>
          </a:xfrm>
          <a:prstGeom prst="rect">
            <a:avLst/>
          </a:prstGeom>
          <a:noFill/>
          <a:ln/>
        </p:spPr>
        <p:txBody>
          <a:bodyPr wrap="none" lIns="0" tIns="0" rIns="0" bIns="0" rtlCol="0" anchor="t"/>
          <a:lstStyle/>
          <a:p>
            <a:pPr algn="l" indent="0" marL="0">
              <a:lnSpc>
                <a:spcPct val="117000"/>
              </a:lnSpc>
              <a:buNone/>
            </a:pPr>
            <a:r>
              <a:rPr lang="en-US" sz="2200" dirty="0">
                <a:solidFill>
                  <a:srgbClr val="2A1233"/>
                </a:solidFill>
                <a:latin typeface="Noto Sans" pitchFamily="34" charset="0"/>
                <a:ea typeface="Noto Sans" pitchFamily="34" charset="-122"/>
                <a:cs typeface="Noto Sans" pitchFamily="34" charset="-120"/>
              </a:rPr>
              <a:t>TeachAI ведёт учебный курс внутри Jupyter.</a:t>
            </a:r>
            <a:endParaRPr lang="en-US" sz="2200" dirty="0"/>
          </a:p>
        </p:txBody>
      </p:sp>
      <p:sp>
        <p:nvSpPr>
          <p:cNvPr id="5" name="Text 3"/>
          <p:cNvSpPr/>
          <p:nvPr/>
        </p:nvSpPr>
        <p:spPr>
          <a:xfrm>
            <a:off x="609585" y="2756356"/>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Составляет план, пишет уроки, даёт примеры кода, отвечает на вопросы по уроку, проводит тест и проверяет контрольное задание.</a:t>
            </a:r>
            <a:endParaRPr lang="en-US" sz="1800" dirty="0"/>
          </a:p>
        </p:txBody>
      </p:sp>
      <p:sp>
        <p:nvSpPr>
          <p:cNvPr id="6" name="Shape 4"/>
          <p:cNvSpPr/>
          <p:nvPr/>
        </p:nvSpPr>
        <p:spPr>
          <a:xfrm>
            <a:off x="609585" y="3592215"/>
            <a:ext cx="5333867" cy="1978422"/>
          </a:xfrm>
          <a:prstGeom prst="rect">
            <a:avLst/>
          </a:prstGeom>
          <a:solidFill>
            <a:srgbClr val="F1EBF1"/>
          </a:solidFill>
          <a:ln/>
        </p:spPr>
      </p:sp>
      <p:sp>
        <p:nvSpPr>
          <p:cNvPr id="7" name="Text 5"/>
          <p:cNvSpPr/>
          <p:nvPr/>
        </p:nvSpPr>
        <p:spPr>
          <a:xfrm>
            <a:off x="838179" y="3835589"/>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Готовая модель через API</a:t>
            </a:r>
            <a:endParaRPr lang="en-US" sz="2600" dirty="0"/>
          </a:p>
        </p:txBody>
      </p:sp>
      <p:sp>
        <p:nvSpPr>
          <p:cNvPr id="8" name="Text 6"/>
          <p:cNvSpPr/>
          <p:nvPr/>
        </p:nvSpPr>
        <p:spPr>
          <a:xfrm>
            <a:off x="838179" y="4392573"/>
            <a:ext cx="4876678"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Тексты пишет уже обученная языковая модель. Свою нейросеть проект не обучает.</a:t>
            </a:r>
            <a:endParaRPr lang="en-US" sz="1800" dirty="0"/>
          </a:p>
        </p:txBody>
      </p:sp>
      <p:sp>
        <p:nvSpPr>
          <p:cNvPr id="9" name="Shape 7"/>
          <p:cNvSpPr/>
          <p:nvPr/>
        </p:nvSpPr>
        <p:spPr>
          <a:xfrm>
            <a:off x="6248244" y="3592215"/>
            <a:ext cx="5333867" cy="1978422"/>
          </a:xfrm>
          <a:prstGeom prst="rect">
            <a:avLst/>
          </a:prstGeom>
          <a:solidFill>
            <a:srgbClr val="2A1233"/>
          </a:solidFill>
          <a:ln/>
        </p:spPr>
      </p:sp>
      <p:sp>
        <p:nvSpPr>
          <p:cNvPr id="10" name="Text 8"/>
          <p:cNvSpPr/>
          <p:nvPr/>
        </p:nvSpPr>
        <p:spPr>
          <a:xfrm>
            <a:off x="6476838" y="3835589"/>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FFFFFF"/>
                </a:solidFill>
                <a:latin typeface="Noto Sans SemiBold" pitchFamily="34" charset="0"/>
                <a:ea typeface="Noto Sans SemiBold" pitchFamily="34" charset="-122"/>
                <a:cs typeface="Noto Sans SemiBold" pitchFamily="34" charset="-120"/>
              </a:rPr>
              <a:t>gpt-4o-mini</a:t>
            </a:r>
            <a:endParaRPr lang="en-US" sz="2600" dirty="0"/>
          </a:p>
        </p:txBody>
      </p:sp>
      <p:sp>
        <p:nvSpPr>
          <p:cNvPr id="11" name="Text 9"/>
          <p:cNvSpPr/>
          <p:nvPr/>
        </p:nvSpPr>
        <p:spPr>
          <a:xfrm>
            <a:off x="6476838" y="4392573"/>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Модель в дипломе. Причины выбора показаны в разделе эксперимента.</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Персональный курс вручную собирать долго</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2722553"/>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Подготовка материала</a:t>
            </a:r>
            <a:endParaRPr lang="en-US" sz="2600" dirty="0"/>
          </a:p>
        </p:txBody>
      </p:sp>
      <p:sp>
        <p:nvSpPr>
          <p:cNvPr id="5" name="Text 3"/>
          <p:cNvSpPr/>
          <p:nvPr/>
        </p:nvSpPr>
        <p:spPr>
          <a:xfrm>
            <a:off x="609585" y="3279537"/>
            <a:ext cx="525766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Нужно продумать структуру, написать тексты, подобрать примеры и организовать проверку.</a:t>
            </a:r>
            <a:endParaRPr lang="en-US" sz="1800" dirty="0"/>
          </a:p>
        </p:txBody>
      </p:sp>
      <p:sp>
        <p:nvSpPr>
          <p:cNvPr id="6" name="Text 4"/>
          <p:cNvSpPr/>
          <p:nvPr/>
        </p:nvSpPr>
        <p:spPr>
          <a:xfrm>
            <a:off x="6324442" y="2722553"/>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Условия ученика</a:t>
            </a:r>
            <a:endParaRPr lang="en-US" sz="2600" dirty="0"/>
          </a:p>
        </p:txBody>
      </p:sp>
      <p:sp>
        <p:nvSpPr>
          <p:cNvPr id="7" name="Text 5"/>
          <p:cNvSpPr/>
          <p:nvPr/>
        </p:nvSpPr>
        <p:spPr>
          <a:xfrm>
            <a:off x="6324442" y="3279537"/>
            <a:ext cx="5257668"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Готовый одинаковый курс не знает, сколько времени есть у человека и в каком стиле ему объяснять.</a:t>
            </a:r>
            <a:endParaRPr lang="en-US" sz="1800" dirty="0"/>
          </a:p>
        </p:txBody>
      </p:sp>
      <p:sp>
        <p:nvSpPr>
          <p:cNvPr id="8" name="Text 6"/>
          <p:cNvSpPr/>
          <p:nvPr/>
        </p:nvSpPr>
        <p:spPr>
          <a:xfrm>
            <a:off x="609585" y="5473144"/>
            <a:ext cx="10972526" cy="782241"/>
          </a:xfrm>
          <a:prstGeom prst="rect">
            <a:avLst/>
          </a:prstGeom>
          <a:noFill/>
          <a:ln/>
        </p:spPr>
        <p:txBody>
          <a:bodyPr wrap="square" lIns="0" tIns="0" rIns="0" bIns="0" rtlCol="0" anchor="t">
            <a:normAutofit/>
          </a:bodyPr>
          <a:lstStyle/>
          <a:p>
            <a:pPr algn="l" indent="0" marL="0">
              <a:lnSpc>
                <a:spcPct val="117000"/>
              </a:lnSpc>
              <a:buNone/>
            </a:pPr>
            <a:r>
              <a:rPr lang="en-US" sz="2200" dirty="0">
                <a:solidFill>
                  <a:srgbClr val="2A1233"/>
                </a:solidFill>
                <a:latin typeface="Noto Sans" pitchFamily="34" charset="0"/>
                <a:ea typeface="Noto Sans" pitchFamily="34" charset="-122"/>
                <a:cs typeface="Noto Sans" pitchFamily="34" charset="-120"/>
              </a:rPr>
              <a:t>Нужна программа, которая ведёт обучение через готовую модель, а не тренирует новую сеть с нуля.</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Система ведёт ученика по шагам</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1676995"/>
            <a:ext cx="871119" cy="228600"/>
          </a:xfrm>
          <a:prstGeom prst="rect">
            <a:avLst/>
          </a:prstGeom>
          <a:noFill/>
          <a:ln/>
        </p:spPr>
        <p:txBody>
          <a:bodyPr wrap="none" lIns="0" tIns="0" rIns="0" bIns="0" rtlCol="0" anchor="t"/>
          <a:lstStyle/>
          <a:p>
            <a:pPr algn="l" indent="0" marL="0">
              <a:lnSpc>
                <a:spcPct val="83000"/>
              </a:lnSpc>
              <a:buNone/>
            </a:pPr>
            <a:r>
              <a:rPr lang="en-US" sz="1800" dirty="0">
                <a:solidFill>
                  <a:srgbClr val="2A1233"/>
                </a:solidFill>
                <a:latin typeface="Noto Sans SemiBold" pitchFamily="34" charset="0"/>
                <a:ea typeface="Noto Sans SemiBold" pitchFamily="34" charset="-122"/>
                <a:cs typeface="Noto Sans SemiBold" pitchFamily="34" charset="-120"/>
              </a:rPr>
              <a:t>01</a:t>
            </a:r>
            <a:endParaRPr lang="en-US" sz="1800" dirty="0"/>
          </a:p>
        </p:txBody>
      </p:sp>
      <p:sp>
        <p:nvSpPr>
          <p:cNvPr id="5" name="Shape 3"/>
          <p:cNvSpPr/>
          <p:nvPr/>
        </p:nvSpPr>
        <p:spPr>
          <a:xfrm>
            <a:off x="609585" y="1997075"/>
            <a:ext cx="3454314" cy="19050"/>
          </a:xfrm>
          <a:prstGeom prst="rect">
            <a:avLst/>
          </a:prstGeom>
          <a:solidFill>
            <a:srgbClr val="2A1233"/>
          </a:solidFill>
          <a:ln/>
        </p:spPr>
      </p:sp>
      <p:sp>
        <p:nvSpPr>
          <p:cNvPr id="6" name="Text 4"/>
          <p:cNvSpPr/>
          <p:nvPr/>
        </p:nvSpPr>
        <p:spPr>
          <a:xfrm>
            <a:off x="609585" y="2168019"/>
            <a:ext cx="3454314"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Профиль и курс</a:t>
            </a:r>
            <a:endParaRPr lang="en-US" sz="2600" dirty="0"/>
          </a:p>
        </p:txBody>
      </p:sp>
      <p:sp>
        <p:nvSpPr>
          <p:cNvPr id="7" name="Text 5"/>
          <p:cNvSpPr/>
          <p:nvPr/>
        </p:nvSpPr>
        <p:spPr>
          <a:xfrm>
            <a:off x="609585" y="2725003"/>
            <a:ext cx="3454314"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Профиль ученика, выбор курса, план.</a:t>
            </a:r>
            <a:endParaRPr lang="en-US" sz="1800" dirty="0"/>
          </a:p>
        </p:txBody>
      </p:sp>
      <p:sp>
        <p:nvSpPr>
          <p:cNvPr id="8" name="Text 6"/>
          <p:cNvSpPr/>
          <p:nvPr/>
        </p:nvSpPr>
        <p:spPr>
          <a:xfrm>
            <a:off x="4368691" y="1676995"/>
            <a:ext cx="871119" cy="228600"/>
          </a:xfrm>
          <a:prstGeom prst="rect">
            <a:avLst/>
          </a:prstGeom>
          <a:noFill/>
          <a:ln/>
        </p:spPr>
        <p:txBody>
          <a:bodyPr wrap="none" lIns="0" tIns="0" rIns="0" bIns="0" rtlCol="0" anchor="t"/>
          <a:lstStyle/>
          <a:p>
            <a:pPr algn="l" indent="0" marL="0">
              <a:lnSpc>
                <a:spcPct val="83000"/>
              </a:lnSpc>
              <a:buNone/>
            </a:pPr>
            <a:r>
              <a:rPr lang="en-US" sz="1800" dirty="0">
                <a:solidFill>
                  <a:srgbClr val="2A1233"/>
                </a:solidFill>
                <a:latin typeface="Noto Sans SemiBold" pitchFamily="34" charset="0"/>
                <a:ea typeface="Noto Sans SemiBold" pitchFamily="34" charset="-122"/>
                <a:cs typeface="Noto Sans SemiBold" pitchFamily="34" charset="-120"/>
              </a:rPr>
              <a:t>02</a:t>
            </a:r>
            <a:endParaRPr lang="en-US" sz="1800" dirty="0"/>
          </a:p>
        </p:txBody>
      </p:sp>
      <p:sp>
        <p:nvSpPr>
          <p:cNvPr id="9" name="Shape 7"/>
          <p:cNvSpPr/>
          <p:nvPr/>
        </p:nvSpPr>
        <p:spPr>
          <a:xfrm>
            <a:off x="4368691" y="1997075"/>
            <a:ext cx="3454314" cy="19050"/>
          </a:xfrm>
          <a:prstGeom prst="rect">
            <a:avLst/>
          </a:prstGeom>
          <a:solidFill>
            <a:srgbClr val="2A1233"/>
          </a:solidFill>
          <a:ln/>
        </p:spPr>
      </p:sp>
      <p:sp>
        <p:nvSpPr>
          <p:cNvPr id="10" name="Text 8"/>
          <p:cNvSpPr/>
          <p:nvPr/>
        </p:nvSpPr>
        <p:spPr>
          <a:xfrm>
            <a:off x="4368691" y="2168019"/>
            <a:ext cx="3454314"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Урок и материалы</a:t>
            </a:r>
            <a:endParaRPr lang="en-US" sz="2600" dirty="0"/>
          </a:p>
        </p:txBody>
      </p:sp>
      <p:sp>
        <p:nvSpPr>
          <p:cNvPr id="11" name="Text 9"/>
          <p:cNvSpPr/>
          <p:nvPr/>
        </p:nvSpPr>
        <p:spPr>
          <a:xfrm>
            <a:off x="4368691" y="2725003"/>
            <a:ext cx="3454314"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Урок и дополнительные материалы по кнопкам.</a:t>
            </a:r>
            <a:endParaRPr lang="en-US" sz="1800" dirty="0"/>
          </a:p>
        </p:txBody>
      </p:sp>
      <p:sp>
        <p:nvSpPr>
          <p:cNvPr id="12" name="Text 10"/>
          <p:cNvSpPr/>
          <p:nvPr/>
        </p:nvSpPr>
        <p:spPr>
          <a:xfrm>
            <a:off x="8127797" y="1676995"/>
            <a:ext cx="871119" cy="228600"/>
          </a:xfrm>
          <a:prstGeom prst="rect">
            <a:avLst/>
          </a:prstGeom>
          <a:noFill/>
          <a:ln/>
        </p:spPr>
        <p:txBody>
          <a:bodyPr wrap="none" lIns="0" tIns="0" rIns="0" bIns="0" rtlCol="0" anchor="t"/>
          <a:lstStyle/>
          <a:p>
            <a:pPr algn="l" indent="0" marL="0">
              <a:lnSpc>
                <a:spcPct val="83000"/>
              </a:lnSpc>
              <a:buNone/>
            </a:pPr>
            <a:r>
              <a:rPr lang="en-US" sz="1800" dirty="0">
                <a:solidFill>
                  <a:srgbClr val="2A1233"/>
                </a:solidFill>
                <a:latin typeface="Noto Sans SemiBold" pitchFamily="34" charset="0"/>
                <a:ea typeface="Noto Sans SemiBold" pitchFamily="34" charset="-122"/>
                <a:cs typeface="Noto Sans SemiBold" pitchFamily="34" charset="-120"/>
              </a:rPr>
              <a:t>03</a:t>
            </a:r>
            <a:endParaRPr lang="en-US" sz="1800" dirty="0"/>
          </a:p>
        </p:txBody>
      </p:sp>
      <p:sp>
        <p:nvSpPr>
          <p:cNvPr id="13" name="Shape 11"/>
          <p:cNvSpPr/>
          <p:nvPr/>
        </p:nvSpPr>
        <p:spPr>
          <a:xfrm>
            <a:off x="8127797" y="1997075"/>
            <a:ext cx="3454314" cy="19050"/>
          </a:xfrm>
          <a:prstGeom prst="rect">
            <a:avLst/>
          </a:prstGeom>
          <a:solidFill>
            <a:srgbClr val="2A1233"/>
          </a:solidFill>
          <a:ln/>
        </p:spPr>
      </p:sp>
      <p:sp>
        <p:nvSpPr>
          <p:cNvPr id="14" name="Text 12"/>
          <p:cNvSpPr/>
          <p:nvPr/>
        </p:nvSpPr>
        <p:spPr>
          <a:xfrm>
            <a:off x="8127797" y="2168019"/>
            <a:ext cx="3454314" cy="792361"/>
          </a:xfrm>
          <a:prstGeom prst="rect">
            <a:avLst/>
          </a:prstGeom>
          <a:noFill/>
          <a:ln/>
        </p:spPr>
        <p:txBody>
          <a:bodyPr wrap="square" lIns="0" tIns="0" rIns="0" bIns="0" rtlCol="0" anchor="t">
            <a:normAutofit/>
          </a:bodyPr>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Проверка и прогресс</a:t>
            </a:r>
            <a:endParaRPr lang="en-US" sz="2600" dirty="0"/>
          </a:p>
        </p:txBody>
      </p:sp>
      <p:sp>
        <p:nvSpPr>
          <p:cNvPr id="15" name="Text 13"/>
          <p:cNvSpPr/>
          <p:nvPr/>
        </p:nvSpPr>
        <p:spPr>
          <a:xfrm>
            <a:off x="8127797" y="3121184"/>
            <a:ext cx="3454314"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Проверка работы и сохранение прогресса.</a:t>
            </a:r>
            <a:endParaRPr lang="en-US" sz="1800" dirty="0"/>
          </a:p>
        </p:txBody>
      </p:sp>
      <p:sp>
        <p:nvSpPr>
          <p:cNvPr id="16" name="Text 14"/>
          <p:cNvSpPr/>
          <p:nvPr/>
        </p:nvSpPr>
        <p:spPr>
          <a:xfrm>
            <a:off x="609585" y="5618917"/>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Интерфейс работает на виджетах в ноутбуке: отдельный сайт не нужен. Каждый вид материала запрашивается у модели отдельно, со своей инструкцией.</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Цель и задачи</a:t>
            </a:r>
            <a:endParaRPr lang="en-US" sz="3600" dirty="0"/>
          </a:p>
        </p:txBody>
      </p:sp>
      <p:sp>
        <p:nvSpPr>
          <p:cNvPr id="3" name="Text 1"/>
          <p:cNvSpPr/>
          <p:nvPr/>
        </p:nvSpPr>
        <p:spPr>
          <a:xfrm>
            <a:off x="609585" y="1328698"/>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Система сама готовит персональный учебный материал на готовой языковой модели, хранит прогресс и опирается на проверенный выбор модели.</a:t>
            </a:r>
            <a:endParaRPr lang="en-US" sz="1800" dirty="0"/>
          </a:p>
        </p:txBody>
      </p:sp>
      <p:sp>
        <p:nvSpPr>
          <p:cNvPr id="4" name="Shape 2"/>
          <p:cNvSpPr/>
          <p:nvPr/>
        </p:nvSpPr>
        <p:spPr>
          <a:xfrm>
            <a:off x="609585" y="2164556"/>
            <a:ext cx="5333867" cy="38100"/>
          </a:xfrm>
          <a:prstGeom prst="rect">
            <a:avLst/>
          </a:prstGeom>
          <a:solidFill>
            <a:srgbClr val="2A1233"/>
          </a:solidFill>
          <a:ln/>
        </p:spPr>
      </p:sp>
      <p:sp>
        <p:nvSpPr>
          <p:cNvPr id="5" name="Text 3"/>
          <p:cNvSpPr/>
          <p:nvPr/>
        </p:nvSpPr>
        <p:spPr>
          <a:xfrm>
            <a:off x="838179" y="2441840"/>
            <a:ext cx="4876678"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Учебные материалы</a:t>
            </a:r>
            <a:endParaRPr lang="en-US" sz="2000" dirty="0"/>
          </a:p>
        </p:txBody>
      </p:sp>
      <p:sp>
        <p:nvSpPr>
          <p:cNvPr id="6" name="Text 4"/>
          <p:cNvSpPr/>
          <p:nvPr/>
        </p:nvSpPr>
        <p:spPr>
          <a:xfrm>
            <a:off x="838179" y="2911634"/>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Генерация плана, уроков, примеров, тестов, ответов и контрольных.</a:t>
            </a:r>
            <a:endParaRPr lang="en-US" sz="1800" dirty="0"/>
          </a:p>
        </p:txBody>
      </p:sp>
      <p:sp>
        <p:nvSpPr>
          <p:cNvPr id="7" name="Shape 5"/>
          <p:cNvSpPr/>
          <p:nvPr/>
        </p:nvSpPr>
        <p:spPr>
          <a:xfrm>
            <a:off x="6248244" y="2164556"/>
            <a:ext cx="5333867" cy="38100"/>
          </a:xfrm>
          <a:prstGeom prst="rect">
            <a:avLst/>
          </a:prstGeom>
          <a:solidFill>
            <a:srgbClr val="2A1233"/>
          </a:solidFill>
          <a:ln/>
        </p:spPr>
      </p:sp>
      <p:sp>
        <p:nvSpPr>
          <p:cNvPr id="8" name="Text 6"/>
          <p:cNvSpPr/>
          <p:nvPr/>
        </p:nvSpPr>
        <p:spPr>
          <a:xfrm>
            <a:off x="6476838" y="2441840"/>
            <a:ext cx="4876678"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Персонализация</a:t>
            </a:r>
            <a:endParaRPr lang="en-US" sz="2000" dirty="0"/>
          </a:p>
        </p:txBody>
      </p:sp>
      <p:sp>
        <p:nvSpPr>
          <p:cNvPr id="9" name="Text 7"/>
          <p:cNvSpPr/>
          <p:nvPr/>
        </p:nvSpPr>
        <p:spPr>
          <a:xfrm>
            <a:off x="6476838" y="2911634"/>
            <a:ext cx="5105272"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Персональный профиль и стиль.</a:t>
            </a:r>
            <a:endParaRPr lang="en-US" sz="1800" dirty="0"/>
          </a:p>
        </p:txBody>
      </p:sp>
      <p:sp>
        <p:nvSpPr>
          <p:cNvPr id="10" name="Shape 8"/>
          <p:cNvSpPr/>
          <p:nvPr/>
        </p:nvSpPr>
        <p:spPr>
          <a:xfrm>
            <a:off x="609585" y="4358878"/>
            <a:ext cx="5333867" cy="38100"/>
          </a:xfrm>
          <a:prstGeom prst="rect">
            <a:avLst/>
          </a:prstGeom>
          <a:solidFill>
            <a:srgbClr val="2A1233"/>
          </a:solidFill>
          <a:ln/>
        </p:spPr>
      </p:sp>
      <p:sp>
        <p:nvSpPr>
          <p:cNvPr id="11" name="Text 9"/>
          <p:cNvSpPr/>
          <p:nvPr/>
        </p:nvSpPr>
        <p:spPr>
          <a:xfrm>
            <a:off x="838179" y="4636162"/>
            <a:ext cx="4876678"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Сценарий обучения</a:t>
            </a:r>
            <a:endParaRPr lang="en-US" sz="2000" dirty="0"/>
          </a:p>
        </p:txBody>
      </p:sp>
      <p:sp>
        <p:nvSpPr>
          <p:cNvPr id="12" name="Text 10"/>
          <p:cNvSpPr/>
          <p:nvPr/>
        </p:nvSpPr>
        <p:spPr>
          <a:xfrm>
            <a:off x="838179" y="5105956"/>
            <a:ext cx="5105272"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Jupyter и локальное сохранение прогресса.</a:t>
            </a:r>
            <a:endParaRPr lang="en-US" sz="1800" dirty="0"/>
          </a:p>
        </p:txBody>
      </p:sp>
      <p:sp>
        <p:nvSpPr>
          <p:cNvPr id="13" name="Shape 11"/>
          <p:cNvSpPr/>
          <p:nvPr/>
        </p:nvSpPr>
        <p:spPr>
          <a:xfrm>
            <a:off x="6248244" y="4358878"/>
            <a:ext cx="5333867" cy="38100"/>
          </a:xfrm>
          <a:prstGeom prst="rect">
            <a:avLst/>
          </a:prstGeom>
          <a:solidFill>
            <a:srgbClr val="2A1233"/>
          </a:solidFill>
          <a:ln/>
        </p:spPr>
      </p:sp>
      <p:sp>
        <p:nvSpPr>
          <p:cNvPr id="14" name="Text 12"/>
          <p:cNvSpPr/>
          <p:nvPr/>
        </p:nvSpPr>
        <p:spPr>
          <a:xfrm>
            <a:off x="6476838" y="4636162"/>
            <a:ext cx="4876678"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Проверка</a:t>
            </a:r>
            <a:endParaRPr lang="en-US" sz="2000" dirty="0"/>
          </a:p>
        </p:txBody>
      </p:sp>
      <p:sp>
        <p:nvSpPr>
          <p:cNvPr id="15" name="Text 13"/>
          <p:cNvSpPr/>
          <p:nvPr/>
        </p:nvSpPr>
        <p:spPr>
          <a:xfrm>
            <a:off x="6476838" y="5105956"/>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Проверка ответов модели и сравнение нескольких готовых моделей.</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Чего в проекте нет, и это согласовано</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2296220"/>
          <a:ext cx="10972526" cy="914400"/>
        </p:xfrm>
        <a:graphic>
          <a:graphicData uri="http://schemas.openxmlformats.org/drawingml/2006/table">
            <a:tbl>
              <a:tblPr/>
              <a:tblGrid>
                <a:gridCol w="7900195"/>
                <a:gridCol w="3072331"/>
              </a:tblGrid>
              <a:tr h="454609">
                <a:tc>
                  <a:txBody>
                    <a:bodyPr/>
                    <a:lstStyle/>
                    <a:p>
                      <a:pPr algn="l" indent="0" marL="0">
                        <a:buNone/>
                      </a:pPr>
                      <a:r>
                        <a:rPr lang="en-US" sz="1200" spc="72" kern="100" dirty="0">
                          <a:solidFill>
                            <a:srgbClr val="FFFFFF"/>
                          </a:solidFill>
                          <a:latin typeface="Noto Sans" pitchFamily="34" charset="0"/>
                          <a:ea typeface="Noto Sans" pitchFamily="34" charset="-122"/>
                          <a:cs typeface="Noto Sans" pitchFamily="34" charset="-120"/>
                        </a:rPr>
                        <a:t>ПОДХОД</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СТАТУС</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Сбор базы для обучения своей сети</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не применяется</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Парсинг сайтов ради датасета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не применяется</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Обучение и дообучение своей модели</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не применяется</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RAG (поиск по своей базе знаний)</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не применяется</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r>
            </a:tbl>
          </a:graphicData>
        </a:graphic>
      </p:graphicFrame>
      <p:sp>
        <p:nvSpPr>
          <p:cNvPr id="5" name="Text 2"/>
          <p:cNvSpPr/>
          <p:nvPr/>
        </p:nvSpPr>
        <p:spPr>
          <a:xfrm>
            <a:off x="609585" y="5618917"/>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Качество обеспечивают инструкции к модели, проверки в программе и сравнение готовых моделей.</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Из чего собрана система</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1691769"/>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Среда и подключение</a:t>
            </a:r>
            <a:endParaRPr lang="en-US" sz="2600" dirty="0"/>
          </a:p>
        </p:txBody>
      </p:sp>
      <p:sp>
        <p:nvSpPr>
          <p:cNvPr id="5" name="Text 3"/>
          <p:cNvSpPr/>
          <p:nvPr/>
        </p:nvSpPr>
        <p:spPr>
          <a:xfrm>
            <a:off x="609585" y="2238276"/>
            <a:ext cx="5257668" cy="2411313"/>
          </a:xfrm>
          <a:prstGeom prst="rect">
            <a:avLst/>
          </a:prstGeom>
          <a:noFill/>
          <a:ln/>
        </p:spPr>
        <p:txBody>
          <a:bodyPr wrap="square" lIns="0" tIns="0" rIns="0" bIns="0" rtlCol="0" anchor="t">
            <a:normAutofit/>
          </a:bodyPr>
          <a:lstStyle/>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Python и Jupyter.</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Интерфейс на виджетах.</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Языковая модель через API: в дипломе gpt-4o-mini.</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В файле окружения хранятся ключ, имя модели и прямое подключение. Прокси не обязателен.</a:t>
            </a:r>
            <a:endParaRPr lang="en-US" sz="1800" dirty="0"/>
          </a:p>
        </p:txBody>
      </p:sp>
      <p:sp>
        <p:nvSpPr>
          <p:cNvPr id="6" name="Text 4"/>
          <p:cNvSpPr/>
          <p:nvPr/>
        </p:nvSpPr>
        <p:spPr>
          <a:xfrm>
            <a:off x="6324442" y="1691769"/>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Данные и код курса</a:t>
            </a:r>
            <a:endParaRPr lang="en-US" sz="2600" dirty="0"/>
          </a:p>
        </p:txBody>
      </p:sp>
      <p:sp>
        <p:nvSpPr>
          <p:cNvPr id="7" name="Text 5"/>
          <p:cNvSpPr/>
          <p:nvPr/>
        </p:nvSpPr>
        <p:spPr>
          <a:xfrm>
            <a:off x="6324442" y="2238276"/>
            <a:ext cx="5257668" cy="1394222"/>
          </a:xfrm>
          <a:prstGeom prst="rect">
            <a:avLst/>
          </a:prstGeom>
          <a:noFill/>
          <a:ln/>
        </p:spPr>
        <p:txBody>
          <a:bodyPr wrap="square" lIns="0" tIns="0" rIns="0" bIns="0" rtlCol="0" anchor="t"/>
          <a:lstStyle/>
          <a:p>
            <a:pPr algn="l" indent="0" marL="0">
              <a:lnSpc>
                <a:spcPct val="117000"/>
              </a:lnSpc>
              <a:spcAft>
                <a:spcPts val="850"/>
              </a:spcAft>
              <a:buNone/>
            </a:pPr>
            <a:r>
              <a:rPr lang="en-US" sz="1800" dirty="0">
                <a:solidFill>
                  <a:srgbClr val="2A1233"/>
                </a:solidFill>
                <a:latin typeface="Noto Sans" pitchFamily="34" charset="0"/>
                <a:ea typeface="Noto Sans" pitchFamily="34" charset="-122"/>
                <a:cs typeface="Noto Sans" pitchFamily="34" charset="-120"/>
              </a:rPr>
              <a:t>Прогресс ученика хранится в локальном JSON.</a:t>
            </a:r>
            <a:endParaRPr lang="en-US" sz="1800" dirty="0"/>
          </a:p>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Библиотеки вроде pandas и scikit-learn нужны для выполнения кода курса. Ядро учителя на них не построено.</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607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Архитектура: движок связывает пять частей</a:t>
            </a:r>
            <a:endParaRPr lang="en-US" sz="3600" dirty="0"/>
          </a:p>
        </p:txBody>
      </p:sp>
      <p:pic>
        <p:nvPicPr>
          <p:cNvPr id="3" name="Image 0" descr="preencoded.png">    </p:cNvPr>
          <p:cNvPicPr>
            <a:picLocks noChangeAspect="1"/>
          </p:cNvPicPr>
          <p:nvPr/>
        </p:nvPicPr>
        <p:blipFill>
          <a:blip r:embed="rId1"/>
          <a:stretch>
            <a:fillRect/>
          </a:stretch>
        </p:blipFill>
        <p:spPr>
          <a:xfrm>
            <a:off x="558786" y="1092795"/>
            <a:ext cx="6028281" cy="3809901"/>
          </a:xfrm>
          <a:prstGeom prst="rect">
            <a:avLst/>
          </a:prstGeom>
        </p:spPr>
      </p:pic>
      <p:sp>
        <p:nvSpPr>
          <p:cNvPr id="4" name="Text 1"/>
          <p:cNvSpPr/>
          <p:nvPr/>
        </p:nvSpPr>
        <p:spPr>
          <a:xfrm>
            <a:off x="558786" y="5113834"/>
            <a:ext cx="11074123"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2A1233"/>
                </a:solidFill>
                <a:latin typeface="Noto Sans" pitchFamily="34" charset="0"/>
                <a:ea typeface="Noto Sans" pitchFamily="34" charset="-122"/>
                <a:cs typeface="Noto Sans" pitchFamily="34" charset="-120"/>
              </a:rPr>
              <a:t>Конфигурация хранит ключ, имя модели и режим сети. Состояние хранит профиль, план и прогресс. Генерация объединяет учебные запросы к модели. Оценивание проверяет тесты. Интерфейс показывает экраны в Jupyter.</a:t>
            </a:r>
            <a:endParaRPr lang="en-US" sz="1500" dirty="0"/>
          </a:p>
        </p:txBody>
      </p:sp>
      <p:sp>
        <p:nvSpPr>
          <p:cNvPr id="5" name="Text 2"/>
          <p:cNvSpPr/>
          <p:nvPr/>
        </p:nvSpPr>
        <p:spPr>
          <a:xfrm>
            <a:off x="558786" y="5859800"/>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От генерации идёт выход к API модели, от состояния — к файлу прогресса.</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Четыре слоя системы</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Shape 2"/>
          <p:cNvSpPr/>
          <p:nvPr/>
        </p:nvSpPr>
        <p:spPr>
          <a:xfrm>
            <a:off x="609585" y="1676995"/>
            <a:ext cx="5410065" cy="1247080"/>
          </a:xfrm>
          <a:prstGeom prst="rect">
            <a:avLst/>
          </a:prstGeom>
          <a:solidFill>
            <a:srgbClr val="2A1233"/>
          </a:solidFill>
          <a:ln/>
        </p:spPr>
      </p:sp>
      <p:sp>
        <p:nvSpPr>
          <p:cNvPr id="5" name="Text 3"/>
          <p:cNvSpPr/>
          <p:nvPr/>
        </p:nvSpPr>
        <p:spPr>
          <a:xfrm>
            <a:off x="838179" y="1916179"/>
            <a:ext cx="4952876" cy="304800"/>
          </a:xfrm>
          <a:prstGeom prst="rect">
            <a:avLst/>
          </a:prstGeom>
          <a:noFill/>
          <a:ln/>
        </p:spPr>
        <p:txBody>
          <a:bodyPr wrap="none" lIns="0" tIns="0" rIns="0" bIns="0" rtlCol="0" anchor="t"/>
          <a:lstStyle/>
          <a:p>
            <a:pPr algn="l" indent="0" marL="0">
              <a:lnSpc>
                <a:spcPct val="100000"/>
              </a:lnSpc>
              <a:buNone/>
            </a:pPr>
            <a:r>
              <a:rPr lang="en-US" sz="2000" dirty="0">
                <a:solidFill>
                  <a:srgbClr val="FFFFFF"/>
                </a:solidFill>
                <a:latin typeface="Noto Sans SemiBold" pitchFamily="34" charset="0"/>
                <a:ea typeface="Noto Sans SemiBold" pitchFamily="34" charset="-122"/>
                <a:cs typeface="Noto Sans SemiBold" pitchFamily="34" charset="-120"/>
              </a:rPr>
              <a:t>Ядро</a:t>
            </a:r>
            <a:endParaRPr lang="en-US" sz="2000" dirty="0"/>
          </a:p>
        </p:txBody>
      </p:sp>
      <p:sp>
        <p:nvSpPr>
          <p:cNvPr id="6" name="Text 4"/>
          <p:cNvSpPr/>
          <p:nvPr/>
        </p:nvSpPr>
        <p:spPr>
          <a:xfrm>
            <a:off x="838179" y="2385973"/>
            <a:ext cx="5181470"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Запуск, настройки, состояние.</a:t>
            </a:r>
            <a:endParaRPr lang="en-US" sz="1800" dirty="0"/>
          </a:p>
        </p:txBody>
      </p:sp>
      <p:sp>
        <p:nvSpPr>
          <p:cNvPr id="7" name="Shape 5"/>
          <p:cNvSpPr/>
          <p:nvPr/>
        </p:nvSpPr>
        <p:spPr>
          <a:xfrm>
            <a:off x="6172046" y="1676995"/>
            <a:ext cx="5410065" cy="1247080"/>
          </a:xfrm>
          <a:prstGeom prst="rect">
            <a:avLst/>
          </a:prstGeom>
          <a:solidFill>
            <a:srgbClr val="F1EBF1"/>
          </a:solidFill>
          <a:ln/>
        </p:spPr>
      </p:sp>
      <p:sp>
        <p:nvSpPr>
          <p:cNvPr id="8" name="Text 6"/>
          <p:cNvSpPr/>
          <p:nvPr/>
        </p:nvSpPr>
        <p:spPr>
          <a:xfrm>
            <a:off x="6400640" y="1916179"/>
            <a:ext cx="4952876"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Слой модели</a:t>
            </a:r>
            <a:endParaRPr lang="en-US" sz="2000" dirty="0"/>
          </a:p>
        </p:txBody>
      </p:sp>
      <p:sp>
        <p:nvSpPr>
          <p:cNvPr id="9" name="Text 7"/>
          <p:cNvSpPr/>
          <p:nvPr/>
        </p:nvSpPr>
        <p:spPr>
          <a:xfrm>
            <a:off x="6400640" y="2385973"/>
            <a:ext cx="5181470"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Отдельные генераторы материалов.</a:t>
            </a:r>
            <a:endParaRPr lang="en-US" sz="1800" dirty="0"/>
          </a:p>
        </p:txBody>
      </p:sp>
      <p:sp>
        <p:nvSpPr>
          <p:cNvPr id="10" name="Shape 8"/>
          <p:cNvSpPr/>
          <p:nvPr/>
        </p:nvSpPr>
        <p:spPr>
          <a:xfrm>
            <a:off x="609585" y="3076476"/>
            <a:ext cx="5410065" cy="1887041"/>
          </a:xfrm>
          <a:prstGeom prst="rect">
            <a:avLst/>
          </a:prstGeom>
          <a:solidFill>
            <a:srgbClr val="F1EBF1"/>
          </a:solidFill>
          <a:ln/>
        </p:spPr>
      </p:sp>
      <p:sp>
        <p:nvSpPr>
          <p:cNvPr id="11" name="Text 9"/>
          <p:cNvSpPr/>
          <p:nvPr/>
        </p:nvSpPr>
        <p:spPr>
          <a:xfrm>
            <a:off x="838179" y="3315659"/>
            <a:ext cx="4952876"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Интерфейс</a:t>
            </a:r>
            <a:endParaRPr lang="en-US" sz="2000" dirty="0"/>
          </a:p>
        </p:txBody>
      </p:sp>
      <p:sp>
        <p:nvSpPr>
          <p:cNvPr id="12" name="Text 10"/>
          <p:cNvSpPr/>
          <p:nvPr/>
        </p:nvSpPr>
        <p:spPr>
          <a:xfrm>
            <a:off x="838179" y="3785453"/>
            <a:ext cx="5181470"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Экраны ученика.</a:t>
            </a:r>
            <a:endParaRPr lang="en-US" sz="1800" dirty="0"/>
          </a:p>
        </p:txBody>
      </p:sp>
      <p:sp>
        <p:nvSpPr>
          <p:cNvPr id="13" name="Shape 11"/>
          <p:cNvSpPr/>
          <p:nvPr/>
        </p:nvSpPr>
        <p:spPr>
          <a:xfrm>
            <a:off x="6172046" y="3076476"/>
            <a:ext cx="5410065" cy="1887041"/>
          </a:xfrm>
          <a:prstGeom prst="rect">
            <a:avLst/>
          </a:prstGeom>
          <a:solidFill>
            <a:srgbClr val="F1EBF1"/>
          </a:solidFill>
          <a:ln/>
        </p:spPr>
      </p:sp>
      <p:sp>
        <p:nvSpPr>
          <p:cNvPr id="14" name="Text 12"/>
          <p:cNvSpPr/>
          <p:nvPr/>
        </p:nvSpPr>
        <p:spPr>
          <a:xfrm>
            <a:off x="6400640" y="3315659"/>
            <a:ext cx="4952876"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Сервис</a:t>
            </a:r>
            <a:endParaRPr lang="en-US" sz="2000" dirty="0"/>
          </a:p>
        </p:txBody>
      </p:sp>
      <p:sp>
        <p:nvSpPr>
          <p:cNvPr id="15" name="Text 13"/>
          <p:cNvSpPr/>
          <p:nvPr/>
        </p:nvSpPr>
        <p:spPr>
          <a:xfrm>
            <a:off x="6400640" y="3785453"/>
            <a:ext cx="4952876"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Журналы, ожидание ответа, оформление текста и правка типичных ошибок в примерах кода.</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Модули ядра и состояния</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9585" y="1854200"/>
          <a:ext cx="10972526" cy="914400"/>
        </p:xfrm>
        <a:graphic>
          <a:graphicData uri="http://schemas.openxmlformats.org/drawingml/2006/table">
            <a:tbl>
              <a:tblPr/>
              <a:tblGrid>
                <a:gridCol w="4608397"/>
                <a:gridCol w="6364128"/>
              </a:tblGrid>
              <a:tr h="454609">
                <a:tc>
                  <a:txBody>
                    <a:bodyPr/>
                    <a:lstStyle/>
                    <a:p>
                      <a:pPr algn="l" indent="0" marL="0">
                        <a:buNone/>
                      </a:pPr>
                      <a:r>
                        <a:rPr lang="en-US" sz="1200" spc="72" kern="100" dirty="0">
                          <a:solidFill>
                            <a:srgbClr val="FFFFFF"/>
                          </a:solidFill>
                          <a:latin typeface="Noto Sans" pitchFamily="34" charset="0"/>
                          <a:ea typeface="Noto Sans" pitchFamily="34" charset="-122"/>
                          <a:cs typeface="Noto Sans" pitchFamily="34" charset="-120"/>
                        </a:rPr>
                        <a:t>МОДУЛЬ</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НАЗНАЧЕНИЕ</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run_teachai</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точка входа из ноутбука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TeachAIEngine</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собирает части системы</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ConfigManager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ключ, модель, сеть</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StateManager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файл прогресса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UserProfileManager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имя, часы, длина урока, стиль</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LearningProgressManager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текущий урок, оценки, зачёт, счётчик вопросов</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CourseDataManager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каталог курсов и план</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Модули генерации и проверки</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585" y="1600200"/>
          <a:ext cx="10972526" cy="914400"/>
        </p:xfrm>
        <a:graphic>
          <a:graphicData uri="http://schemas.openxmlformats.org/drawingml/2006/table">
            <a:tbl>
              <a:tblPr/>
              <a:tblGrid>
                <a:gridCol w="4513150"/>
                <a:gridCol w="6154484"/>
                <a:gridCol w="304892"/>
              </a:tblGrid>
              <a:tr h="454609">
                <a:tc>
                  <a:txBody>
                    <a:bodyPr/>
                    <a:lstStyle/>
                    <a:p>
                      <a:pPr algn="l" indent="0" marL="0">
                        <a:buNone/>
                      </a:pPr>
                      <a:r>
                        <a:rPr lang="en-US" sz="1200" spc="72" kern="100" dirty="0">
                          <a:solidFill>
                            <a:srgbClr val="FFFFFF"/>
                          </a:solidFill>
                          <a:latin typeface="Noto Sans" pitchFamily="34" charset="0"/>
                          <a:ea typeface="Noto Sans" pitchFamily="34" charset="-122"/>
                          <a:cs typeface="Noto Sans" pitchFamily="34" charset="-120"/>
                        </a:rPr>
                        <a:t>МОДУЛЬ</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НАЗНАЧЕНИЕ</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indent="0" marL="0">
                        <a:buNone/>
                      </a:pP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ContentGenerator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единый фасад запросов</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CoursePlanGenerator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план в JSON</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LessonGenerator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текст урока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ExamplesGenerator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примеры кода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RelevanceChecker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относится ли вопрос к уроку</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QAGenerator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ответ, если тема совпала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Assessment</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тест и сверка с эталоном</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ControlTasksGenerator</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задание и проверка кода ученика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Как связаны части одной цепочкой</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Shape 2"/>
          <p:cNvSpPr/>
          <p:nvPr/>
        </p:nvSpPr>
        <p:spPr>
          <a:xfrm>
            <a:off x="609585" y="2544862"/>
            <a:ext cx="2743131" cy="914400"/>
          </a:xfrm>
          <a:prstGeom prst="rect">
            <a:avLst/>
          </a:prstGeom>
          <a:solidFill>
            <a:srgbClr val="432B4C"/>
          </a:solidFill>
          <a:ln/>
        </p:spPr>
      </p:sp>
      <p:sp>
        <p:nvSpPr>
          <p:cNvPr id="5" name="Shape 3"/>
          <p:cNvSpPr/>
          <p:nvPr/>
        </p:nvSpPr>
        <p:spPr>
          <a:xfrm>
            <a:off x="609585" y="2544862"/>
            <a:ext cx="2743131" cy="914400"/>
          </a:xfrm>
          <a:prstGeom prst="rect">
            <a:avLst/>
          </a:prstGeom>
          <a:solidFill>
            <a:srgbClr val="2A1233"/>
          </a:solidFill>
          <a:ln/>
        </p:spPr>
      </p:sp>
      <p:sp>
        <p:nvSpPr>
          <p:cNvPr id="6" name="Text 4"/>
          <p:cNvSpPr/>
          <p:nvPr/>
        </p:nvSpPr>
        <p:spPr>
          <a:xfrm>
            <a:off x="1365513" y="2852499"/>
            <a:ext cx="1840859"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Интерфейс</a:t>
            </a:r>
            <a:endParaRPr lang="en-US" sz="1800" dirty="0"/>
          </a:p>
        </p:txBody>
      </p:sp>
      <p:sp>
        <p:nvSpPr>
          <p:cNvPr id="7" name="Shape 5"/>
          <p:cNvSpPr/>
          <p:nvPr/>
        </p:nvSpPr>
        <p:spPr>
          <a:xfrm>
            <a:off x="3352716" y="2544862"/>
            <a:ext cx="2743131" cy="914400"/>
          </a:xfrm>
          <a:prstGeom prst="rect">
            <a:avLst/>
          </a:prstGeom>
          <a:solidFill>
            <a:srgbClr val="432B4C"/>
          </a:solidFill>
          <a:ln/>
        </p:spPr>
      </p:sp>
      <p:sp>
        <p:nvSpPr>
          <p:cNvPr id="8" name="Shape 6"/>
          <p:cNvSpPr/>
          <p:nvPr/>
        </p:nvSpPr>
        <p:spPr>
          <a:xfrm>
            <a:off x="3352716" y="2544862"/>
            <a:ext cx="2743131" cy="914400"/>
          </a:xfrm>
          <a:prstGeom prst="rect">
            <a:avLst/>
          </a:prstGeom>
          <a:solidFill>
            <a:srgbClr val="2A1233"/>
          </a:solidFill>
          <a:ln/>
        </p:spPr>
      </p:sp>
      <p:sp>
        <p:nvSpPr>
          <p:cNvPr id="9" name="Text 7"/>
          <p:cNvSpPr/>
          <p:nvPr/>
        </p:nvSpPr>
        <p:spPr>
          <a:xfrm>
            <a:off x="4292393" y="2852499"/>
            <a:ext cx="1473262"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Движок</a:t>
            </a:r>
            <a:endParaRPr lang="en-US" sz="1800" dirty="0"/>
          </a:p>
        </p:txBody>
      </p:sp>
      <p:sp>
        <p:nvSpPr>
          <p:cNvPr id="10" name="Shape 8"/>
          <p:cNvSpPr/>
          <p:nvPr/>
        </p:nvSpPr>
        <p:spPr>
          <a:xfrm>
            <a:off x="6095848" y="2544862"/>
            <a:ext cx="2743131" cy="914400"/>
          </a:xfrm>
          <a:prstGeom prst="rect">
            <a:avLst/>
          </a:prstGeom>
          <a:solidFill>
            <a:srgbClr val="432B4C"/>
          </a:solidFill>
          <a:ln/>
        </p:spPr>
      </p:sp>
      <p:sp>
        <p:nvSpPr>
          <p:cNvPr id="11" name="Shape 9"/>
          <p:cNvSpPr/>
          <p:nvPr/>
        </p:nvSpPr>
        <p:spPr>
          <a:xfrm>
            <a:off x="6095848" y="2544862"/>
            <a:ext cx="2743131" cy="914400"/>
          </a:xfrm>
          <a:prstGeom prst="rect">
            <a:avLst/>
          </a:prstGeom>
          <a:solidFill>
            <a:srgbClr val="2A1233"/>
          </a:solidFill>
          <a:ln/>
        </p:spPr>
      </p:sp>
      <p:sp>
        <p:nvSpPr>
          <p:cNvPr id="12" name="Text 10"/>
          <p:cNvSpPr/>
          <p:nvPr/>
        </p:nvSpPr>
        <p:spPr>
          <a:xfrm>
            <a:off x="6877672" y="2852499"/>
            <a:ext cx="1788969"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Генерация</a:t>
            </a:r>
            <a:endParaRPr lang="en-US" sz="1800" dirty="0"/>
          </a:p>
        </p:txBody>
      </p:sp>
      <p:sp>
        <p:nvSpPr>
          <p:cNvPr id="13" name="Shape 11"/>
          <p:cNvSpPr/>
          <p:nvPr/>
        </p:nvSpPr>
        <p:spPr>
          <a:xfrm>
            <a:off x="8838979" y="2544862"/>
            <a:ext cx="2743131" cy="914400"/>
          </a:xfrm>
          <a:prstGeom prst="rect">
            <a:avLst/>
          </a:prstGeom>
          <a:solidFill>
            <a:srgbClr val="432B4C"/>
          </a:solidFill>
          <a:ln/>
        </p:spPr>
      </p:sp>
      <p:sp>
        <p:nvSpPr>
          <p:cNvPr id="14" name="Shape 12"/>
          <p:cNvSpPr/>
          <p:nvPr/>
        </p:nvSpPr>
        <p:spPr>
          <a:xfrm>
            <a:off x="8838979" y="2544862"/>
            <a:ext cx="2743131" cy="914400"/>
          </a:xfrm>
          <a:prstGeom prst="rect">
            <a:avLst/>
          </a:prstGeom>
          <a:solidFill>
            <a:srgbClr val="2A1233"/>
          </a:solidFill>
          <a:ln/>
        </p:spPr>
      </p:sp>
      <p:sp>
        <p:nvSpPr>
          <p:cNvPr id="15" name="Text 13"/>
          <p:cNvSpPr/>
          <p:nvPr/>
        </p:nvSpPr>
        <p:spPr>
          <a:xfrm>
            <a:off x="9778358" y="2852499"/>
            <a:ext cx="1473957"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Модель</a:t>
            </a:r>
            <a:endParaRPr lang="en-US" sz="1800" dirty="0"/>
          </a:p>
        </p:txBody>
      </p:sp>
      <p:sp>
        <p:nvSpPr>
          <p:cNvPr id="16" name="Text 14"/>
          <p:cNvSpPr/>
          <p:nvPr/>
        </p:nvSpPr>
        <p:spPr>
          <a:xfrm>
            <a:off x="609585" y="5174159"/>
            <a:ext cx="10972526" cy="1074241"/>
          </a:xfrm>
          <a:prstGeom prst="rect">
            <a:avLst/>
          </a:prstGeom>
          <a:noFill/>
          <a:ln/>
        </p:spPr>
        <p:txBody>
          <a:bodyPr wrap="square" lIns="0" tIns="0" rIns="0" bIns="0" rtlCol="0" anchor="t">
            <a:normAutofit/>
          </a:bodyPr>
          <a:lstStyle/>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Файл прогресса пишет состояние, а не сам экран.</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План, урок, примеры, тест и контрольное не делят одну инструкцию.</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Сравнение моделей вынесено в отдельный эксперимент и в урок ученика не встроено.</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607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Путь ученика от профиля до урока</a:t>
            </a:r>
            <a:endParaRPr lang="en-US" sz="3600" dirty="0"/>
          </a:p>
        </p:txBody>
      </p:sp>
      <p:pic>
        <p:nvPicPr>
          <p:cNvPr id="3" name="Image 0" descr="preencoded.png">    </p:cNvPr>
          <p:cNvPicPr>
            <a:picLocks noChangeAspect="1"/>
          </p:cNvPicPr>
          <p:nvPr/>
        </p:nvPicPr>
        <p:blipFill>
          <a:blip r:embed="rId1"/>
          <a:stretch>
            <a:fillRect/>
          </a:stretch>
        </p:blipFill>
        <p:spPr>
          <a:xfrm>
            <a:off x="558786" y="1092795"/>
            <a:ext cx="6331486" cy="3301901"/>
          </a:xfrm>
          <a:prstGeom prst="rect">
            <a:avLst/>
          </a:prstGeom>
        </p:spPr>
      </p:pic>
      <p:sp>
        <p:nvSpPr>
          <p:cNvPr id="4" name="Text 1"/>
          <p:cNvSpPr/>
          <p:nvPr/>
        </p:nvSpPr>
        <p:spPr>
          <a:xfrm>
            <a:off x="558786" y="4601071"/>
            <a:ext cx="11074123" cy="1828502"/>
          </a:xfrm>
          <a:prstGeom prst="rect">
            <a:avLst/>
          </a:prstGeom>
          <a:noFill/>
          <a:ln/>
        </p:spPr>
        <p:txBody>
          <a:bodyPr wrap="square" lIns="0" tIns="0" rIns="0" bIns="0" rtlCol="0" anchor="t">
            <a:normAutofit/>
          </a:bodyPr>
          <a:lstStyle/>
          <a:p>
            <a:pPr algn="l" marL="365760" indent="-365760">
              <a:lnSpc>
                <a:spcPct val="117000"/>
              </a:lnSpc>
              <a:buSzPct val="100000"/>
              <a:buFont typeface="+mj-lt"/>
              <a:buAutoNum type="arabicPeriod" startAt="1"/>
            </a:pPr>
            <a:r>
              <a:rPr lang="en-US" sz="1800" dirty="0">
                <a:solidFill>
                  <a:srgbClr val="2A1233"/>
                </a:solidFill>
                <a:latin typeface="Noto Sans" pitchFamily="34" charset="0"/>
                <a:ea typeface="Noto Sans" pitchFamily="34" charset="-122"/>
                <a:cs typeface="Noto Sans" pitchFamily="34" charset="-120"/>
              </a:rPr>
              <a:t>Профиль записывается.</a:t>
            </a:r>
            <a:endParaRPr lang="en-US" sz="1800" dirty="0"/>
          </a:p>
          <a:p>
            <a:pPr algn="l" marL="365760" indent="-365760">
              <a:lnSpc>
                <a:spcPct val="117000"/>
              </a:lnSpc>
              <a:buSzPct val="100000"/>
              <a:buFont typeface="+mj-lt"/>
              <a:buAutoNum type="arabicPeriod" startAt="2"/>
            </a:pPr>
            <a:r>
              <a:rPr lang="en-US" sz="1800" dirty="0">
                <a:solidFill>
                  <a:srgbClr val="2A1233"/>
                </a:solidFill>
                <a:latin typeface="Noto Sans" pitchFamily="34" charset="0"/>
                <a:ea typeface="Noto Sans" pitchFamily="34" charset="-122"/>
                <a:cs typeface="Noto Sans" pitchFamily="34" charset="-120"/>
              </a:rPr>
              <a:t>Курс берётся из каталога, его описание пишет не модель.</a:t>
            </a:r>
            <a:endParaRPr lang="en-US" sz="1800" dirty="0"/>
          </a:p>
          <a:p>
            <a:pPr algn="l" marL="365760" indent="-365760">
              <a:lnSpc>
                <a:spcPct val="117000"/>
              </a:lnSpc>
              <a:buSzPct val="100000"/>
              <a:buFont typeface="+mj-lt"/>
              <a:buAutoNum type="arabicPeriod" startAt="3"/>
            </a:pPr>
            <a:r>
              <a:rPr lang="en-US" sz="1800" dirty="0">
                <a:solidFill>
                  <a:srgbClr val="2A1233"/>
                </a:solidFill>
                <a:latin typeface="Noto Sans" pitchFamily="34" charset="0"/>
                <a:ea typeface="Noto Sans" pitchFamily="34" charset="-122"/>
                <a:cs typeface="Noto Sans" pitchFamily="34" charset="-120"/>
              </a:rPr>
              <a:t>Модель строит план, программа проверяет структуру.</a:t>
            </a:r>
            <a:endParaRPr lang="en-US" sz="1800" dirty="0"/>
          </a:p>
          <a:p>
            <a:pPr algn="l" marL="365760" indent="-365760">
              <a:lnSpc>
                <a:spcPct val="117000"/>
              </a:lnSpc>
              <a:buSzPct val="100000"/>
              <a:buFont typeface="+mj-lt"/>
              <a:buAutoNum type="arabicPeriod" startAt="4"/>
            </a:pPr>
            <a:r>
              <a:rPr lang="en-US" sz="1800" dirty="0">
                <a:solidFill>
                  <a:srgbClr val="2A1233"/>
                </a:solidFill>
                <a:latin typeface="Noto Sans" pitchFamily="34" charset="0"/>
                <a:ea typeface="Noto Sans" pitchFamily="34" charset="-122"/>
                <a:cs typeface="Noto Sans" pitchFamily="34" charset="-120"/>
              </a:rPr>
              <a:t>Урок берётся из сохранённой копии или создаётся заново.</a:t>
            </a:r>
            <a:endParaRPr lang="en-US" sz="1800" dirty="0"/>
          </a:p>
          <a:p>
            <a:pPr algn="l" marL="365760" indent="-365760">
              <a:lnSpc>
                <a:spcPct val="117000"/>
              </a:lnSpc>
              <a:buSzPct val="100000"/>
              <a:buFont typeface="+mj-lt"/>
              <a:buAutoNum type="arabicPeriod" startAt="5"/>
            </a:pPr>
            <a:r>
              <a:rPr lang="en-US" sz="1800" dirty="0">
                <a:solidFill>
                  <a:srgbClr val="2A1233"/>
                </a:solidFill>
                <a:latin typeface="Noto Sans" pitchFamily="34" charset="0"/>
                <a:ea typeface="Noto Sans" pitchFamily="34" charset="-122"/>
                <a:cs typeface="Noto Sans" pitchFamily="34" charset="-120"/>
              </a:rPr>
              <a:t>Дальше ученик сам открывает примеры, вопрос, тест и практику.</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960041"/>
          </a:xfrm>
          <a:prstGeom prst="rect">
            <a:avLst/>
          </a:prstGeom>
          <a:noFill/>
          <a:ln/>
        </p:spPr>
        <p:txBody>
          <a:bodyPr wrap="square" lIns="0" tIns="0" rIns="0" bIns="0" rtlCol="0" anchor="t">
            <a:normAutofit/>
          </a:bodyPr>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Урок пройден, когда тест зачтён и контрольное принято</a:t>
            </a:r>
            <a:endParaRPr lang="en-US" sz="3600" dirty="0"/>
          </a:p>
        </p:txBody>
      </p:sp>
      <p:sp>
        <p:nvSpPr>
          <p:cNvPr id="3" name="Shape 1"/>
          <p:cNvSpPr/>
          <p:nvPr/>
        </p:nvSpPr>
        <p:spPr>
          <a:xfrm>
            <a:off x="609585" y="1798241"/>
            <a:ext cx="5333867" cy="4020939"/>
          </a:xfrm>
          <a:prstGeom prst="rect">
            <a:avLst/>
          </a:prstGeom>
          <a:solidFill>
            <a:srgbClr val="F1EBF1"/>
          </a:solidFill>
          <a:ln/>
        </p:spPr>
      </p:sp>
      <p:sp>
        <p:nvSpPr>
          <p:cNvPr id="4" name="Text 2"/>
          <p:cNvSpPr/>
          <p:nvPr/>
        </p:nvSpPr>
        <p:spPr>
          <a:xfrm>
            <a:off x="838179" y="2041615"/>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Тест зачтён</a:t>
            </a:r>
            <a:endParaRPr lang="en-US" sz="2600" dirty="0"/>
          </a:p>
        </p:txBody>
      </p:sp>
      <p:sp>
        <p:nvSpPr>
          <p:cNvPr id="5" name="Text 3"/>
          <p:cNvSpPr/>
          <p:nvPr/>
        </p:nvSpPr>
        <p:spPr>
          <a:xfrm>
            <a:off x="838179" y="2658352"/>
            <a:ext cx="4876678" cy="696912"/>
          </a:xfrm>
          <a:prstGeom prst="rect">
            <a:avLst/>
          </a:prstGeom>
          <a:noFill/>
          <a:ln/>
        </p:spPr>
        <p:txBody>
          <a:bodyPr wrap="none" lIns="0" tIns="0" rIns="0" bIns="0" rtlCol="0" anchor="t"/>
          <a:lstStyle/>
          <a:p>
            <a:pPr algn="l" indent="0" marL="0">
              <a:lnSpc>
                <a:spcPct val="82000"/>
              </a:lnSpc>
              <a:buNone/>
            </a:pPr>
            <a:r>
              <a:rPr lang="en-US" sz="5600" spc="-112" kern="100" dirty="0">
                <a:solidFill>
                  <a:srgbClr val="2A1233"/>
                </a:solidFill>
                <a:latin typeface="Noto Sans Black" pitchFamily="34" charset="0"/>
                <a:ea typeface="Noto Sans Black" pitchFamily="34" charset="-122"/>
                <a:cs typeface="Noto Sans Black" pitchFamily="34" charset="-120"/>
              </a:rPr>
              <a:t>&gt;40%</a:t>
            </a:r>
            <a:endParaRPr lang="en-US" sz="5600" dirty="0"/>
          </a:p>
        </p:txBody>
      </p:sp>
      <p:sp>
        <p:nvSpPr>
          <p:cNvPr id="6" name="Text 4"/>
          <p:cNvSpPr/>
          <p:nvPr/>
        </p:nvSpPr>
        <p:spPr>
          <a:xfrm>
            <a:off x="838179" y="3492361"/>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Ученик выбирает вариант, программа сравнивает его с верным индексом.</a:t>
            </a:r>
            <a:endParaRPr lang="en-US" sz="1800" dirty="0"/>
          </a:p>
        </p:txBody>
      </p:sp>
      <p:sp>
        <p:nvSpPr>
          <p:cNvPr id="7" name="Shape 5"/>
          <p:cNvSpPr/>
          <p:nvPr/>
        </p:nvSpPr>
        <p:spPr>
          <a:xfrm>
            <a:off x="6248244" y="1798241"/>
            <a:ext cx="5333867" cy="4020939"/>
          </a:xfrm>
          <a:prstGeom prst="rect">
            <a:avLst/>
          </a:prstGeom>
          <a:solidFill>
            <a:srgbClr val="2A1233"/>
          </a:solidFill>
          <a:ln/>
        </p:spPr>
      </p:sp>
      <p:sp>
        <p:nvSpPr>
          <p:cNvPr id="8" name="Text 6"/>
          <p:cNvSpPr/>
          <p:nvPr/>
        </p:nvSpPr>
        <p:spPr>
          <a:xfrm>
            <a:off x="6476838" y="2041615"/>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FFFFFF"/>
                </a:solidFill>
                <a:latin typeface="Noto Sans SemiBold" pitchFamily="34" charset="0"/>
                <a:ea typeface="Noto Sans SemiBold" pitchFamily="34" charset="-122"/>
                <a:cs typeface="Noto Sans SemiBold" pitchFamily="34" charset="-120"/>
              </a:rPr>
              <a:t>И контрольное принято</a:t>
            </a:r>
            <a:endParaRPr lang="en-US" sz="2600" dirty="0"/>
          </a:p>
        </p:txBody>
      </p:sp>
      <p:sp>
        <p:nvSpPr>
          <p:cNvPr id="9" name="Text 7"/>
          <p:cNvSpPr/>
          <p:nvPr/>
        </p:nvSpPr>
        <p:spPr>
          <a:xfrm>
            <a:off x="6476838" y="2598599"/>
            <a:ext cx="4876678"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Одного теста мало. Урок завершён, когда выполнены оба условия, либо урок отмечен вручную.</a:t>
            </a:r>
            <a:endParaRPr lang="en-US" sz="1800" dirty="0"/>
          </a:p>
        </p:txBody>
      </p:sp>
      <p:sp>
        <p:nvSpPr>
          <p:cNvPr id="10" name="Text 8"/>
          <p:cNvSpPr/>
          <p:nvPr/>
        </p:nvSpPr>
        <p:spPr>
          <a:xfrm>
            <a:off x="609585" y="6036508"/>
            <a:ext cx="11582110"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40% — порог зачёта теста, а не «точность нейросети».</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Что попадает в запрос к модели</a:t>
            </a:r>
            <a:endParaRPr lang="en-US" sz="3600" dirty="0"/>
          </a:p>
        </p:txBody>
      </p:sp>
      <p:sp>
        <p:nvSpPr>
          <p:cNvPr id="3" name="Text 1"/>
          <p:cNvSpPr/>
          <p:nvPr/>
        </p:nvSpPr>
        <p:spPr>
          <a:xfrm>
            <a:off x="609585" y="1328698"/>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На все учебные генераторы используется одна модель, gpt-4o-mini. Меняются инструкция и параметры, не веса.</a:t>
            </a:r>
            <a:endParaRPr lang="en-US" sz="1800" dirty="0"/>
          </a:p>
        </p:txBody>
      </p:sp>
      <p:sp>
        <p:nvSpPr>
          <p:cNvPr id="4" name="Shape 2"/>
          <p:cNvSpPr/>
          <p:nvPr/>
        </p:nvSpPr>
        <p:spPr>
          <a:xfrm>
            <a:off x="609585" y="2164556"/>
            <a:ext cx="5333867" cy="38100"/>
          </a:xfrm>
          <a:prstGeom prst="rect">
            <a:avLst/>
          </a:prstGeom>
          <a:solidFill>
            <a:srgbClr val="2A1233"/>
          </a:solidFill>
          <a:ln/>
        </p:spPr>
      </p:sp>
      <p:sp>
        <p:nvSpPr>
          <p:cNvPr id="5" name="Text 3"/>
          <p:cNvSpPr/>
          <p:nvPr/>
        </p:nvSpPr>
        <p:spPr>
          <a:xfrm>
            <a:off x="838179" y="2446030"/>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Профиль и тема</a:t>
            </a:r>
            <a:endParaRPr lang="en-US" sz="2600" dirty="0"/>
          </a:p>
        </p:txBody>
      </p:sp>
      <p:sp>
        <p:nvSpPr>
          <p:cNvPr id="6" name="Text 4"/>
          <p:cNvSpPr/>
          <p:nvPr/>
        </p:nvSpPr>
        <p:spPr>
          <a:xfrm>
            <a:off x="838179" y="3003014"/>
            <a:ext cx="5105272"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Стиль, имя, курс и текущий урок.</a:t>
            </a:r>
            <a:endParaRPr lang="en-US" sz="1800" dirty="0"/>
          </a:p>
        </p:txBody>
      </p:sp>
      <p:sp>
        <p:nvSpPr>
          <p:cNvPr id="7" name="Shape 5"/>
          <p:cNvSpPr/>
          <p:nvPr/>
        </p:nvSpPr>
        <p:spPr>
          <a:xfrm>
            <a:off x="6248244" y="2164556"/>
            <a:ext cx="5333867" cy="38100"/>
          </a:xfrm>
          <a:prstGeom prst="rect">
            <a:avLst/>
          </a:prstGeom>
          <a:solidFill>
            <a:srgbClr val="2A1233"/>
          </a:solidFill>
          <a:ln/>
        </p:spPr>
      </p:sp>
      <p:sp>
        <p:nvSpPr>
          <p:cNvPr id="8" name="Text 6"/>
          <p:cNvSpPr/>
          <p:nvPr/>
        </p:nvSpPr>
        <p:spPr>
          <a:xfrm>
            <a:off x="6476838" y="2446030"/>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Контекст урока</a:t>
            </a:r>
            <a:endParaRPr lang="en-US" sz="2600" dirty="0"/>
          </a:p>
        </p:txBody>
      </p:sp>
      <p:sp>
        <p:nvSpPr>
          <p:cNvPr id="9" name="Text 7"/>
          <p:cNvSpPr/>
          <p:nvPr/>
        </p:nvSpPr>
        <p:spPr>
          <a:xfrm>
            <a:off x="6476838" y="3003014"/>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Для урока и ответа на вопрос в контекст кладётся текст этого урока.</a:t>
            </a:r>
            <a:endParaRPr lang="en-US" sz="1800" dirty="0"/>
          </a:p>
        </p:txBody>
      </p:sp>
      <p:sp>
        <p:nvSpPr>
          <p:cNvPr id="10" name="Shape 8"/>
          <p:cNvSpPr/>
          <p:nvPr/>
        </p:nvSpPr>
        <p:spPr>
          <a:xfrm>
            <a:off x="609585" y="4358878"/>
            <a:ext cx="5333867" cy="38100"/>
          </a:xfrm>
          <a:prstGeom prst="rect">
            <a:avLst/>
          </a:prstGeom>
          <a:solidFill>
            <a:srgbClr val="2A1233"/>
          </a:solidFill>
          <a:ln/>
        </p:spPr>
      </p:sp>
      <p:sp>
        <p:nvSpPr>
          <p:cNvPr id="11" name="Text 9"/>
          <p:cNvSpPr/>
          <p:nvPr/>
        </p:nvSpPr>
        <p:spPr>
          <a:xfrm>
            <a:off x="838179" y="4640352"/>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Формат ответа</a:t>
            </a:r>
            <a:endParaRPr lang="en-US" sz="2600" dirty="0"/>
          </a:p>
        </p:txBody>
      </p:sp>
      <p:sp>
        <p:nvSpPr>
          <p:cNvPr id="12" name="Text 10"/>
          <p:cNvSpPr/>
          <p:nvPr/>
        </p:nvSpPr>
        <p:spPr>
          <a:xfrm>
            <a:off x="838179" y="5197336"/>
            <a:ext cx="5105272"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План и проверка темы ждут ответ в JSON.</a:t>
            </a:r>
            <a:endParaRPr lang="en-US" sz="1800" dirty="0"/>
          </a:p>
        </p:txBody>
      </p:sp>
      <p:sp>
        <p:nvSpPr>
          <p:cNvPr id="13" name="Shape 11"/>
          <p:cNvSpPr/>
          <p:nvPr/>
        </p:nvSpPr>
        <p:spPr>
          <a:xfrm>
            <a:off x="6248244" y="4358878"/>
            <a:ext cx="5333867" cy="38100"/>
          </a:xfrm>
          <a:prstGeom prst="rect">
            <a:avLst/>
          </a:prstGeom>
          <a:solidFill>
            <a:srgbClr val="2A1233"/>
          </a:solidFill>
          <a:ln/>
        </p:spPr>
      </p:sp>
      <p:sp>
        <p:nvSpPr>
          <p:cNvPr id="14" name="Text 12"/>
          <p:cNvSpPr/>
          <p:nvPr/>
        </p:nvSpPr>
        <p:spPr>
          <a:xfrm>
            <a:off x="6476838" y="4640352"/>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Сбой сети</a:t>
            </a:r>
            <a:endParaRPr lang="en-US" sz="2600" dirty="0"/>
          </a:p>
        </p:txBody>
      </p:sp>
      <p:sp>
        <p:nvSpPr>
          <p:cNvPr id="15" name="Text 13"/>
          <p:cNvSpPr/>
          <p:nvPr/>
        </p:nvSpPr>
        <p:spPr>
          <a:xfrm>
            <a:off x="6476838" y="5197336"/>
            <a:ext cx="5105272"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Запрос повторяется.</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607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Отдельные запросы к модели</a:t>
            </a:r>
            <a:endParaRPr lang="en-US" sz="3600" dirty="0"/>
          </a:p>
        </p:txBody>
      </p:sp>
      <p:pic>
        <p:nvPicPr>
          <p:cNvPr id="3" name="Image 0" descr="preencoded.png">    </p:cNvPr>
          <p:cNvPicPr>
            <a:picLocks noChangeAspect="1"/>
          </p:cNvPicPr>
          <p:nvPr/>
        </p:nvPicPr>
        <p:blipFill>
          <a:blip r:embed="rId1"/>
          <a:stretch>
            <a:fillRect/>
          </a:stretch>
        </p:blipFill>
        <p:spPr>
          <a:xfrm>
            <a:off x="558786" y="1092795"/>
            <a:ext cx="6005065" cy="3428901"/>
          </a:xfrm>
          <a:prstGeom prst="rect">
            <a:avLst/>
          </a:prstGeom>
        </p:spPr>
      </p:pic>
      <p:sp>
        <p:nvSpPr>
          <p:cNvPr id="4" name="Text 1"/>
          <p:cNvSpPr/>
          <p:nvPr/>
        </p:nvSpPr>
        <p:spPr>
          <a:xfrm>
            <a:off x="558786" y="4728071"/>
            <a:ext cx="11074123" cy="1006475"/>
          </a:xfrm>
          <a:prstGeom prst="rect">
            <a:avLst/>
          </a:prstGeom>
          <a:noFill/>
          <a:ln/>
        </p:spPr>
        <p:txBody>
          <a:bodyPr wrap="square" lIns="0" tIns="0" rIns="0" bIns="0" rtlCol="0" anchor="t"/>
          <a:lstStyle/>
          <a:p>
            <a:pPr algn="l" indent="0" marL="0">
              <a:lnSpc>
                <a:spcPct val="117000"/>
              </a:lnSpc>
              <a:spcAft>
                <a:spcPts val="1600"/>
              </a:spcAft>
              <a:buNone/>
            </a:pPr>
            <a:r>
              <a:rPr lang="en-US" sz="1500" dirty="0">
                <a:solidFill>
                  <a:srgbClr val="2A1233"/>
                </a:solidFill>
                <a:latin typeface="Noto Sans" pitchFamily="34" charset="0"/>
                <a:ea typeface="Noto Sans" pitchFamily="34" charset="-122"/>
                <a:cs typeface="Noto Sans" pitchFamily="34" charset="-120"/>
              </a:rPr>
              <a:t>Учебные запросы идут не одним общим промптом, а через единый фасад.</a:t>
            </a:r>
            <a:endParaRPr lang="en-US" sz="1500" dirty="0"/>
          </a:p>
          <a:p>
            <a:pPr algn="l" indent="0" marL="0">
              <a:lnSpc>
                <a:spcPct val="117000"/>
              </a:lnSpc>
              <a:buNone/>
            </a:pPr>
            <a:r>
              <a:rPr lang="en-US" sz="1500" dirty="0">
                <a:solidFill>
                  <a:srgbClr val="2A1233"/>
                </a:solidFill>
                <a:latin typeface="Noto Sans" pitchFamily="34" charset="0"/>
                <a:ea typeface="Noto Sans" pitchFamily="34" charset="-122"/>
                <a:cs typeface="Noto Sans" pitchFamily="34" charset="-120"/>
              </a:rPr>
              <a:t>Фасад отдаёт задачу отдельному генератору: план, урок, примеры, тест, вопрос и проверка темы, понятия, контрольное.</a:t>
            </a:r>
            <a:endParaRPr lang="en-US" sz="1500" dirty="0"/>
          </a:p>
        </p:txBody>
      </p:sp>
      <p:sp>
        <p:nvSpPr>
          <p:cNvPr id="5" name="Text 2"/>
          <p:cNvSpPr/>
          <p:nvPr/>
        </p:nvSpPr>
        <p:spPr>
          <a:xfrm>
            <a:off x="558786" y="5951875"/>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Каждый генератор сам обращается к API модели со своей инструкцией.</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607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Вопрос ученика — это два разных запроса</a:t>
            </a:r>
            <a:endParaRPr lang="en-US" sz="3600" dirty="0"/>
          </a:p>
        </p:txBody>
      </p:sp>
      <p:pic>
        <p:nvPicPr>
          <p:cNvPr id="3" name="Image 0" descr="preencoded.png">    </p:cNvPr>
          <p:cNvPicPr>
            <a:picLocks noChangeAspect="1"/>
          </p:cNvPicPr>
          <p:nvPr/>
        </p:nvPicPr>
        <p:blipFill>
          <a:blip r:embed="rId1"/>
          <a:stretch>
            <a:fillRect/>
          </a:stretch>
        </p:blipFill>
        <p:spPr>
          <a:xfrm>
            <a:off x="558786" y="1092795"/>
            <a:ext cx="6005065" cy="3428901"/>
          </a:xfrm>
          <a:prstGeom prst="rect">
            <a:avLst/>
          </a:prstGeom>
        </p:spPr>
      </p:pic>
      <p:sp>
        <p:nvSpPr>
          <p:cNvPr id="4" name="Text 1"/>
          <p:cNvSpPr/>
          <p:nvPr/>
        </p:nvSpPr>
        <p:spPr>
          <a:xfrm>
            <a:off x="558786" y="4732834"/>
            <a:ext cx="11074123"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2A1233"/>
                </a:solidFill>
                <a:latin typeface="Noto Sans" pitchFamily="34" charset="0"/>
                <a:ea typeface="Noto Sans" pitchFamily="34" charset="-122"/>
                <a:cs typeface="Noto Sans" pitchFamily="34" charset="-120"/>
              </a:rPr>
              <a:t>Сначала система решает, относится ли вопрос к тексту урока. Если нет, выводится предупреждение: ответ по существу не запрашивается. Если да, выполняется отдельный запрос: генератор ответа получает урок, стиль и вопрос.</a:t>
            </a:r>
            <a:endParaRPr lang="en-US" sz="1500" dirty="0"/>
          </a:p>
        </p:txBody>
      </p:sp>
      <p:sp>
        <p:nvSpPr>
          <p:cNvPr id="5" name="Text 2"/>
          <p:cNvSpPr/>
          <p:nvPr/>
        </p:nvSpPr>
        <p:spPr>
          <a:xfrm>
            <a:off x="558786" y="5478800"/>
            <a:ext cx="11074123" cy="445691"/>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Счётчик вопросов записывается. Напоминание «вы задали больше трёх вопросов» в текущем экране не показывается и работающей функцией не названо.</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Какие бывают запросы</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09585" y="2108200"/>
          <a:ext cx="10972526" cy="914400"/>
        </p:xfrm>
        <a:graphic>
          <a:graphicData uri="http://schemas.openxmlformats.org/drawingml/2006/table">
            <a:tbl>
              <a:tblPr/>
              <a:tblGrid>
                <a:gridCol w="2696103"/>
                <a:gridCol w="7971531"/>
                <a:gridCol w="304892"/>
              </a:tblGrid>
              <a:tr h="454609">
                <a:tc>
                  <a:txBody>
                    <a:bodyPr/>
                    <a:lstStyle/>
                    <a:p>
                      <a:pPr algn="l" indent="0" marL="0">
                        <a:buNone/>
                      </a:pPr>
                      <a:r>
                        <a:rPr lang="en-US" sz="1200" spc="72" kern="100" dirty="0">
                          <a:solidFill>
                            <a:srgbClr val="FFFFFF"/>
                          </a:solidFill>
                          <a:latin typeface="Noto Sans" pitchFamily="34" charset="0"/>
                          <a:ea typeface="Noto Sans" pitchFamily="34" charset="-122"/>
                          <a:cs typeface="Noto Sans" pitchFamily="34" charset="-120"/>
                        </a:rPr>
                        <a:t>ЧТО ПРОСИТ УЧЕНИК</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ЧТО ДЕЛАЕТ СИСТЕМА</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indent="0" marL="0">
                        <a:buNone/>
                      </a:pP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План</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JSON и проверка структуры</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Урок</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текст под стиль и имя; при повторном открытии — из сохранённой копии</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Примеры</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пояснение и код на Python</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Вопрос</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сначала фильтр темы, потом ответ</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Тест</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варианты и верный индекс</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Контрольное</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условие, код ученика, проверка результата</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indent="0" marL="0">
                        <a:buNone/>
                      </a:pP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Персонализация</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Shape 2"/>
          <p:cNvSpPr/>
          <p:nvPr/>
        </p:nvSpPr>
        <p:spPr>
          <a:xfrm>
            <a:off x="609585" y="1676995"/>
            <a:ext cx="5333867" cy="3725069"/>
          </a:xfrm>
          <a:prstGeom prst="rect">
            <a:avLst/>
          </a:prstGeom>
          <a:solidFill>
            <a:srgbClr val="F1EBF1"/>
          </a:solidFill>
          <a:ln/>
        </p:spPr>
      </p:sp>
      <p:sp>
        <p:nvSpPr>
          <p:cNvPr id="5" name="Text 3"/>
          <p:cNvSpPr/>
          <p:nvPr/>
        </p:nvSpPr>
        <p:spPr>
          <a:xfrm>
            <a:off x="838179" y="1920369"/>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Стиль и имя</a:t>
            </a:r>
            <a:endParaRPr lang="en-US" sz="2600" dirty="0"/>
          </a:p>
        </p:txBody>
      </p:sp>
      <p:sp>
        <p:nvSpPr>
          <p:cNvPr id="6" name="Text 4"/>
          <p:cNvSpPr/>
          <p:nvPr/>
        </p:nvSpPr>
        <p:spPr>
          <a:xfrm>
            <a:off x="838179" y="2477353"/>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Формальный, дружелюбный, разговорный, краткий. Имя попадает в текст урока.</a:t>
            </a:r>
            <a:endParaRPr lang="en-US" sz="1800" dirty="0"/>
          </a:p>
        </p:txBody>
      </p:sp>
      <p:sp>
        <p:nvSpPr>
          <p:cNvPr id="7" name="Shape 5"/>
          <p:cNvSpPr/>
          <p:nvPr/>
        </p:nvSpPr>
        <p:spPr>
          <a:xfrm>
            <a:off x="6248244" y="1676995"/>
            <a:ext cx="5333867" cy="3725069"/>
          </a:xfrm>
          <a:prstGeom prst="rect">
            <a:avLst/>
          </a:prstGeom>
          <a:solidFill>
            <a:srgbClr val="F1EBF1"/>
          </a:solidFill>
          <a:ln/>
        </p:spPr>
      </p:sp>
      <p:sp>
        <p:nvSpPr>
          <p:cNvPr id="8" name="Text 6"/>
          <p:cNvSpPr/>
          <p:nvPr/>
        </p:nvSpPr>
        <p:spPr>
          <a:xfrm>
            <a:off x="6476838" y="1920369"/>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Время и занятия</a:t>
            </a:r>
            <a:endParaRPr lang="en-US" sz="2600" dirty="0"/>
          </a:p>
        </p:txBody>
      </p:sp>
      <p:sp>
        <p:nvSpPr>
          <p:cNvPr id="9" name="Text 7"/>
          <p:cNvSpPr/>
          <p:nvPr/>
        </p:nvSpPr>
        <p:spPr>
          <a:xfrm>
            <a:off x="6476838" y="2477353"/>
            <a:ext cx="4876678"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План строится под заявленные часы и длину занятия. Для курсов программирования примеры задаются на Python.</a:t>
            </a:r>
            <a:endParaRPr lang="en-US" sz="1800" dirty="0"/>
          </a:p>
        </p:txBody>
      </p:sp>
      <p:sp>
        <p:nvSpPr>
          <p:cNvPr id="10" name="Text 8"/>
          <p:cNvSpPr/>
          <p:nvPr/>
        </p:nvSpPr>
        <p:spPr>
          <a:xfrm>
            <a:off x="609585" y="5618917"/>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31 час, 30 минут и краткий стиль на экранах ниже — выбор одной сессии, не заводские настройки продукта.</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Как проверяют план и примеры</a:t>
            </a:r>
            <a:endParaRPr lang="en-US" sz="3600" dirty="0"/>
          </a:p>
        </p:txBody>
      </p:sp>
      <p:sp>
        <p:nvSpPr>
          <p:cNvPr id="3" name="Text 1"/>
          <p:cNvSpPr/>
          <p:nvPr/>
        </p:nvSpPr>
        <p:spPr>
          <a:xfrm>
            <a:off x="609585" y="1328698"/>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План приходит в JSON: программа проверяет обязательные поля.</a:t>
            </a:r>
            <a:endParaRPr lang="en-US" sz="1800" dirty="0"/>
          </a:p>
        </p:txBody>
      </p:sp>
      <p:sp>
        <p:nvSpPr>
          <p:cNvPr id="4" name="Text 2"/>
          <p:cNvSpPr/>
          <p:nvPr/>
        </p:nvSpPr>
        <p:spPr>
          <a:xfrm>
            <a:off x="609585" y="2830314"/>
            <a:ext cx="871119" cy="228600"/>
          </a:xfrm>
          <a:prstGeom prst="rect">
            <a:avLst/>
          </a:prstGeom>
          <a:noFill/>
          <a:ln/>
        </p:spPr>
        <p:txBody>
          <a:bodyPr wrap="none" lIns="0" tIns="0" rIns="0" bIns="0" rtlCol="0" anchor="t"/>
          <a:lstStyle/>
          <a:p>
            <a:pPr algn="l" indent="0" marL="0">
              <a:lnSpc>
                <a:spcPct val="83000"/>
              </a:lnSpc>
              <a:buNone/>
            </a:pPr>
            <a:r>
              <a:rPr lang="en-US" sz="1800" dirty="0">
                <a:solidFill>
                  <a:srgbClr val="2A1233"/>
                </a:solidFill>
                <a:latin typeface="Noto Sans SemiBold" pitchFamily="34" charset="0"/>
                <a:ea typeface="Noto Sans SemiBold" pitchFamily="34" charset="-122"/>
                <a:cs typeface="Noto Sans SemiBold" pitchFamily="34" charset="-120"/>
              </a:rPr>
              <a:t>01</a:t>
            </a:r>
            <a:endParaRPr lang="en-US" sz="1800" dirty="0"/>
          </a:p>
        </p:txBody>
      </p:sp>
      <p:sp>
        <p:nvSpPr>
          <p:cNvPr id="5" name="Shape 3"/>
          <p:cNvSpPr/>
          <p:nvPr/>
        </p:nvSpPr>
        <p:spPr>
          <a:xfrm>
            <a:off x="609585" y="3150394"/>
            <a:ext cx="2514537" cy="19050"/>
          </a:xfrm>
          <a:prstGeom prst="rect">
            <a:avLst/>
          </a:prstGeom>
          <a:solidFill>
            <a:srgbClr val="2A1233"/>
          </a:solidFill>
          <a:ln/>
        </p:spPr>
      </p:sp>
      <p:sp>
        <p:nvSpPr>
          <p:cNvPr id="6" name="Text 4"/>
          <p:cNvSpPr/>
          <p:nvPr/>
        </p:nvSpPr>
        <p:spPr>
          <a:xfrm>
            <a:off x="609585" y="3317147"/>
            <a:ext cx="2514537"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Генерация</a:t>
            </a:r>
            <a:endParaRPr lang="en-US" sz="2000" dirty="0"/>
          </a:p>
        </p:txBody>
      </p:sp>
      <p:sp>
        <p:nvSpPr>
          <p:cNvPr id="7" name="Text 5"/>
          <p:cNvSpPr/>
          <p:nvPr/>
        </p:nvSpPr>
        <p:spPr>
          <a:xfrm>
            <a:off x="609585" y="3786942"/>
            <a:ext cx="2514537"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Получить пример.</a:t>
            </a:r>
            <a:endParaRPr lang="en-US" sz="1800" dirty="0"/>
          </a:p>
        </p:txBody>
      </p:sp>
      <p:sp>
        <p:nvSpPr>
          <p:cNvPr id="8" name="Text 6"/>
          <p:cNvSpPr/>
          <p:nvPr/>
        </p:nvSpPr>
        <p:spPr>
          <a:xfrm>
            <a:off x="3428914" y="2830314"/>
            <a:ext cx="871119" cy="228600"/>
          </a:xfrm>
          <a:prstGeom prst="rect">
            <a:avLst/>
          </a:prstGeom>
          <a:noFill/>
          <a:ln/>
        </p:spPr>
        <p:txBody>
          <a:bodyPr wrap="none" lIns="0" tIns="0" rIns="0" bIns="0" rtlCol="0" anchor="t"/>
          <a:lstStyle/>
          <a:p>
            <a:pPr algn="l" indent="0" marL="0">
              <a:lnSpc>
                <a:spcPct val="83000"/>
              </a:lnSpc>
              <a:buNone/>
            </a:pPr>
            <a:r>
              <a:rPr lang="en-US" sz="1800" dirty="0">
                <a:solidFill>
                  <a:srgbClr val="2A1233"/>
                </a:solidFill>
                <a:latin typeface="Noto Sans SemiBold" pitchFamily="34" charset="0"/>
                <a:ea typeface="Noto Sans SemiBold" pitchFamily="34" charset="-122"/>
                <a:cs typeface="Noto Sans SemiBold" pitchFamily="34" charset="-120"/>
              </a:rPr>
              <a:t>02</a:t>
            </a:r>
            <a:endParaRPr lang="en-US" sz="1800" dirty="0"/>
          </a:p>
        </p:txBody>
      </p:sp>
      <p:sp>
        <p:nvSpPr>
          <p:cNvPr id="9" name="Shape 7"/>
          <p:cNvSpPr/>
          <p:nvPr/>
        </p:nvSpPr>
        <p:spPr>
          <a:xfrm>
            <a:off x="3428914" y="3150394"/>
            <a:ext cx="2514537" cy="19050"/>
          </a:xfrm>
          <a:prstGeom prst="rect">
            <a:avLst/>
          </a:prstGeom>
          <a:solidFill>
            <a:srgbClr val="2A1233"/>
          </a:solidFill>
          <a:ln/>
        </p:spPr>
      </p:sp>
      <p:sp>
        <p:nvSpPr>
          <p:cNvPr id="10" name="Text 8"/>
          <p:cNvSpPr/>
          <p:nvPr/>
        </p:nvSpPr>
        <p:spPr>
          <a:xfrm>
            <a:off x="3428914" y="3317147"/>
            <a:ext cx="2514537"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Проверка</a:t>
            </a:r>
            <a:endParaRPr lang="en-US" sz="2000" dirty="0"/>
          </a:p>
        </p:txBody>
      </p:sp>
      <p:sp>
        <p:nvSpPr>
          <p:cNvPr id="11" name="Text 9"/>
          <p:cNvSpPr/>
          <p:nvPr/>
        </p:nvSpPr>
        <p:spPr>
          <a:xfrm>
            <a:off x="3428914" y="3786942"/>
            <a:ext cx="2514537"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Это Python? Синтаксис верен?</a:t>
            </a:r>
            <a:endParaRPr lang="en-US" sz="1800" dirty="0"/>
          </a:p>
        </p:txBody>
      </p:sp>
      <p:sp>
        <p:nvSpPr>
          <p:cNvPr id="12" name="Text 10"/>
          <p:cNvSpPr/>
          <p:nvPr/>
        </p:nvSpPr>
        <p:spPr>
          <a:xfrm>
            <a:off x="6248244" y="2830314"/>
            <a:ext cx="871119" cy="228600"/>
          </a:xfrm>
          <a:prstGeom prst="rect">
            <a:avLst/>
          </a:prstGeom>
          <a:noFill/>
          <a:ln/>
        </p:spPr>
        <p:txBody>
          <a:bodyPr wrap="none" lIns="0" tIns="0" rIns="0" bIns="0" rtlCol="0" anchor="t"/>
          <a:lstStyle/>
          <a:p>
            <a:pPr algn="l" indent="0" marL="0">
              <a:lnSpc>
                <a:spcPct val="83000"/>
              </a:lnSpc>
              <a:buNone/>
            </a:pPr>
            <a:r>
              <a:rPr lang="en-US" sz="1800" dirty="0">
                <a:solidFill>
                  <a:srgbClr val="2A1233"/>
                </a:solidFill>
                <a:latin typeface="Noto Sans SemiBold" pitchFamily="34" charset="0"/>
                <a:ea typeface="Noto Sans SemiBold" pitchFamily="34" charset="-122"/>
                <a:cs typeface="Noto Sans SemiBold" pitchFamily="34" charset="-120"/>
              </a:rPr>
              <a:t>03</a:t>
            </a:r>
            <a:endParaRPr lang="en-US" sz="1800" dirty="0"/>
          </a:p>
        </p:txBody>
      </p:sp>
      <p:sp>
        <p:nvSpPr>
          <p:cNvPr id="13" name="Shape 11"/>
          <p:cNvSpPr/>
          <p:nvPr/>
        </p:nvSpPr>
        <p:spPr>
          <a:xfrm>
            <a:off x="6248244" y="3150394"/>
            <a:ext cx="2514537" cy="19050"/>
          </a:xfrm>
          <a:prstGeom prst="rect">
            <a:avLst/>
          </a:prstGeom>
          <a:solidFill>
            <a:srgbClr val="2A1233"/>
          </a:solidFill>
          <a:ln/>
        </p:spPr>
      </p:sp>
      <p:sp>
        <p:nvSpPr>
          <p:cNvPr id="14" name="Text 12"/>
          <p:cNvSpPr/>
          <p:nvPr/>
        </p:nvSpPr>
        <p:spPr>
          <a:xfrm>
            <a:off x="6248244" y="3317147"/>
            <a:ext cx="2514537"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Правка</a:t>
            </a:r>
            <a:endParaRPr lang="en-US" sz="2000" dirty="0"/>
          </a:p>
        </p:txBody>
      </p:sp>
      <p:sp>
        <p:nvSpPr>
          <p:cNvPr id="15" name="Text 13"/>
          <p:cNvSpPr/>
          <p:nvPr/>
        </p:nvSpPr>
        <p:spPr>
          <a:xfrm>
            <a:off x="6248244" y="3786942"/>
            <a:ext cx="2514537"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Исправить типичные ошибки модели.</a:t>
            </a:r>
            <a:endParaRPr lang="en-US" sz="1800" dirty="0"/>
          </a:p>
        </p:txBody>
      </p:sp>
      <p:sp>
        <p:nvSpPr>
          <p:cNvPr id="16" name="Text 14"/>
          <p:cNvSpPr/>
          <p:nvPr/>
        </p:nvSpPr>
        <p:spPr>
          <a:xfrm>
            <a:off x="9067573" y="2830314"/>
            <a:ext cx="871119" cy="228600"/>
          </a:xfrm>
          <a:prstGeom prst="rect">
            <a:avLst/>
          </a:prstGeom>
          <a:noFill/>
          <a:ln/>
        </p:spPr>
        <p:txBody>
          <a:bodyPr wrap="none" lIns="0" tIns="0" rIns="0" bIns="0" rtlCol="0" anchor="t"/>
          <a:lstStyle/>
          <a:p>
            <a:pPr algn="l" indent="0" marL="0">
              <a:lnSpc>
                <a:spcPct val="83000"/>
              </a:lnSpc>
              <a:buNone/>
            </a:pPr>
            <a:r>
              <a:rPr lang="en-US" sz="1800" dirty="0">
                <a:solidFill>
                  <a:srgbClr val="2A1233"/>
                </a:solidFill>
                <a:latin typeface="Noto Sans SemiBold" pitchFamily="34" charset="0"/>
                <a:ea typeface="Noto Sans SemiBold" pitchFamily="34" charset="-122"/>
                <a:cs typeface="Noto Sans SemiBold" pitchFamily="34" charset="-120"/>
              </a:rPr>
              <a:t>04</a:t>
            </a:r>
            <a:endParaRPr lang="en-US" sz="1800" dirty="0"/>
          </a:p>
        </p:txBody>
      </p:sp>
      <p:sp>
        <p:nvSpPr>
          <p:cNvPr id="17" name="Shape 15"/>
          <p:cNvSpPr/>
          <p:nvPr/>
        </p:nvSpPr>
        <p:spPr>
          <a:xfrm>
            <a:off x="9067573" y="3150394"/>
            <a:ext cx="2514537" cy="19050"/>
          </a:xfrm>
          <a:prstGeom prst="rect">
            <a:avLst/>
          </a:prstGeom>
          <a:solidFill>
            <a:srgbClr val="2A1233"/>
          </a:solidFill>
          <a:ln/>
        </p:spPr>
      </p:sp>
      <p:sp>
        <p:nvSpPr>
          <p:cNvPr id="18" name="Text 16"/>
          <p:cNvSpPr/>
          <p:nvPr/>
        </p:nvSpPr>
        <p:spPr>
          <a:xfrm>
            <a:off x="9067573" y="3317147"/>
            <a:ext cx="2514537" cy="304800"/>
          </a:xfrm>
          <a:prstGeom prst="rect">
            <a:avLst/>
          </a:prstGeom>
          <a:noFill/>
          <a:ln/>
        </p:spPr>
        <p:txBody>
          <a:bodyPr wrap="none" lIns="0" tIns="0" rIns="0" bIns="0" rtlCol="0" anchor="t"/>
          <a:lstStyle/>
          <a:p>
            <a:pPr algn="l" indent="0" marL="0">
              <a:lnSpc>
                <a:spcPct val="100000"/>
              </a:lnSpc>
              <a:buNone/>
            </a:pPr>
            <a:r>
              <a:rPr lang="en-US" sz="2000" dirty="0">
                <a:solidFill>
                  <a:srgbClr val="2A1233"/>
                </a:solidFill>
                <a:latin typeface="Noto Sans SemiBold" pitchFamily="34" charset="0"/>
                <a:ea typeface="Noto Sans SemiBold" pitchFamily="34" charset="-122"/>
                <a:cs typeface="Noto Sans SemiBold" pitchFamily="34" charset="-120"/>
              </a:rPr>
              <a:t>Повтор</a:t>
            </a:r>
            <a:endParaRPr lang="en-US" sz="2000" dirty="0"/>
          </a:p>
        </p:txBody>
      </p:sp>
      <p:sp>
        <p:nvSpPr>
          <p:cNvPr id="19" name="Text 17"/>
          <p:cNvSpPr/>
          <p:nvPr/>
        </p:nvSpPr>
        <p:spPr>
          <a:xfrm>
            <a:off x="9067573" y="3786942"/>
            <a:ext cx="2514537"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Повторить запрос, если проверка не прошла.</a:t>
            </a:r>
            <a:endParaRPr lang="en-US" sz="1800" dirty="0"/>
          </a:p>
        </p:txBody>
      </p:sp>
      <p:sp>
        <p:nvSpPr>
          <p:cNvPr id="20" name="Text 18"/>
          <p:cNvSpPr/>
          <p:nvPr/>
        </p:nvSpPr>
        <p:spPr>
          <a:xfrm>
            <a:off x="609585" y="5938996"/>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Это правила в программе, а не процент «качества генерации».</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Как проверяют тест и контрольное</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Shape 2"/>
          <p:cNvSpPr/>
          <p:nvPr/>
        </p:nvSpPr>
        <p:spPr>
          <a:xfrm>
            <a:off x="609585" y="1676995"/>
            <a:ext cx="5333867" cy="3582789"/>
          </a:xfrm>
          <a:prstGeom prst="rect">
            <a:avLst/>
          </a:prstGeom>
          <a:solidFill>
            <a:srgbClr val="F1EBF1"/>
          </a:solidFill>
          <a:ln/>
        </p:spPr>
      </p:sp>
      <p:sp>
        <p:nvSpPr>
          <p:cNvPr id="5" name="Text 3"/>
          <p:cNvSpPr/>
          <p:nvPr/>
        </p:nvSpPr>
        <p:spPr>
          <a:xfrm>
            <a:off x="838179" y="1920369"/>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Тест</a:t>
            </a:r>
            <a:endParaRPr lang="en-US" sz="2600" dirty="0"/>
          </a:p>
        </p:txBody>
      </p:sp>
      <p:sp>
        <p:nvSpPr>
          <p:cNvPr id="6" name="Text 4"/>
          <p:cNvSpPr/>
          <p:nvPr/>
        </p:nvSpPr>
        <p:spPr>
          <a:xfrm>
            <a:off x="838179" y="2473861"/>
            <a:ext cx="5105272" cy="391120"/>
          </a:xfrm>
          <a:prstGeom prst="rect">
            <a:avLst/>
          </a:prstGeom>
          <a:noFill/>
          <a:ln/>
        </p:spPr>
        <p:txBody>
          <a:bodyPr wrap="none" lIns="0" tIns="0" rIns="0" bIns="0" rtlCol="0" anchor="t"/>
          <a:lstStyle/>
          <a:p>
            <a:pPr algn="l" indent="0" marL="0">
              <a:lnSpc>
                <a:spcPct val="117000"/>
              </a:lnSpc>
              <a:buNone/>
            </a:pPr>
            <a:r>
              <a:rPr lang="en-US" sz="2200" dirty="0">
                <a:solidFill>
                  <a:srgbClr val="2A1233"/>
                </a:solidFill>
                <a:latin typeface="Noto Sans" pitchFamily="34" charset="0"/>
                <a:ea typeface="Noto Sans" pitchFamily="34" charset="-122"/>
                <a:cs typeface="Noto Sans" pitchFamily="34" charset="-120"/>
              </a:rPr>
              <a:t>Оценка выше 40%.</a:t>
            </a:r>
            <a:endParaRPr lang="en-US" sz="2200" dirty="0"/>
          </a:p>
        </p:txBody>
      </p:sp>
      <p:sp>
        <p:nvSpPr>
          <p:cNvPr id="7" name="Text 5"/>
          <p:cNvSpPr/>
          <p:nvPr/>
        </p:nvSpPr>
        <p:spPr>
          <a:xfrm>
            <a:off x="838179" y="3001824"/>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Это условие зачёта теста, как на слайде о завершении урока.</a:t>
            </a:r>
            <a:endParaRPr lang="en-US" sz="1800" dirty="0"/>
          </a:p>
        </p:txBody>
      </p:sp>
      <p:sp>
        <p:nvSpPr>
          <p:cNvPr id="8" name="Shape 6"/>
          <p:cNvSpPr/>
          <p:nvPr/>
        </p:nvSpPr>
        <p:spPr>
          <a:xfrm>
            <a:off x="6248244" y="1676995"/>
            <a:ext cx="5333867" cy="3582789"/>
          </a:xfrm>
          <a:prstGeom prst="rect">
            <a:avLst/>
          </a:prstGeom>
          <a:solidFill>
            <a:srgbClr val="2A1233"/>
          </a:solidFill>
          <a:ln/>
        </p:spPr>
      </p:sp>
      <p:sp>
        <p:nvSpPr>
          <p:cNvPr id="9" name="Text 7"/>
          <p:cNvSpPr/>
          <p:nvPr/>
        </p:nvSpPr>
        <p:spPr>
          <a:xfrm>
            <a:off x="6476838" y="1920369"/>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FFFFFF"/>
                </a:solidFill>
                <a:latin typeface="Noto Sans SemiBold" pitchFamily="34" charset="0"/>
                <a:ea typeface="Noto Sans SemiBold" pitchFamily="34" charset="-122"/>
                <a:cs typeface="Noto Sans SemiBold" pitchFamily="34" charset="-120"/>
              </a:rPr>
              <a:t>Контрольное</a:t>
            </a:r>
            <a:endParaRPr lang="en-US" sz="2600" dirty="0"/>
          </a:p>
        </p:txBody>
      </p:sp>
      <p:sp>
        <p:nvSpPr>
          <p:cNvPr id="10" name="Text 8"/>
          <p:cNvSpPr/>
          <p:nvPr/>
        </p:nvSpPr>
        <p:spPr>
          <a:xfrm>
            <a:off x="6476838" y="2473861"/>
            <a:ext cx="4876678" cy="782241"/>
          </a:xfrm>
          <a:prstGeom prst="rect">
            <a:avLst/>
          </a:prstGeom>
          <a:noFill/>
          <a:ln/>
        </p:spPr>
        <p:txBody>
          <a:bodyPr wrap="square" lIns="0" tIns="0" rIns="0" bIns="0" rtlCol="0" anchor="t">
            <a:normAutofit/>
          </a:bodyPr>
          <a:lstStyle/>
          <a:p>
            <a:pPr algn="l" indent="0" marL="0">
              <a:lnSpc>
                <a:spcPct val="117000"/>
              </a:lnSpc>
              <a:buNone/>
            </a:pPr>
            <a:r>
              <a:rPr lang="en-US" sz="2200" dirty="0">
                <a:solidFill>
                  <a:srgbClr val="FFFFFF"/>
                </a:solidFill>
                <a:latin typeface="Noto Sans" pitchFamily="34" charset="0"/>
                <a:ea typeface="Noto Sans" pitchFamily="34" charset="-122"/>
                <a:cs typeface="Noto Sans" pitchFamily="34" charset="-120"/>
              </a:rPr>
              <a:t>Проверяется результат кода ученика.</a:t>
            </a:r>
            <a:endParaRPr lang="en-US" sz="2200" dirty="0"/>
          </a:p>
        </p:txBody>
      </p:sp>
      <p:sp>
        <p:nvSpPr>
          <p:cNvPr id="11" name="Text 9"/>
          <p:cNvSpPr/>
          <p:nvPr/>
        </p:nvSpPr>
        <p:spPr>
          <a:xfrm>
            <a:off x="6476838" y="3392944"/>
            <a:ext cx="5105272"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Практическая часть должна быть принята.</a:t>
            </a:r>
            <a:endParaRPr lang="en-US" sz="1800" dirty="0"/>
          </a:p>
        </p:txBody>
      </p:sp>
      <p:sp>
        <p:nvSpPr>
          <p:cNvPr id="12" name="Text 10"/>
          <p:cNvSpPr/>
          <p:nvPr/>
        </p:nvSpPr>
        <p:spPr>
          <a:xfrm>
            <a:off x="609585" y="5473144"/>
            <a:ext cx="10972526" cy="782241"/>
          </a:xfrm>
          <a:prstGeom prst="rect">
            <a:avLst/>
          </a:prstGeom>
          <a:noFill/>
          <a:ln/>
        </p:spPr>
        <p:txBody>
          <a:bodyPr wrap="square" lIns="0" tIns="0" rIns="0" bIns="0" rtlCol="0" anchor="t">
            <a:normAutofit/>
          </a:bodyPr>
          <a:lstStyle/>
          <a:p>
            <a:pPr algn="l" indent="0" marL="0">
              <a:lnSpc>
                <a:spcPct val="117000"/>
              </a:lnSpc>
              <a:buNone/>
            </a:pPr>
            <a:r>
              <a:rPr lang="en-US" sz="2200" dirty="0">
                <a:solidFill>
                  <a:srgbClr val="2A1233"/>
                </a:solidFill>
                <a:latin typeface="Noto Sans" pitchFamily="34" charset="0"/>
                <a:ea typeface="Noto Sans" pitchFamily="34" charset="-122"/>
                <a:cs typeface="Noto Sans" pitchFamily="34" charset="-120"/>
              </a:rPr>
              <a:t>Урок закрыт, когда выполнены оба условия. Сам по себе тест урок не закрывает.</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Прогресс хранится локально</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2855754"/>
            <a:ext cx="11582110" cy="391120"/>
          </a:xfrm>
          <a:prstGeom prst="rect">
            <a:avLst/>
          </a:prstGeom>
          <a:noFill/>
          <a:ln/>
        </p:spPr>
        <p:txBody>
          <a:bodyPr wrap="none" lIns="0" tIns="0" rIns="0" bIns="0" rtlCol="0" anchor="t"/>
          <a:lstStyle/>
          <a:p>
            <a:pPr algn="l" indent="0" marL="0">
              <a:lnSpc>
                <a:spcPct val="117000"/>
              </a:lnSpc>
              <a:buNone/>
            </a:pPr>
            <a:r>
              <a:rPr lang="en-US" sz="2200" dirty="0">
                <a:solidFill>
                  <a:srgbClr val="2A1233"/>
                </a:solidFill>
                <a:latin typeface="Noto Sans" pitchFamily="34" charset="0"/>
                <a:ea typeface="Noto Sans" pitchFamily="34" charset="-122"/>
                <a:cs typeface="Noto Sans" pitchFamily="34" charset="-120"/>
              </a:rPr>
              <a:t>Профиль, план, тексты уроков, оценки и контрольные сохраняются локально.</a:t>
            </a:r>
            <a:endParaRPr lang="en-US" sz="2200" dirty="0"/>
          </a:p>
        </p:txBody>
      </p:sp>
      <p:sp>
        <p:nvSpPr>
          <p:cNvPr id="5" name="Text 3"/>
          <p:cNvSpPr/>
          <p:nvPr/>
        </p:nvSpPr>
        <p:spPr>
          <a:xfrm>
            <a:off x="609585" y="3461038"/>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Повторное открытие</a:t>
            </a:r>
            <a:endParaRPr lang="en-US" sz="2600" dirty="0"/>
          </a:p>
        </p:txBody>
      </p:sp>
      <p:sp>
        <p:nvSpPr>
          <p:cNvPr id="6" name="Text 4"/>
          <p:cNvSpPr/>
          <p:nvPr/>
        </p:nvSpPr>
        <p:spPr>
          <a:xfrm>
            <a:off x="609585" y="4018022"/>
            <a:ext cx="525766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Если текст урока уже сохранён, новый запрос не тратится.</a:t>
            </a:r>
            <a:endParaRPr lang="en-US" sz="1800" dirty="0"/>
          </a:p>
        </p:txBody>
      </p:sp>
      <p:sp>
        <p:nvSpPr>
          <p:cNvPr id="7" name="Text 5"/>
          <p:cNvSpPr/>
          <p:nvPr/>
        </p:nvSpPr>
        <p:spPr>
          <a:xfrm>
            <a:off x="6324442" y="3461038"/>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Граница хранения</a:t>
            </a:r>
            <a:endParaRPr lang="en-US" sz="2600" dirty="0"/>
          </a:p>
        </p:txBody>
      </p:sp>
      <p:sp>
        <p:nvSpPr>
          <p:cNvPr id="8" name="Text 6"/>
          <p:cNvSpPr/>
          <p:nvPr/>
        </p:nvSpPr>
        <p:spPr>
          <a:xfrm>
            <a:off x="6324442" y="4018022"/>
            <a:ext cx="5257668" cy="319980"/>
          </a:xfrm>
          <a:prstGeom prst="rect">
            <a:avLst/>
          </a:prstGeom>
          <a:noFill/>
          <a:ln/>
        </p:spPr>
        <p:txBody>
          <a:bodyPr wrap="none" lIns="0" tIns="0" rIns="0" bIns="0" rtlCol="0" anchor="t"/>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Синхронизации между компьютерами нет.</a:t>
            </a:r>
            <a:endParaRPr lang="en-US" sz="1800" dirty="0"/>
          </a:p>
        </p:txBody>
      </p:sp>
      <p:sp>
        <p:nvSpPr>
          <p:cNvPr id="9" name="Text 7"/>
          <p:cNvSpPr/>
          <p:nvPr/>
        </p:nvSpPr>
        <p:spPr>
          <a:xfrm>
            <a:off x="609585" y="6036608"/>
            <a:ext cx="11582110"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Проценты на дашборде показывают долю пройденных уроков этой сессии, не точность модели.</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16874"/>
            <a:ext cx="11582110"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2A1233"/>
                </a:solidFill>
                <a:latin typeface="Noto Sans SemiBold" pitchFamily="34" charset="0"/>
                <a:ea typeface="Noto Sans SemiBold" pitchFamily="34" charset="-122"/>
                <a:cs typeface="Noto Sans SemiBold" pitchFamily="34" charset="-120"/>
              </a:rPr>
              <a:t>ЭКСПЕРИМЕНТ · 13 СЕНТЯБРЯ 2026</a:t>
            </a:r>
            <a:endParaRPr lang="en-US" sz="1200" dirty="0"/>
          </a:p>
        </p:txBody>
      </p:sp>
      <p:sp>
        <p:nvSpPr>
          <p:cNvPr id="3" name="Text 1"/>
          <p:cNvSpPr/>
          <p:nvPr/>
        </p:nvSpPr>
        <p:spPr>
          <a:xfrm>
            <a:off x="609585" y="938886"/>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Выбор модели проверили экспериментом</a:t>
            </a:r>
            <a:endParaRPr lang="en-US" sz="3600" dirty="0"/>
          </a:p>
        </p:txBody>
      </p:sp>
      <p:sp>
        <p:nvSpPr>
          <p:cNvPr id="4" name="Shape 2"/>
          <p:cNvSpPr/>
          <p:nvPr/>
        </p:nvSpPr>
        <p:spPr>
          <a:xfrm>
            <a:off x="609585" y="1650305"/>
            <a:ext cx="2743131" cy="38100"/>
          </a:xfrm>
          <a:prstGeom prst="roundRect">
            <a:avLst>
              <a:gd name="adj" fmla="val 49999"/>
            </a:avLst>
          </a:prstGeom>
          <a:solidFill>
            <a:srgbClr val="2A1233"/>
          </a:solidFill>
          <a:ln/>
        </p:spPr>
      </p:sp>
      <p:sp>
        <p:nvSpPr>
          <p:cNvPr id="5" name="Text 3"/>
          <p:cNvSpPr/>
          <p:nvPr/>
        </p:nvSpPr>
        <p:spPr>
          <a:xfrm>
            <a:off x="609585" y="2975114"/>
            <a:ext cx="10972526" cy="782241"/>
          </a:xfrm>
          <a:prstGeom prst="rect">
            <a:avLst/>
          </a:prstGeom>
          <a:noFill/>
          <a:ln/>
        </p:spPr>
        <p:txBody>
          <a:bodyPr wrap="square" lIns="0" tIns="0" rIns="0" bIns="0" rtlCol="0" anchor="t">
            <a:normAutofit/>
          </a:bodyPr>
          <a:lstStyle/>
          <a:p>
            <a:pPr algn="l" indent="0" marL="0">
              <a:lnSpc>
                <a:spcPct val="117000"/>
              </a:lnSpc>
              <a:buNone/>
            </a:pPr>
            <a:r>
              <a:rPr lang="en-US" sz="2200" dirty="0">
                <a:solidFill>
                  <a:srgbClr val="2A1233"/>
                </a:solidFill>
                <a:latin typeface="Noto Sans" pitchFamily="34" charset="0"/>
                <a:ea typeface="Noto Sans" pitchFamily="34" charset="-122"/>
                <a:cs typeface="Noto Sans" pitchFamily="34" charset="-120"/>
              </a:rPr>
              <a:t>gpt-4o-mini сначала была практическим выбором. Для диплома его проверили, а не подогнали отчёт.</a:t>
            </a:r>
            <a:endParaRPr lang="en-US" sz="2200" dirty="0"/>
          </a:p>
        </p:txBody>
      </p:sp>
      <p:sp>
        <p:nvSpPr>
          <p:cNvPr id="6" name="Text 4"/>
          <p:cNvSpPr/>
          <p:nvPr/>
        </p:nvSpPr>
        <p:spPr>
          <a:xfrm>
            <a:off x="609585" y="3956745"/>
            <a:ext cx="10972526" cy="846336"/>
          </a:xfrm>
          <a:prstGeom prst="rect">
            <a:avLst/>
          </a:prstGeom>
          <a:noFill/>
          <a:ln/>
        </p:spPr>
        <p:txBody>
          <a:bodyPr wrap="square" lIns="0" tIns="0" rIns="0" bIns="0" rtlCol="0" anchor="t"/>
          <a:lstStyle/>
          <a:p>
            <a:pPr algn="l" indent="0" marL="0">
              <a:lnSpc>
                <a:spcPct val="117000"/>
              </a:lnSpc>
              <a:spcAft>
                <a:spcPts val="1600"/>
              </a:spcAft>
              <a:buNone/>
            </a:pPr>
            <a:r>
              <a:rPr lang="en-US" sz="1800" dirty="0">
                <a:solidFill>
                  <a:srgbClr val="2A1233"/>
                </a:solidFill>
                <a:latin typeface="Noto Sans" pitchFamily="34" charset="0"/>
                <a:ea typeface="Noto Sans" pitchFamily="34" charset="-122"/>
                <a:cs typeface="Noto Sans" pitchFamily="34" charset="-120"/>
              </a:rPr>
              <a:t>Свою сеть не обучали: сравнивали готовые модели на одном запросе «напиши урок».</a:t>
            </a:r>
            <a:endParaRPr lang="en-US" sz="1800" dirty="0"/>
          </a:p>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Это не журнал перебора формулировок промпта.</a:t>
            </a:r>
            <a:endParaRPr lang="en-US" sz="1800" dirty="0"/>
          </a:p>
        </p:txBody>
      </p:sp>
      <p:sp>
        <p:nvSpPr>
          <p:cNvPr id="7" name="Text 5"/>
          <p:cNvSpPr/>
          <p:nvPr/>
        </p:nvSpPr>
        <p:spPr>
          <a:xfrm>
            <a:off x="609585" y="6036608"/>
            <a:ext cx="11582110"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Этап 5 с этим экспериментом принят.</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Как устроен эксперимент</a:t>
            </a:r>
            <a:endParaRPr lang="en-US" sz="3600" dirty="0"/>
          </a:p>
        </p:txBody>
      </p:sp>
      <p:pic>
        <p:nvPicPr>
          <p:cNvPr id="3" name="Image 0" descr="preencoded.png">    </p:cNvPr>
          <p:cNvPicPr>
            <a:picLocks noChangeAspect="1"/>
          </p:cNvPicPr>
          <p:nvPr/>
        </p:nvPicPr>
        <p:blipFill>
          <a:blip r:embed="rId1"/>
          <a:stretch>
            <a:fillRect/>
          </a:stretch>
        </p:blipFill>
        <p:spPr>
          <a:xfrm>
            <a:off x="558786" y="1064220"/>
            <a:ext cx="5226614" cy="2984401"/>
          </a:xfrm>
          <a:prstGeom prst="rect">
            <a:avLst/>
          </a:prstGeom>
        </p:spPr>
      </p:pic>
      <p:sp>
        <p:nvSpPr>
          <p:cNvPr id="4" name="Text 1"/>
          <p:cNvSpPr/>
          <p:nvPr/>
        </p:nvSpPr>
        <p:spPr>
          <a:xfrm>
            <a:off x="558786" y="4277221"/>
            <a:ext cx="11074123" cy="1447800"/>
          </a:xfrm>
          <a:prstGeom prst="rect">
            <a:avLst/>
          </a:prstGeom>
          <a:noFill/>
          <a:ln/>
        </p:spPr>
        <p:txBody>
          <a:bodyPr wrap="square" lIns="0" tIns="0" rIns="0" bIns="0" rtlCol="0" anchor="t">
            <a:normAutofit/>
          </a:bodyPr>
          <a:lstStyle/>
          <a:p>
            <a:pPr algn="l" indent="0" marL="0">
              <a:lnSpc>
                <a:spcPct val="117000"/>
              </a:lnSpc>
              <a:spcAft>
                <a:spcPts val="850"/>
              </a:spcAft>
              <a:buNone/>
            </a:pPr>
            <a:r>
              <a:rPr lang="en-US" sz="1500" dirty="0">
                <a:solidFill>
                  <a:srgbClr val="2A1233"/>
                </a:solidFill>
                <a:latin typeface="Noto Sans" pitchFamily="34" charset="0"/>
                <a:ea typeface="Noto Sans" pitchFamily="34" charset="-122"/>
                <a:cs typeface="Noto Sans" pitchFamily="34" charset="-120"/>
              </a:rPr>
              <a:t>Пять тем курса «Основы Python», пять моделей, одна инструкция. Проверку формы ответа (объём, заголовки, блок кода Python) прошли 25 из 25 уроков. Три старшие модели разных семейств оценивали тексты, не видя имён участников.</a:t>
            </a:r>
            <a:endParaRPr lang="en-US" sz="1500" dirty="0"/>
          </a:p>
          <a:p>
            <a:pPr algn="l" indent="0" marL="0">
              <a:lnSpc>
                <a:spcPct val="117000"/>
              </a:lnSpc>
              <a:buNone/>
            </a:pPr>
            <a:r>
              <a:rPr lang="en-US" sz="1500" dirty="0">
                <a:solidFill>
                  <a:srgbClr val="2A1233"/>
                </a:solidFill>
                <a:latin typeface="Noto Sans" pitchFamily="34" charset="0"/>
                <a:ea typeface="Noto Sans" pitchFamily="34" charset="-122"/>
                <a:cs typeface="Noto Sans" pitchFamily="34" charset="-120"/>
              </a:rPr>
              <a:t>Балл складывается из пяти критериев: тема, полнота, плотность, понятность, соответствие заданию. Каждый даёт от 0 до 2, итог — от 0 до 10.</a:t>
            </a:r>
            <a:endParaRPr lang="en-US" sz="1500" dirty="0"/>
          </a:p>
        </p:txBody>
      </p:sp>
      <p:sp>
        <p:nvSpPr>
          <p:cNvPr id="5" name="Text 2"/>
          <p:cNvSpPr/>
          <p:nvPr/>
        </p:nvSpPr>
        <p:spPr>
          <a:xfrm>
            <a:off x="558786" y="5850275"/>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Судьям текст обрезали примерно до 3500 символов; цену и скорость считали по полному тексту. Оценены уроки, не весь конвейер.</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Результаты сравнения моделей</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09585" y="2042220"/>
          <a:ext cx="10972526" cy="914400"/>
        </p:xfrm>
        <a:graphic>
          <a:graphicData uri="http://schemas.openxmlformats.org/drawingml/2006/table">
            <a:tbl>
              <a:tblPr/>
              <a:tblGrid>
                <a:gridCol w="3291698"/>
                <a:gridCol w="1755533"/>
                <a:gridCol w="2084732"/>
                <a:gridCol w="1974999"/>
                <a:gridCol w="1865564"/>
              </a:tblGrid>
              <a:tr h="454609">
                <a:tc>
                  <a:txBody>
                    <a:bodyPr/>
                    <a:lstStyle/>
                    <a:p>
                      <a:pPr algn="l" indent="0" marL="0">
                        <a:buNone/>
                      </a:pPr>
                      <a:r>
                        <a:rPr lang="en-US" sz="1200" spc="72" kern="100" dirty="0">
                          <a:solidFill>
                            <a:srgbClr val="FFFFFF"/>
                          </a:solidFill>
                          <a:latin typeface="Noto Sans" pitchFamily="34" charset="0"/>
                          <a:ea typeface="Noto Sans" pitchFamily="34" charset="-122"/>
                          <a:cs typeface="Noto Sans" pitchFamily="34" charset="-120"/>
                        </a:rPr>
                        <a:t>МОДЕЛЬ</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БАЛЛ 0–10</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РУБЛИ ЗА УРОК</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БАЛЛ НА РУБЛЬ</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c>
                  <a:txBody>
                    <a:bodyPr/>
                    <a:lstStyle/>
                    <a:p>
                      <a:pPr algn="r" indent="0" marL="0">
                        <a:buNone/>
                      </a:pPr>
                      <a:r>
                        <a:rPr lang="en-US" sz="1200" spc="72" kern="100" dirty="0">
                          <a:solidFill>
                            <a:srgbClr val="FFFFFF"/>
                          </a:solidFill>
                          <a:latin typeface="Noto Sans" pitchFamily="34" charset="0"/>
                          <a:ea typeface="Noto Sans" pitchFamily="34" charset="-122"/>
                          <a:cs typeface="Noto Sans" pitchFamily="34" charset="-120"/>
                        </a:rPr>
                        <a:t>СЕКУНДЫ</a:t>
                      </a:r>
                      <a:endParaRPr lang="en-US" sz="1200" dirty="0">
                        <a:latin typeface="Noto Sans" charset="0"/>
                        <a:ea typeface="Noto Sans" charset="0"/>
                        <a:cs typeface="Noto Sans" charset="0"/>
                      </a:endParaRPr>
                    </a:p>
                  </a:txBody>
                  <a:tcPr marL="152396" marR="152396" marT="114297" marB="114297" anchor="ctr">
                    <a:lnL w="12700" cap="flat" cmpd="sng" algn="ctr">
                      <a:solidFill>
                        <a:srgbClr val="2A1233"/>
                      </a:solidFill>
                      <a:prstDash val="solid"/>
                      <a:round/>
                      <a:headEnd type="none" w="med" len="med"/>
                      <a:tailEnd type="none" w="med" len="med"/>
                    </a:lnL>
                    <a:lnR w="12700" cap="flat" cmpd="sng" algn="ctr">
                      <a:solidFill>
                        <a:srgbClr val="2A1233"/>
                      </a:solidFill>
                      <a:prstDash val="solid"/>
                      <a:round/>
                      <a:headEnd type="none" w="med" len="med"/>
                      <a:tailEnd type="none" w="med" len="med"/>
                    </a:lnR>
                    <a:lnT w="12700" cap="flat" cmpd="sng" algn="ctr">
                      <a:solidFill>
                        <a:srgbClr val="2A1233"/>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2A1233"/>
                    </a:solidFill>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gpt-5.6-luna</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8.40</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0.88</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9.57</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около 84</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gemini-3.5-flash</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8.33</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6.53</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1.28</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около 21</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gpt-5.6-terra</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8.27</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8.78</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0.94</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около 82</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gpt-4o-mini</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1EBF1"/>
                      </a:solidFill>
                      <a:prstDash val="solid"/>
                      <a:round/>
                      <a:headEnd type="none" w="med" len="med"/>
                      <a:tailEnd type="none" w="med" len="med"/>
                    </a:lnL>
                    <a:lnR w="12700" cap="flat" cmpd="sng" algn="ctr">
                      <a:solidFill>
                        <a:srgbClr val="F1EBF1"/>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F1EBF1"/>
                    </a:solidFill>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7.73</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1EBF1"/>
                      </a:solidFill>
                      <a:prstDash val="solid"/>
                      <a:round/>
                      <a:headEnd type="none" w="med" len="med"/>
                      <a:tailEnd type="none" w="med" len="med"/>
                    </a:lnL>
                    <a:lnR w="12700" cap="flat" cmpd="sng" algn="ctr">
                      <a:solidFill>
                        <a:srgbClr val="F1EBF1"/>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F1EBF1"/>
                    </a:solidFill>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0.53</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1EBF1"/>
                      </a:solidFill>
                      <a:prstDash val="solid"/>
                      <a:round/>
                      <a:headEnd type="none" w="med" len="med"/>
                      <a:tailEnd type="none" w="med" len="med"/>
                    </a:lnL>
                    <a:lnR w="12700" cap="flat" cmpd="sng" algn="ctr">
                      <a:solidFill>
                        <a:srgbClr val="F1EBF1"/>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F1EBF1"/>
                    </a:solidFill>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14.72</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1EBF1"/>
                      </a:solidFill>
                      <a:prstDash val="solid"/>
                      <a:round/>
                      <a:headEnd type="none" w="med" len="med"/>
                      <a:tailEnd type="none" w="med" len="med"/>
                    </a:lnL>
                    <a:lnR w="12700" cap="flat" cmpd="sng" algn="ctr">
                      <a:solidFill>
                        <a:srgbClr val="F1EBF1"/>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F1EBF1"/>
                    </a:solidFill>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около 12</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1EBF1"/>
                      </a:solidFill>
                      <a:prstDash val="solid"/>
                      <a:round/>
                      <a:headEnd type="none" w="med" len="med"/>
                      <a:tailEnd type="none" w="med" len="med"/>
                    </a:lnL>
                    <a:lnR w="12700" cap="flat" cmpd="sng" algn="ctr">
                      <a:solidFill>
                        <a:srgbClr val="F1EBF1"/>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C3BAC0"/>
                      </a:solidFill>
                      <a:prstDash val="solid"/>
                      <a:round/>
                      <a:headEnd type="none" w="med" len="med"/>
                      <a:tailEnd type="none" w="med" len="med"/>
                    </a:lnB>
                    <a:solidFill>
                      <a:srgbClr val="F1EBF1"/>
                    </a:solidFill>
                  </a:tcPr>
                </a:tc>
              </a:tr>
              <a:tr h="507987">
                <a:tc>
                  <a:txBody>
                    <a:bodyPr/>
                    <a:lstStyle/>
                    <a:p>
                      <a:pPr algn="l" indent="0" marL="0">
                        <a:buNone/>
                      </a:pPr>
                      <a:r>
                        <a:rPr lang="en-US" sz="1500" dirty="0">
                          <a:solidFill>
                            <a:srgbClr val="2A1233"/>
                          </a:solidFill>
                          <a:latin typeface="Noto Sans" pitchFamily="34" charset="0"/>
                          <a:ea typeface="Noto Sans" pitchFamily="34" charset="-122"/>
                          <a:cs typeface="Noto Sans" pitchFamily="34" charset="-120"/>
                        </a:rPr>
                        <a:t>claude-5-sonnet</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7.67</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7.57</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1.01</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c>
                  <a:txBody>
                    <a:bodyPr/>
                    <a:lstStyle/>
                    <a:p>
                      <a:pPr algn="r" indent="0" marL="0">
                        <a:buNone/>
                      </a:pPr>
                      <a:r>
                        <a:rPr lang="en-US" sz="1500" dirty="0">
                          <a:solidFill>
                            <a:srgbClr val="2A1233"/>
                          </a:solidFill>
                          <a:latin typeface="Noto Sans" pitchFamily="34" charset="0"/>
                          <a:ea typeface="Noto Sans" pitchFamily="34" charset="-122"/>
                          <a:cs typeface="Noto Sans" pitchFamily="34" charset="-120"/>
                        </a:rPr>
                        <a:t>около 37</a:t>
                      </a:r>
                      <a:endParaRPr lang="en-US" sz="1500" dirty="0">
                        <a:latin typeface="Noto Sans" charset="0"/>
                        <a:ea typeface="Noto Sans" charset="0"/>
                        <a:cs typeface="Noto Sans" charset="0"/>
                      </a:endParaRPr>
                    </a:p>
                  </a:txBody>
                  <a:tcPr marL="152396" marR="152396" marT="114297" marB="114297" anchor="ctr">
                    <a:lnL w="12700" cap="flat" cmpd="sng" algn="ctr">
                      <a:solidFill>
                        <a:srgbClr val="FFFBF7"/>
                      </a:solidFill>
                      <a:prstDash val="solid"/>
                      <a:round/>
                      <a:headEnd type="none" w="med" len="med"/>
                      <a:tailEnd type="none" w="med" len="med"/>
                    </a:lnL>
                    <a:lnR w="12700" cap="flat" cmpd="sng" algn="ctr">
                      <a:solidFill>
                        <a:srgbClr val="FFFBF7"/>
                      </a:solidFill>
                      <a:prstDash val="solid"/>
                      <a:round/>
                      <a:headEnd type="none" w="med" len="med"/>
                      <a:tailEnd type="none" w="med" len="med"/>
                    </a:lnR>
                    <a:lnT w="12700" cap="flat" cmpd="sng" algn="ctr">
                      <a:solidFill>
                        <a:srgbClr val="C3BAC0"/>
                      </a:solidFill>
                      <a:prstDash val="solid"/>
                      <a:round/>
                      <a:headEnd type="none" w="med" len="med"/>
                      <a:tailEnd type="none" w="med" len="med"/>
                    </a:lnT>
                    <a:lnB w="12700" cap="flat" cmpd="sng" algn="ctr">
                      <a:solidFill>
                        <a:srgbClr val="FFFBF7"/>
                      </a:solidFill>
                      <a:prstDash val="solid"/>
                      <a:round/>
                      <a:headEnd type="none" w="med" len="med"/>
                      <a:tailEnd type="none" w="med" len="med"/>
                    </a:lnB>
                  </a:tcPr>
                </a:tc>
              </a:tr>
            </a:tbl>
          </a:graphicData>
        </a:graphic>
      </p:graphicFrame>
      <p:sp>
        <p:nvSpPr>
          <p:cNvPr id="5" name="Text 2"/>
          <p:cNvSpPr/>
          <p:nvPr/>
        </p:nvSpPr>
        <p:spPr>
          <a:xfrm>
            <a:off x="609585" y="5618917"/>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Весь прогон стоил около 322 ₽. В одном пробном уроке лидировал Claude, поэтому решение принято по пяти темам.</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Остаётся gpt-4o-mini</a:t>
            </a:r>
            <a:endParaRPr lang="en-US" sz="3600" dirty="0"/>
          </a:p>
        </p:txBody>
      </p:sp>
      <p:sp>
        <p:nvSpPr>
          <p:cNvPr id="3" name="Text 1"/>
          <p:cNvSpPr/>
          <p:nvPr/>
        </p:nvSpPr>
        <p:spPr>
          <a:xfrm>
            <a:off x="609585" y="1328698"/>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Приоритеты зафиксированы до чтения таблицы: балл на рубль, приемлемое качество, низкая цена и скорость, прохождение проверки формы.</a:t>
            </a:r>
            <a:endParaRPr lang="en-US" sz="1800" dirty="0"/>
          </a:p>
        </p:txBody>
      </p:sp>
      <p:sp>
        <p:nvSpPr>
          <p:cNvPr id="4" name="Shape 2"/>
          <p:cNvSpPr/>
          <p:nvPr/>
        </p:nvSpPr>
        <p:spPr>
          <a:xfrm>
            <a:off x="609585" y="2164556"/>
            <a:ext cx="5333867" cy="3344069"/>
          </a:xfrm>
          <a:prstGeom prst="rect">
            <a:avLst/>
          </a:prstGeom>
          <a:solidFill>
            <a:srgbClr val="2A1233"/>
          </a:solidFill>
          <a:ln/>
        </p:spPr>
      </p:sp>
      <p:sp>
        <p:nvSpPr>
          <p:cNvPr id="5" name="Text 3"/>
          <p:cNvSpPr/>
          <p:nvPr/>
        </p:nvSpPr>
        <p:spPr>
          <a:xfrm>
            <a:off x="838179" y="2407930"/>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FFFFFF"/>
                </a:solidFill>
                <a:latin typeface="Noto Sans SemiBold" pitchFamily="34" charset="0"/>
                <a:ea typeface="Noto Sans SemiBold" pitchFamily="34" charset="-122"/>
                <a:cs typeface="Noto Sans SemiBold" pitchFamily="34" charset="-120"/>
              </a:rPr>
              <a:t>gpt-4o-mini</a:t>
            </a:r>
            <a:endParaRPr lang="en-US" sz="2600" dirty="0"/>
          </a:p>
        </p:txBody>
      </p:sp>
      <p:sp>
        <p:nvSpPr>
          <p:cNvPr id="6" name="Text 4"/>
          <p:cNvSpPr/>
          <p:nvPr/>
        </p:nvSpPr>
        <p:spPr>
          <a:xfrm>
            <a:off x="838179" y="2964914"/>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Noto Sans" pitchFamily="34" charset="0"/>
                <a:ea typeface="Noto Sans" pitchFamily="34" charset="-122"/>
                <a:cs typeface="Noto Sans" pitchFamily="34" charset="-120"/>
              </a:rPr>
              <a:t>Лучший балл на рубль и самый быстрый ответ при балле около 7.7 из 10.</a:t>
            </a:r>
            <a:endParaRPr lang="en-US" sz="1800" dirty="0"/>
          </a:p>
        </p:txBody>
      </p:sp>
      <p:sp>
        <p:nvSpPr>
          <p:cNvPr id="7" name="Shape 5"/>
          <p:cNvSpPr/>
          <p:nvPr/>
        </p:nvSpPr>
        <p:spPr>
          <a:xfrm>
            <a:off x="6248244" y="2164556"/>
            <a:ext cx="5333867" cy="3344069"/>
          </a:xfrm>
          <a:prstGeom prst="rect">
            <a:avLst/>
          </a:prstGeom>
          <a:solidFill>
            <a:srgbClr val="F1EBF1"/>
          </a:solidFill>
          <a:ln/>
        </p:spPr>
      </p:sp>
      <p:sp>
        <p:nvSpPr>
          <p:cNvPr id="8" name="Text 6"/>
          <p:cNvSpPr/>
          <p:nvPr/>
        </p:nvSpPr>
        <p:spPr>
          <a:xfrm>
            <a:off x="6476838" y="2407930"/>
            <a:ext cx="487667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gpt-5.6-luna</a:t>
            </a:r>
            <a:endParaRPr lang="en-US" sz="2600" dirty="0"/>
          </a:p>
        </p:txBody>
      </p:sp>
      <p:sp>
        <p:nvSpPr>
          <p:cNvPr id="9" name="Text 7"/>
          <p:cNvSpPr/>
          <p:nvPr/>
        </p:nvSpPr>
        <p:spPr>
          <a:xfrm>
            <a:off x="6476838" y="2964914"/>
            <a:ext cx="48766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По баллу выше. Более качественный вариант, если есть больший бюджет.</a:t>
            </a:r>
            <a:endParaRPr lang="en-US" sz="1800" dirty="0"/>
          </a:p>
        </p:txBody>
      </p:sp>
      <p:sp>
        <p:nvSpPr>
          <p:cNvPr id="10" name="Text 8"/>
          <p:cNvSpPr/>
          <p:nvPr/>
        </p:nvSpPr>
        <p:spPr>
          <a:xfrm>
            <a:off x="609585" y="5719762"/>
            <a:ext cx="10972526"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2A1233"/>
                </a:solidFill>
                <a:latin typeface="Noto Sans" pitchFamily="34" charset="0"/>
                <a:ea typeface="Noto Sans" pitchFamily="34" charset="-122"/>
                <a:cs typeface="Noto Sans" pitchFamily="34" charset="-120"/>
              </a:rPr>
              <a:t>Это не «лучшая модель вообще». Terra, Claude Sonnet 5 и Gemini Flash для массовых уроков не берём: заметно дороже при близком качестве.</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Ограничения работы</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1691769"/>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Что оценено</a:t>
            </a:r>
            <a:endParaRPr lang="en-US" sz="2600" dirty="0"/>
          </a:p>
        </p:txBody>
      </p:sp>
      <p:sp>
        <p:nvSpPr>
          <p:cNvPr id="5" name="Text 3"/>
          <p:cNvSpPr/>
          <p:nvPr/>
        </p:nvSpPr>
        <p:spPr>
          <a:xfrm>
            <a:off x="609585" y="2238276"/>
            <a:ext cx="5257668" cy="2354163"/>
          </a:xfrm>
          <a:prstGeom prst="rect">
            <a:avLst/>
          </a:prstGeom>
          <a:noFill/>
          <a:ln/>
        </p:spPr>
        <p:txBody>
          <a:bodyPr wrap="square" lIns="0" tIns="0" rIns="0" bIns="0" rtlCol="0" anchor="t">
            <a:normAutofit/>
          </a:bodyPr>
          <a:lstStyle/>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Эксперимент покрывает уроки, не весь конвейер.</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Обрезка текста для судей занижает оценку хвоста длинного урока.</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Модель-судья не заменяет методиста. Прогон можно повторить по сохранённым данным.</a:t>
            </a:r>
            <a:endParaRPr lang="en-US" sz="1800" dirty="0"/>
          </a:p>
        </p:txBody>
      </p:sp>
      <p:sp>
        <p:nvSpPr>
          <p:cNvPr id="6" name="Text 4"/>
          <p:cNvSpPr/>
          <p:nvPr/>
        </p:nvSpPr>
        <p:spPr>
          <a:xfrm>
            <a:off x="6324442" y="1691769"/>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Границы измерений</a:t>
            </a:r>
            <a:endParaRPr lang="en-US" sz="2600" dirty="0"/>
          </a:p>
        </p:txBody>
      </p:sp>
      <p:sp>
        <p:nvSpPr>
          <p:cNvPr id="7" name="Text 5"/>
          <p:cNvSpPr/>
          <p:nvPr/>
        </p:nvSpPr>
        <p:spPr>
          <a:xfrm>
            <a:off x="6324442" y="2238276"/>
            <a:ext cx="5257668" cy="2354163"/>
          </a:xfrm>
          <a:prstGeom prst="rect">
            <a:avLst/>
          </a:prstGeom>
          <a:noFill/>
          <a:ln/>
        </p:spPr>
        <p:txBody>
          <a:bodyPr wrap="square" lIns="0" tIns="0" rIns="0" bIns="0" rtlCol="0" anchor="t">
            <a:normAutofit/>
          </a:bodyPr>
          <a:lstStyle/>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Цены — тарифы шлюза на дату прогона.</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Журнала перебора формулировок промптов нет. Система зависит от внешнего API.</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«Процент правильных ответов модели» не измерялся: измерялись балл судей от 0 до 10, цена и время.</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Выводы</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1691769"/>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Система обучения</a:t>
            </a:r>
            <a:endParaRPr lang="en-US" sz="2600" dirty="0"/>
          </a:p>
        </p:txBody>
      </p:sp>
      <p:sp>
        <p:nvSpPr>
          <p:cNvPr id="5" name="Text 3"/>
          <p:cNvSpPr/>
          <p:nvPr/>
        </p:nvSpPr>
        <p:spPr>
          <a:xfrm>
            <a:off x="609585" y="2238276"/>
            <a:ext cx="5257668" cy="2034183"/>
          </a:xfrm>
          <a:prstGeom prst="rect">
            <a:avLst/>
          </a:prstGeom>
          <a:noFill/>
          <a:ln/>
        </p:spPr>
        <p:txBody>
          <a:bodyPr wrap="square" lIns="0" tIns="0" rIns="0" bIns="0" rtlCol="0" anchor="t">
            <a:normAutofit/>
          </a:bodyPr>
          <a:lstStyle/>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Собрана система в Jupyter: ученик проходит курс без правки кода.</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Запросы к модели разделены по видам материала.</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Есть профиль, сохранённые уроки и локальный прогресс.</a:t>
            </a:r>
            <a:endParaRPr lang="en-US" sz="1800" dirty="0"/>
          </a:p>
        </p:txBody>
      </p:sp>
      <p:sp>
        <p:nvSpPr>
          <p:cNvPr id="6" name="Text 4"/>
          <p:cNvSpPr/>
          <p:nvPr/>
        </p:nvSpPr>
        <p:spPr>
          <a:xfrm>
            <a:off x="6324442" y="1691769"/>
            <a:ext cx="5257668" cy="396180"/>
          </a:xfrm>
          <a:prstGeom prst="rect">
            <a:avLst/>
          </a:prstGeom>
          <a:noFill/>
          <a:ln/>
        </p:spPr>
        <p:txBody>
          <a:bodyPr wrap="none" lIns="0" tIns="0" rIns="0" bIns="0" rtlCol="0" anchor="t"/>
          <a:lstStyle/>
          <a:p>
            <a:pPr algn="l" indent="0" marL="0">
              <a:lnSpc>
                <a:spcPct val="100000"/>
              </a:lnSpc>
              <a:buNone/>
            </a:pPr>
            <a:r>
              <a:rPr lang="en-US" sz="2600" dirty="0">
                <a:solidFill>
                  <a:srgbClr val="2A1233"/>
                </a:solidFill>
                <a:latin typeface="Noto Sans SemiBold" pitchFamily="34" charset="0"/>
                <a:ea typeface="Noto Sans SemiBold" pitchFamily="34" charset="-122"/>
                <a:cs typeface="Noto Sans SemiBold" pitchFamily="34" charset="-120"/>
              </a:rPr>
              <a:t>Проверка и выбор</a:t>
            </a:r>
            <a:endParaRPr lang="en-US" sz="2600" dirty="0"/>
          </a:p>
        </p:txBody>
      </p:sp>
      <p:sp>
        <p:nvSpPr>
          <p:cNvPr id="7" name="Text 5"/>
          <p:cNvSpPr/>
          <p:nvPr/>
        </p:nvSpPr>
        <p:spPr>
          <a:xfrm>
            <a:off x="6324442" y="2238276"/>
            <a:ext cx="5257668" cy="2354163"/>
          </a:xfrm>
          <a:prstGeom prst="rect">
            <a:avLst/>
          </a:prstGeom>
          <a:noFill/>
          <a:ln/>
        </p:spPr>
        <p:txBody>
          <a:bodyPr wrap="square" lIns="0" tIns="0" rIns="0" bIns="0" rtlCol="0" anchor="t">
            <a:normAutofit/>
          </a:bodyPr>
          <a:lstStyle/>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Урок закрывается правилом «тест выше 40% и контрольное принято».</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gpt-4o-mini оставлена по эксперименту; Luna — более качественный вариант при большем бюджете.</a:t>
            </a:r>
            <a:endParaRPr lang="en-US" sz="1800" dirty="0"/>
          </a:p>
          <a:p>
            <a:pPr algn="l" marL="365760" indent="-365760">
              <a:lnSpc>
                <a:spcPct val="117000"/>
              </a:lnSpc>
              <a:buSzPct val="100000"/>
              <a:buChar char="•"/>
            </a:pPr>
            <a:r>
              <a:rPr lang="en-US" sz="1800" dirty="0">
                <a:solidFill>
                  <a:srgbClr val="2A1233"/>
                </a:solidFill>
                <a:latin typeface="Noto Sans" pitchFamily="34" charset="0"/>
                <a:ea typeface="Noto Sans" pitchFamily="34" charset="-122"/>
                <a:cs typeface="Noto Sans" pitchFamily="34" charset="-120"/>
              </a:rPr>
              <a:t>Отказ от своей базы, дообучения и RAG согласован с куратором. Этап 5 принят.</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Словарь</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1687473"/>
            <a:ext cx="10972526" cy="319980"/>
          </a:xfrm>
          <a:prstGeom prst="rect">
            <a:avLst/>
          </a:prstGeom>
          <a:noFill/>
          <a:ln/>
        </p:spPr>
        <p:txBody>
          <a:bodyPr wrap="none" lIns="0" tIns="0" rIns="0" bIns="0" rtlCol="0" anchor="t"/>
          <a:lstStyle/>
          <a:p>
            <a:pPr algn="l" indent="0" marL="0">
              <a:lnSpc>
                <a:spcPct val="117000"/>
              </a:lnSpc>
              <a:buNone/>
            </a:pPr>
            <a:r>
              <a:rPr lang="en-US" sz="1800" b="1" dirty="0">
                <a:solidFill>
                  <a:srgbClr val="2A1233"/>
                </a:solidFill>
                <a:latin typeface="Noto Sans Bold" pitchFamily="34" charset="0"/>
                <a:ea typeface="Noto Sans Bold" pitchFamily="34" charset="-122"/>
                <a:cs typeface="Noto Sans Bold" pitchFamily="34" charset="-120"/>
              </a:rPr>
              <a:t>Inference</a:t>
            </a:r>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 — готовая модель отвечает, веса не обучаются.</a:t>
            </a:r>
            <a:endParaRPr lang="en-US" sz="1800" dirty="0"/>
          </a:p>
        </p:txBody>
      </p:sp>
      <p:sp>
        <p:nvSpPr>
          <p:cNvPr id="5" name="Text 3"/>
          <p:cNvSpPr/>
          <p:nvPr/>
        </p:nvSpPr>
        <p:spPr>
          <a:xfrm>
            <a:off x="609585" y="2693154"/>
            <a:ext cx="10972526" cy="319980"/>
          </a:xfrm>
          <a:prstGeom prst="rect">
            <a:avLst/>
          </a:prstGeom>
          <a:noFill/>
          <a:ln/>
        </p:spPr>
        <p:txBody>
          <a:bodyPr wrap="none" lIns="0" tIns="0" rIns="0" bIns="0" rtlCol="0" anchor="t"/>
          <a:lstStyle/>
          <a:p>
            <a:pPr algn="l" indent="0" marL="0">
              <a:lnSpc>
                <a:spcPct val="117000"/>
              </a:lnSpc>
              <a:buNone/>
            </a:pPr>
            <a:r>
              <a:rPr lang="en-US" sz="1800" b="1" dirty="0">
                <a:solidFill>
                  <a:srgbClr val="2A1233"/>
                </a:solidFill>
                <a:latin typeface="Noto Sans Bold" pitchFamily="34" charset="0"/>
                <a:ea typeface="Noto Sans Bold" pitchFamily="34" charset="-122"/>
                <a:cs typeface="Noto Sans Bold" pitchFamily="34" charset="-120"/>
              </a:rPr>
              <a:t>Fine-tuning</a:t>
            </a:r>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 — дообучение на своих данных, здесь не используется.</a:t>
            </a:r>
            <a:endParaRPr lang="en-US" sz="1800" dirty="0"/>
          </a:p>
        </p:txBody>
      </p:sp>
      <p:sp>
        <p:nvSpPr>
          <p:cNvPr id="6" name="Text 4"/>
          <p:cNvSpPr/>
          <p:nvPr/>
        </p:nvSpPr>
        <p:spPr>
          <a:xfrm>
            <a:off x="609585" y="3698835"/>
            <a:ext cx="10972526" cy="319980"/>
          </a:xfrm>
          <a:prstGeom prst="rect">
            <a:avLst/>
          </a:prstGeom>
          <a:noFill/>
          <a:ln/>
        </p:spPr>
        <p:txBody>
          <a:bodyPr wrap="none" lIns="0" tIns="0" rIns="0" bIns="0" rtlCol="0" anchor="t"/>
          <a:lstStyle/>
          <a:p>
            <a:pPr algn="l" indent="0" marL="0">
              <a:lnSpc>
                <a:spcPct val="117000"/>
              </a:lnSpc>
              <a:buNone/>
            </a:pPr>
            <a:r>
              <a:rPr lang="en-US" sz="1800" b="1" dirty="0">
                <a:solidFill>
                  <a:srgbClr val="2A1233"/>
                </a:solidFill>
                <a:latin typeface="Noto Sans Bold" pitchFamily="34" charset="0"/>
                <a:ea typeface="Noto Sans Bold" pitchFamily="34" charset="-122"/>
                <a:cs typeface="Noto Sans Bold" pitchFamily="34" charset="-120"/>
              </a:rPr>
              <a:t>RAG</a:t>
            </a:r>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 — подмешивание внешней базы знаний, здесь не используется.</a:t>
            </a:r>
            <a:endParaRPr lang="en-US" sz="1800" dirty="0"/>
          </a:p>
        </p:txBody>
      </p:sp>
      <p:sp>
        <p:nvSpPr>
          <p:cNvPr id="7" name="Text 5"/>
          <p:cNvSpPr/>
          <p:nvPr/>
        </p:nvSpPr>
        <p:spPr>
          <a:xfrm>
            <a:off x="609585" y="4704517"/>
            <a:ext cx="10972526" cy="319980"/>
          </a:xfrm>
          <a:prstGeom prst="rect">
            <a:avLst/>
          </a:prstGeom>
          <a:noFill/>
          <a:ln/>
        </p:spPr>
        <p:txBody>
          <a:bodyPr wrap="none" lIns="0" tIns="0" rIns="0" bIns="0" rtlCol="0" anchor="t"/>
          <a:lstStyle/>
          <a:p>
            <a:pPr algn="l" indent="0" marL="0">
              <a:lnSpc>
                <a:spcPct val="117000"/>
              </a:lnSpc>
              <a:buNone/>
            </a:pPr>
            <a:r>
              <a:rPr lang="en-US" sz="1800" b="1" dirty="0">
                <a:solidFill>
                  <a:srgbClr val="2A1233"/>
                </a:solidFill>
                <a:latin typeface="Noto Sans Bold" pitchFamily="34" charset="0"/>
                <a:ea typeface="Noto Sans Bold" pitchFamily="34" charset="-122"/>
                <a:cs typeface="Noto Sans Bold" pitchFamily="34" charset="-120"/>
              </a:rPr>
              <a:t>Фасад</a:t>
            </a:r>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 — одна точка входа к разным генераторам.</a:t>
            </a:r>
            <a:endParaRPr lang="en-US" sz="1800" dirty="0"/>
          </a:p>
        </p:txBody>
      </p:sp>
      <p:sp>
        <p:nvSpPr>
          <p:cNvPr id="8" name="Text 6"/>
          <p:cNvSpPr/>
          <p:nvPr/>
        </p:nvSpPr>
        <p:spPr>
          <a:xfrm>
            <a:off x="609585" y="5710297"/>
            <a:ext cx="10972526" cy="319980"/>
          </a:xfrm>
          <a:prstGeom prst="rect">
            <a:avLst/>
          </a:prstGeom>
          <a:noFill/>
          <a:ln/>
        </p:spPr>
        <p:txBody>
          <a:bodyPr wrap="none" lIns="0" tIns="0" rIns="0" bIns="0" rtlCol="0" anchor="t"/>
          <a:lstStyle/>
          <a:p>
            <a:pPr algn="l" indent="0" marL="0">
              <a:lnSpc>
                <a:spcPct val="117000"/>
              </a:lnSpc>
              <a:buNone/>
            </a:pPr>
            <a:r>
              <a:rPr lang="en-US" sz="1800" b="1" dirty="0">
                <a:solidFill>
                  <a:srgbClr val="2A1233"/>
                </a:solidFill>
                <a:latin typeface="Noto Sans Bold" pitchFamily="34" charset="0"/>
                <a:ea typeface="Noto Sans Bold" pitchFamily="34" charset="-122"/>
                <a:cs typeface="Noto Sans Bold" pitchFamily="34" charset="-120"/>
              </a:rPr>
              <a:t>Балл на рубль</a:t>
            </a:r>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 — средний балл судей, делённый на цену одного урока.</a:t>
            </a:r>
            <a:endParaRPr lang="en-US" sz="1800" dirty="0"/>
          </a:p>
        </p:txBody>
      </p:sp>
      <p:sp>
        <p:nvSpPr>
          <p:cNvPr id="9" name="Shape 7"/>
          <p:cNvSpPr/>
          <p:nvPr/>
        </p:nvSpPr>
        <p:spPr>
          <a:xfrm>
            <a:off x="609585" y="2447727"/>
            <a:ext cx="10972526" cy="12700"/>
          </a:xfrm>
          <a:prstGeom prst="rect">
            <a:avLst/>
          </a:prstGeom>
          <a:solidFill>
            <a:srgbClr val="C3BAC0"/>
          </a:solidFill>
          <a:ln/>
        </p:spPr>
      </p:sp>
      <p:sp>
        <p:nvSpPr>
          <p:cNvPr id="10" name="Shape 8"/>
          <p:cNvSpPr/>
          <p:nvPr/>
        </p:nvSpPr>
        <p:spPr>
          <a:xfrm>
            <a:off x="609585" y="3453408"/>
            <a:ext cx="10972526" cy="12700"/>
          </a:xfrm>
          <a:prstGeom prst="rect">
            <a:avLst/>
          </a:prstGeom>
          <a:solidFill>
            <a:srgbClr val="C3BAC0"/>
          </a:solidFill>
          <a:ln/>
        </p:spPr>
      </p:sp>
      <p:sp>
        <p:nvSpPr>
          <p:cNvPr id="11" name="Shape 9"/>
          <p:cNvSpPr/>
          <p:nvPr/>
        </p:nvSpPr>
        <p:spPr>
          <a:xfrm>
            <a:off x="609585" y="4459089"/>
            <a:ext cx="10972526" cy="12700"/>
          </a:xfrm>
          <a:prstGeom prst="rect">
            <a:avLst/>
          </a:prstGeom>
          <a:solidFill>
            <a:srgbClr val="C3BAC0"/>
          </a:solidFill>
          <a:ln/>
        </p:spPr>
      </p:sp>
      <p:sp>
        <p:nvSpPr>
          <p:cNvPr id="12" name="Shape 10"/>
          <p:cNvSpPr/>
          <p:nvPr/>
        </p:nvSpPr>
        <p:spPr>
          <a:xfrm>
            <a:off x="609585" y="5464870"/>
            <a:ext cx="10972526" cy="12700"/>
          </a:xfrm>
          <a:prstGeom prst="rect">
            <a:avLst/>
          </a:prstGeom>
          <a:solidFill>
            <a:srgbClr val="C3BAC0"/>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A1233"/>
        </a:solidFill>
      </p:bgPr>
    </p:bg>
    <p:spTree>
      <p:nvGrpSpPr>
        <p:cNvPr id="1" name=""/>
        <p:cNvGrpSpPr/>
        <p:nvPr/>
      </p:nvGrpSpPr>
      <p:grpSpPr>
        <a:xfrm>
          <a:off x="0" y="0"/>
          <a:ext cx="0" cy="0"/>
          <a:chOff x="0" y="0"/>
          <a:chExt cx="0" cy="0"/>
        </a:xfrm>
      </p:grpSpPr>
      <p:sp>
        <p:nvSpPr>
          <p:cNvPr id="2" name="Text 0"/>
          <p:cNvSpPr/>
          <p:nvPr/>
        </p:nvSpPr>
        <p:spPr>
          <a:xfrm>
            <a:off x="609585" y="2666115"/>
            <a:ext cx="10972526" cy="1792089"/>
          </a:xfrm>
          <a:prstGeom prst="rect">
            <a:avLst/>
          </a:prstGeom>
          <a:noFill/>
          <a:ln/>
        </p:spPr>
        <p:txBody>
          <a:bodyPr wrap="square" lIns="0" tIns="0" rIns="0" bIns="0" rtlCol="0" anchor="t">
            <a:normAutofit/>
          </a:bodyPr>
          <a:lstStyle/>
          <a:p>
            <a:pPr algn="l" indent="0" marL="0">
              <a:lnSpc>
                <a:spcPct val="82000"/>
              </a:lnSpc>
              <a:buNone/>
            </a:pPr>
            <a:r>
              <a:rPr lang="en-US" sz="7200" spc="-144" kern="100" dirty="0">
                <a:solidFill>
                  <a:srgbClr val="FFFFFF"/>
                </a:solidFill>
                <a:latin typeface="Noto Sans Black" pitchFamily="34" charset="0"/>
                <a:ea typeface="Noto Sans Black" pitchFamily="34" charset="-122"/>
                <a:cs typeface="Noto Sans Black" pitchFamily="34" charset="-120"/>
              </a:rPr>
              <a:t>Экраны</a:t>
            </a:r>
            <a:endParaRPr lang="en-US" sz="7200" dirty="0"/>
          </a:p>
          <a:p>
            <a:pPr algn="l" indent="0" marL="0">
              <a:lnSpc>
                <a:spcPct val="82000"/>
              </a:lnSpc>
              <a:buNone/>
            </a:pPr>
            <a:r>
              <a:rPr lang="en-US" sz="7200" spc="-144" kern="100" dirty="0">
                <a:solidFill>
                  <a:srgbClr val="FFFFFF"/>
                </a:solidFill>
                <a:latin typeface="Noto Sans Black" pitchFamily="34" charset="0"/>
                <a:ea typeface="Noto Sans Black" pitchFamily="34" charset="-122"/>
                <a:cs typeface="Noto Sans Black" pitchFamily="34" charset="-120"/>
              </a:rPr>
              <a:t>системы</a:t>
            </a:r>
            <a:endParaRPr lang="en-US" sz="7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профиль</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8772306" cy="2914650"/>
          </a:xfrm>
          <a:prstGeom prst="rect">
            <a:avLst/>
          </a:prstGeom>
        </p:spPr>
      </p:pic>
      <p:sp>
        <p:nvSpPr>
          <p:cNvPr id="4" name="Text 1"/>
          <p:cNvSpPr/>
          <p:nvPr/>
        </p:nvSpPr>
        <p:spPr>
          <a:xfrm>
            <a:off x="558786" y="4170799"/>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Первый вход. Ученик задаёт имя, общее время курса, длину занятия и стиль. На экране 31 час и 30 минут — выбор данной сессии.</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выбор курса</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8791355" cy="3590925"/>
          </a:xfrm>
          <a:prstGeom prst="rect">
            <a:avLst/>
          </a:prstGeom>
        </p:spPr>
      </p:pic>
      <p:sp>
        <p:nvSpPr>
          <p:cNvPr id="4" name="Text 1"/>
          <p:cNvSpPr/>
          <p:nvPr/>
        </p:nvSpPr>
        <p:spPr>
          <a:xfrm>
            <a:off x="558786" y="4770874"/>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Курс выбирается из каталога. Текст описания на карточке взят из каталога, его написала не модель.</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старт курса</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8772306" cy="2962275"/>
          </a:xfrm>
          <a:prstGeom prst="rect">
            <a:avLst/>
          </a:prstGeom>
        </p:spPr>
      </p:pic>
      <p:sp>
        <p:nvSpPr>
          <p:cNvPr id="4" name="Text 1"/>
          <p:cNvSpPr/>
          <p:nvPr/>
        </p:nvSpPr>
        <p:spPr>
          <a:xfrm>
            <a:off x="685783" y="4221599"/>
            <a:ext cx="10947126"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Сводка настроек и кнопка «Начать курс». Стиль Brief на экране — это «краткий».</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повторный вход</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9892755" cy="4508401"/>
          </a:xfrm>
          <a:prstGeom prst="rect">
            <a:avLst/>
          </a:prstGeom>
        </p:spPr>
      </p:pic>
      <p:sp>
        <p:nvSpPr>
          <p:cNvPr id="4" name="Text 1"/>
          <p:cNvSpPr/>
          <p:nvPr/>
        </p:nvSpPr>
        <p:spPr>
          <a:xfrm>
            <a:off x="558786" y="5688350"/>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Видны курс, полоса прогресса и текущий урок. 62,5% на экране — доля пройденных уроков этой сессии (5 из 8), не точность модели.</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урок</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6209351" cy="4508401"/>
          </a:xfrm>
          <a:prstGeom prst="rect">
            <a:avLst/>
          </a:prstGeom>
        </p:spPr>
      </p:pic>
      <p:sp>
        <p:nvSpPr>
          <p:cNvPr id="4" name="Text 1"/>
          <p:cNvSpPr/>
          <p:nvPr/>
        </p:nvSpPr>
        <p:spPr>
          <a:xfrm>
            <a:off x="558786" y="5653425"/>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Текст сгенерирован под имя и стиль. На экране уже оформленный текст, не сырой ответ модели.</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примеры</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6219669" cy="4508401"/>
          </a:xfrm>
          <a:prstGeom prst="rect">
            <a:avLst/>
          </a:prstGeom>
        </p:spPr>
      </p:pic>
      <p:sp>
        <p:nvSpPr>
          <p:cNvPr id="4" name="Text 1"/>
          <p:cNvSpPr/>
          <p:nvPr/>
        </p:nvSpPr>
        <p:spPr>
          <a:xfrm>
            <a:off x="558786" y="5815350"/>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Отдельное действие на уроке, код на Python. Это не ответ на вопрос ученика.</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вопрос по теме</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6275131" cy="4508401"/>
          </a:xfrm>
          <a:prstGeom prst="rect">
            <a:avLst/>
          </a:prstGeom>
        </p:spPr>
      </p:pic>
      <p:sp>
        <p:nvSpPr>
          <p:cNvPr id="4" name="Text 1"/>
          <p:cNvSpPr/>
          <p:nvPr/>
        </p:nvSpPr>
        <p:spPr>
          <a:xfrm>
            <a:off x="558786" y="5739150"/>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Вопрос совпал с уроком, поэтому выполнен второй запрос и показан ответ.</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вопрос не по теме</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6778952" cy="4508401"/>
          </a:xfrm>
          <a:prstGeom prst="rect">
            <a:avLst/>
          </a:prstGeom>
        </p:spPr>
      </p:pic>
      <p:sp>
        <p:nvSpPr>
          <p:cNvPr id="4" name="Text 1"/>
          <p:cNvSpPr/>
          <p:nvPr/>
        </p:nvSpPr>
        <p:spPr>
          <a:xfrm>
            <a:off x="558786" y="5815350"/>
            <a:ext cx="11632909" cy="222845"/>
          </a:xfrm>
          <a:prstGeom prst="rect">
            <a:avLst/>
          </a:prstGeom>
          <a:noFill/>
          <a:ln/>
        </p:spPr>
        <p:txBody>
          <a:bodyPr wrap="none" lIns="0" tIns="0" rIns="0" bIns="0" rtlCol="0" anchor="t"/>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Вопрос остановлен предупреждением. Ответ по существу не запрашивался.</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результат теста</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5969644" cy="4317901"/>
          </a:xfrm>
          <a:prstGeom prst="rect">
            <a:avLst/>
          </a:prstGeom>
        </p:spPr>
      </p:pic>
      <p:sp>
        <p:nvSpPr>
          <p:cNvPr id="4" name="Text 1"/>
          <p:cNvSpPr/>
          <p:nvPr/>
        </p:nvSpPr>
        <p:spPr>
          <a:xfrm>
            <a:off x="558786" y="5523250"/>
            <a:ext cx="11074123" cy="445691"/>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80% — балл этой попытки. Порог зачёта теста — больше 40%, и попытка его преодолела. 80% не точность модели и не сам порог. Для закрытия урока нужно ещё принятое контрольное.</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558786" y="409951"/>
            <a:ext cx="11074123"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Экран: контрольное принято</a:t>
            </a:r>
            <a:endParaRPr lang="en-US" sz="3600" dirty="0"/>
          </a:p>
        </p:txBody>
      </p:sp>
      <p:pic>
        <p:nvPicPr>
          <p:cNvPr id="3" name="Image 0" descr="preencoded.png">    </p:cNvPr>
          <p:cNvPicPr>
            <a:picLocks noChangeAspect="1"/>
          </p:cNvPicPr>
          <p:nvPr/>
        </p:nvPicPr>
        <p:blipFill>
          <a:blip r:embed="rId1"/>
          <a:stretch>
            <a:fillRect/>
          </a:stretch>
        </p:blipFill>
        <p:spPr>
          <a:xfrm>
            <a:off x="558786" y="1041995"/>
            <a:ext cx="6351627" cy="4508401"/>
          </a:xfrm>
          <a:prstGeom prst="rect">
            <a:avLst/>
          </a:prstGeom>
        </p:spPr>
      </p:pic>
      <p:sp>
        <p:nvSpPr>
          <p:cNvPr id="4" name="Text 1"/>
          <p:cNvSpPr/>
          <p:nvPr/>
        </p:nvSpPr>
        <p:spPr>
          <a:xfrm>
            <a:off x="558786" y="5688350"/>
            <a:ext cx="11074123" cy="445691"/>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6A586E"/>
                </a:solidFill>
                <a:latin typeface="Noto Sans" pitchFamily="34" charset="0"/>
                <a:ea typeface="Noto Sans" pitchFamily="34" charset="-122"/>
                <a:cs typeface="Noto Sans" pitchFamily="34" charset="-120"/>
              </a:rPr>
              <a:t>Ученик запускает код, система проверяет результат. Верное решение закрывает практическую часть; вместе с зачтённым тестом это завершает урок.</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BF7"/>
        </a:solidFill>
      </p:bgPr>
    </p:bg>
    <p:spTree>
      <p:nvGrpSpPr>
        <p:cNvPr id="1" name=""/>
        <p:cNvGrpSpPr/>
        <p:nvPr/>
      </p:nvGrpSpPr>
      <p:grpSpPr>
        <a:xfrm>
          <a:off x="0" y="0"/>
          <a:ext cx="0" cy="0"/>
          <a:chOff x="0" y="0"/>
          <a:chExt cx="0" cy="0"/>
        </a:xfrm>
      </p:grpSpPr>
      <p:sp>
        <p:nvSpPr>
          <p:cNvPr id="2" name="Text 0"/>
          <p:cNvSpPr/>
          <p:nvPr/>
        </p:nvSpPr>
        <p:spPr>
          <a:xfrm>
            <a:off x="609585" y="663951"/>
            <a:ext cx="10972526" cy="480020"/>
          </a:xfrm>
          <a:prstGeom prst="rect">
            <a:avLst/>
          </a:prstGeom>
          <a:noFill/>
          <a:ln/>
        </p:spPr>
        <p:txBody>
          <a:bodyPr wrap="none" lIns="0" tIns="0" rIns="0" bIns="0" rtlCol="0" anchor="t"/>
          <a:lstStyle/>
          <a:p>
            <a:pPr algn="l" indent="0" marL="0">
              <a:lnSpc>
                <a:spcPct val="87000"/>
              </a:lnSpc>
              <a:buNone/>
            </a:pPr>
            <a:r>
              <a:rPr lang="en-US" sz="3600" spc="-54" kern="100" dirty="0">
                <a:solidFill>
                  <a:srgbClr val="2A1233"/>
                </a:solidFill>
                <a:latin typeface="Noto Sans ExtraBold" pitchFamily="34" charset="0"/>
                <a:ea typeface="Noto Sans ExtraBold" pitchFamily="34" charset="-122"/>
                <a:cs typeface="Noto Sans ExtraBold" pitchFamily="34" charset="-120"/>
              </a:rPr>
              <a:t>Что в эту версию не входит</a:t>
            </a:r>
            <a:endParaRPr lang="en-US" sz="3600" dirty="0"/>
          </a:p>
        </p:txBody>
      </p:sp>
      <p:sp>
        <p:nvSpPr>
          <p:cNvPr id="3" name="Shape 1"/>
          <p:cNvSpPr/>
          <p:nvPr/>
        </p:nvSpPr>
        <p:spPr>
          <a:xfrm>
            <a:off x="609585" y="1375370"/>
            <a:ext cx="2743131" cy="38100"/>
          </a:xfrm>
          <a:prstGeom prst="roundRect">
            <a:avLst>
              <a:gd name="adj" fmla="val 49999"/>
            </a:avLst>
          </a:prstGeom>
          <a:solidFill>
            <a:srgbClr val="2A1233"/>
          </a:solidFill>
          <a:ln/>
        </p:spPr>
      </p:sp>
      <p:sp>
        <p:nvSpPr>
          <p:cNvPr id="4" name="Text 2"/>
          <p:cNvSpPr/>
          <p:nvPr/>
        </p:nvSpPr>
        <p:spPr>
          <a:xfrm>
            <a:off x="609585" y="2886174"/>
            <a:ext cx="10972526" cy="1166316"/>
          </a:xfrm>
          <a:prstGeom prst="rect">
            <a:avLst/>
          </a:prstGeom>
          <a:noFill/>
          <a:ln/>
        </p:spPr>
        <p:txBody>
          <a:bodyPr wrap="square" lIns="0" tIns="0" rIns="0" bIns="0" rtlCol="0" anchor="t"/>
          <a:lstStyle/>
          <a:p>
            <a:pPr algn="l" indent="0" marL="0">
              <a:lnSpc>
                <a:spcPct val="117000"/>
              </a:lnSpc>
              <a:spcAft>
                <a:spcPts val="1600"/>
              </a:spcAft>
              <a:buNone/>
            </a:pPr>
            <a:r>
              <a:rPr lang="en-US" sz="1800" dirty="0">
                <a:solidFill>
                  <a:srgbClr val="2A1233"/>
                </a:solidFill>
                <a:latin typeface="Noto Sans" pitchFamily="34" charset="0"/>
                <a:ea typeface="Noto Sans" pitchFamily="34" charset="-122"/>
                <a:cs typeface="Noto Sans" pitchFamily="34" charset="-120"/>
              </a:rPr>
              <a:t>Даты старта обучения и защиты на титуле не подставлены.</a:t>
            </a:r>
            <a:endParaRPr lang="en-US" sz="1800" dirty="0"/>
          </a:p>
          <a:p>
            <a:pPr algn="l" indent="0" marL="0">
              <a:lnSpc>
                <a:spcPct val="117000"/>
              </a:lnSpc>
              <a:buNone/>
            </a:pPr>
            <a:r>
              <a:rPr lang="en-US" sz="1800" dirty="0">
                <a:solidFill>
                  <a:srgbClr val="2A1233"/>
                </a:solidFill>
                <a:latin typeface="Noto Sans" pitchFamily="34" charset="0"/>
                <a:ea typeface="Noto Sans" pitchFamily="34" charset="-122"/>
                <a:cs typeface="Noto Sans" pitchFamily="34" charset="-120"/>
              </a:rPr>
              <a:t>Планы на будущее: сайт, другая модель, новые сценарии эксперимента, не включены. Они не входят в сданный проект.</a:t>
            </a:r>
            <a:endParaRPr lang="en-US" sz="1800" dirty="0"/>
          </a:p>
        </p:txBody>
      </p:sp>
      <p:sp>
        <p:nvSpPr>
          <p:cNvPr id="5" name="Text 3"/>
          <p:cNvSpPr/>
          <p:nvPr/>
        </p:nvSpPr>
        <p:spPr>
          <a:xfrm>
            <a:off x="609585" y="5475318"/>
            <a:ext cx="11582110"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2A1233"/>
                </a:solidFill>
                <a:latin typeface="Noto Sans SemiBold" pitchFamily="34" charset="0"/>
                <a:ea typeface="Noto Sans SemiBold" pitchFamily="34" charset="-122"/>
                <a:cs typeface="Noto Sans SemiBold" pitchFamily="34" charset="-120"/>
              </a:rPr>
              <a:t>РЕПОЗИТОРИЙ</a:t>
            </a:r>
            <a:endParaRPr lang="en-US" sz="1200" dirty="0"/>
          </a:p>
        </p:txBody>
      </p:sp>
      <p:sp>
        <p:nvSpPr>
          <p:cNvPr id="6" name="Text 4"/>
          <p:cNvSpPr/>
          <p:nvPr/>
        </p:nvSpPr>
        <p:spPr>
          <a:xfrm>
            <a:off x="609585" y="5864265"/>
            <a:ext cx="11582110" cy="391120"/>
          </a:xfrm>
          <a:prstGeom prst="rect">
            <a:avLst/>
          </a:prstGeom>
          <a:noFill/>
          <a:ln/>
        </p:spPr>
        <p:txBody>
          <a:bodyPr wrap="none" lIns="0" tIns="0" rIns="0" bIns="0" rtlCol="0" anchor="t"/>
          <a:lstStyle/>
          <a:p>
            <a:pPr algn="l" indent="0" marL="0">
              <a:lnSpc>
                <a:spcPct val="117000"/>
              </a:lnSpc>
              <a:buNone/>
            </a:pPr>
            <a:r>
              <a:rPr lang="en-US" sz="2200" b="1" u="sng" dirty="0">
                <a:solidFill>
                  <a:srgbClr val="2A1233"/>
                </a:solidFill>
                <a:latin typeface="Noto Sans Bold" pitchFamily="34" charset="0"/>
                <a:ea typeface="Noto Sans Bold" pitchFamily="34" charset="-122"/>
                <a:cs typeface="Noto Sans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https://github.com/Ip-59/TeachAI</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A123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2026-10-07T09:03:27Z</dcterms:created>
  <dcterms:modified xsi:type="dcterms:W3CDTF">2026-10-07T09:03:27Z</dcterms:modified>
</cp:coreProperties>
</file>