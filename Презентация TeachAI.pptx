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7.png" ContentType="image/png"/>
  <Override PartName="/ppt/media/image26.png" ContentType="image/png"/>
  <Override PartName="/ppt/media/image25.png" ContentType="image/png"/>
  <Override PartName="/ppt/media/image29.png" ContentType="image/png"/>
  <Override PartName="/ppt/media/image17.png" ContentType="image/png"/>
  <Override PartName="/ppt/media/image8.png" ContentType="image/png"/>
  <Override PartName="/ppt/media/image32.jpeg" ContentType="image/jpeg"/>
  <Override PartName="/ppt/media/image12.png" ContentType="image/png"/>
  <Override PartName="/ppt/media/image3.png" ContentType="image/png"/>
  <Override PartName="/ppt/media/image28.png" ContentType="image/png"/>
  <Override PartName="/ppt/media/image11.jpeg" ContentType="image/jpeg"/>
  <Override PartName="/ppt/media/image30.png" ContentType="image/png"/>
  <Override PartName="/ppt/media/image18.png" ContentType="image/png"/>
  <Override PartName="/ppt/media/image9.png" ContentType="image/png"/>
  <Override PartName="/ppt/media/image10.jpeg" ContentType="image/jpeg"/>
  <Override PartName="/ppt/media/image24.jpeg" ContentType="image/jpeg"/>
  <Override PartName="/ppt/media/image20.png" ContentType="image/png"/>
  <Override PartName="/ppt/media/image31.png" ContentType="image/png"/>
  <Override PartName="/ppt/media/image33.png" ContentType="image/png"/>
  <Override PartName="/ppt/media/image7.png" ContentType="image/png"/>
  <Override PartName="/ppt/media/image13.jpeg" ContentType="image/jpeg"/>
  <Override PartName="/ppt/media/image4.png" ContentType="image/png"/>
  <Override PartName="/ppt/media/image14.png" ContentType="image/png"/>
  <Override PartName="/ppt/media/image34.png" ContentType="image/png"/>
  <Override PartName="/ppt/media/image2.png" ContentType="image/png"/>
  <Override PartName="/ppt/media/image5.png" ContentType="image/png"/>
  <Override PartName="/ppt/media/image22.jpeg" ContentType="image/jpeg"/>
  <Override PartName="/ppt/media/image6.png" ContentType="image/png"/>
  <Override PartName="/ppt/media/image15.png" ContentType="image/png"/>
  <Override PartName="/ppt/media/image1.jpeg" ContentType="image/jpeg"/>
  <Override PartName="/ppt/media/image19.jpeg" ContentType="image/jpeg"/>
  <Override PartName="/ppt/media/image21.png" ContentType="image/png"/>
  <Override PartName="/ppt/media/image16.jpeg" ContentType="image/jpeg"/>
  <Override PartName="/ppt/media/image23.png" ContentType="image/png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Для перемещения страницы щёлкните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мышью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D20DC59-86BA-4108-BF56-2D1D70FFCC59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6B6ACB-8F72-49CA-9494-16E150A4849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86251F-CC66-4C93-B54D-895FF4EAD09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B3E52D-BB15-4D3F-9289-0B38839892A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A99426-1813-4E55-8F36-AE82C09CF57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5188F3-6FE6-44C6-BDEE-A961B00FDB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5E99C1-1EC7-43FE-B381-04CE92B430A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BB7833-C9D7-46F4-A273-67C615A8B5A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A19B95-53A3-4E54-A202-5E531294DE2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CC0D91-3C32-4F0E-8576-CE1ECE7414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C0CCE5-CBAA-4ACB-9DAD-ADBACEDF1B4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150BAA-FDCB-4906-81D0-9EEB1F3763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B6B765-E531-4016-9727-C6CA47FAF29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DB9F8B-08E8-4B0A-845D-BF87BBFFCC0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E011E6-25DB-4087-9E76-B7B06F1A681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52D681-6A04-4E7B-BE05-64EAFA84407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C4FED9-9FAF-4F8C-9E10-CD469CB41F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AFC9A7-30CB-4B6B-98C6-82626BAC151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AFB914-1540-4F9C-B22B-8BA4BF03238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A8A77A-8190-478D-B1CE-00AE2E511F3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946F7D-E77B-4B00-B0ED-5677BDC1D21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pic>
        <p:nvPicPr>
          <p:cNvPr id="9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0" name="Image 2"/>
          <p:cNvSpPr/>
          <p:nvPr/>
        </p:nvSpPr>
        <p:spPr>
          <a:xfrm>
            <a:off x="6786360" y="3240720"/>
            <a:ext cx="5404680" cy="3616920"/>
          </a:xfrm>
          <a:custGeom>
            <a:avLst/>
            <a:gdLst>
              <a:gd name="textAreaLeft" fmla="*/ 0 w 5404680"/>
              <a:gd name="textAreaRight" fmla="*/ 36000000 w 5404680"/>
              <a:gd name="textAreaTop" fmla="*/ 0 h 3616920"/>
              <a:gd name="textAreaBottom" fmla="*/ 36000000 h 3616920"/>
            </a:gdLst>
            <a:ahLst/>
            <a:rect l="textAreaLeft" t="textAreaTop" r="textAreaRight" b="textAreaBottom"/>
            <a:pathLst>
              <a:path w="100000" h="100000">
                <a:moveTo>
                  <a:pt x="0" y="100000"/>
                </a:moveTo>
                <a:lnTo>
                  <a:pt x="65600" y="0"/>
                </a:lnTo>
                <a:lnTo>
                  <a:pt x="100000" y="50390"/>
                </a:lnTo>
                <a:lnTo>
                  <a:pt x="100000" y="10000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Image 3"/>
          <p:cNvSpPr/>
          <p:nvPr/>
        </p:nvSpPr>
        <p:spPr>
          <a:xfrm>
            <a:off x="6786360" y="3240720"/>
            <a:ext cx="5404680" cy="3616920"/>
          </a:xfrm>
          <a:custGeom>
            <a:avLst/>
            <a:gdLst>
              <a:gd name="textAreaLeft" fmla="*/ 0 w 5404680"/>
              <a:gd name="textAreaRight" fmla="*/ 36000000 w 5404680"/>
              <a:gd name="textAreaTop" fmla="*/ 0 h 3616920"/>
              <a:gd name="textAreaBottom" fmla="*/ 36000000 h 3616920"/>
            </a:gdLst>
            <a:ahLst/>
            <a:rect l="textAreaLeft" t="textAreaTop" r="textAreaRight" b="textAreaBottom"/>
            <a:pathLst>
              <a:path w="100000" h="100000">
                <a:moveTo>
                  <a:pt x="0" y="100000"/>
                </a:moveTo>
                <a:lnTo>
                  <a:pt x="65600" y="0"/>
                </a:lnTo>
                <a:lnTo>
                  <a:pt x="100000" y="50390"/>
                </a:lnTo>
                <a:lnTo>
                  <a:pt x="100000" y="10000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Image 4"/>
          <p:cNvSpPr/>
          <p:nvPr/>
        </p:nvSpPr>
        <p:spPr>
          <a:xfrm>
            <a:off x="7736040" y="3565080"/>
            <a:ext cx="4455000" cy="3292560"/>
          </a:xfrm>
          <a:custGeom>
            <a:avLst/>
            <a:gdLst>
              <a:gd name="textAreaLeft" fmla="*/ 0 w 4455000"/>
              <a:gd name="textAreaRight" fmla="*/ 36000000 w 4455000"/>
              <a:gd name="textAreaTop" fmla="*/ 0 h 3292560"/>
              <a:gd name="textAreaBottom" fmla="*/ 36000000 h 3292560"/>
            </a:gdLst>
            <a:ahLst/>
            <a:rect l="textAreaLeft" t="textAreaTop" r="textAreaRight" b="textAreaBottom"/>
            <a:pathLst>
              <a:path w="100000" h="100000">
                <a:moveTo>
                  <a:pt x="100000" y="100000"/>
                </a:moveTo>
                <a:lnTo>
                  <a:pt x="0" y="100000"/>
                </a:lnTo>
                <a:lnTo>
                  <a:pt x="73900" y="0"/>
                </a:lnTo>
                <a:lnTo>
                  <a:pt x="100000" y="3531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Image 5"/>
          <p:cNvSpPr/>
          <p:nvPr/>
        </p:nvSpPr>
        <p:spPr>
          <a:xfrm>
            <a:off x="0" y="0"/>
            <a:ext cx="10148040" cy="6857640"/>
          </a:xfrm>
          <a:custGeom>
            <a:avLst/>
            <a:gdLst>
              <a:gd name="textAreaLeft" fmla="*/ 0 w 10148040"/>
              <a:gd name="textAreaRight" fmla="*/ 36000000 w 10148040"/>
              <a:gd name="textAreaTop" fmla="*/ 0 h 6857640"/>
              <a:gd name="textAreaBottom" fmla="*/ 36000000 h 6857640"/>
            </a:gdLst>
            <a:ahLst/>
            <a:rect l="textAreaLeft" t="textAreaTop" r="textAreaRight" b="textAreaBottom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32210" y="100000"/>
                </a:lnTo>
                <a:lnTo>
                  <a:pt x="31850" y="100000"/>
                </a:lnTo>
                <a:lnTo>
                  <a:pt x="0" y="5273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Image 6"/>
          <p:cNvSpPr/>
          <p:nvPr/>
        </p:nvSpPr>
        <p:spPr>
          <a:xfrm>
            <a:off x="0" y="0"/>
            <a:ext cx="8578080" cy="6381720"/>
          </a:xfrm>
          <a:custGeom>
            <a:avLst/>
            <a:gdLst>
              <a:gd name="textAreaLeft" fmla="*/ 0 w 8578080"/>
              <a:gd name="textAreaRight" fmla="*/ 36000000 w 8578080"/>
              <a:gd name="textAreaTop" fmla="*/ 0 h 6381720"/>
              <a:gd name="textAreaBottom" fmla="*/ 36000000 h 6381720"/>
            </a:gdLst>
            <a:ahLst/>
            <a:rect l="textAreaLeft" t="textAreaTop" r="textAreaRight" b="textAreaBottom"/>
            <a:pathLst>
              <a:path w="100000" h="100000">
                <a:moveTo>
                  <a:pt x="0" y="65380"/>
                </a:moveTo>
                <a:lnTo>
                  <a:pt x="0" y="0"/>
                </a:lnTo>
                <a:lnTo>
                  <a:pt x="100000" y="0"/>
                </a:lnTo>
                <a:lnTo>
                  <a:pt x="25840" y="10000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0"/>
          <p:cNvSpPr/>
          <p:nvPr/>
        </p:nvSpPr>
        <p:spPr>
          <a:xfrm>
            <a:off x="940320" y="1110960"/>
            <a:ext cx="5324040" cy="182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TeachAI — интеллектуальная система персонализированного обучения на основе LLM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" name="Image 7" descr="preencoded.png"/>
          <p:cNvPicPr/>
          <p:nvPr/>
        </p:nvPicPr>
        <p:blipFill>
          <a:blip r:embed="rId8"/>
          <a:stretch/>
        </p:blipFill>
        <p:spPr>
          <a:xfrm>
            <a:off x="8841240" y="444240"/>
            <a:ext cx="2936880" cy="401400"/>
          </a:xfrm>
          <a:prstGeom prst="rect">
            <a:avLst/>
          </a:prstGeom>
          <a:ln w="0">
            <a:noFill/>
          </a:ln>
        </p:spPr>
      </p:pic>
      <p:sp>
        <p:nvSpPr>
          <p:cNvPr id="17" name="Text 1"/>
          <p:cNvSpPr/>
          <p:nvPr/>
        </p:nvSpPr>
        <p:spPr>
          <a:xfrm>
            <a:off x="970560" y="505080"/>
            <a:ext cx="474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Игорь Пучкин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970560" y="3526560"/>
            <a:ext cx="474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Montserrat"/>
                <a:ea typeface="Montserrat"/>
              </a:rPr>
              <a:t>Старт: [дата] · Защита: [дата]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7112160" y="4883400"/>
            <a:ext cx="467892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Montserrat"/>
                <a:ea typeface="Montserrat"/>
              </a:rPr>
              <a:t>Курс: AI/ML - разработчик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7112160" y="5280480"/>
            <a:ext cx="467892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Montserrat"/>
                <a:ea typeface="Montserrat"/>
              </a:rPr>
              <a:t>Университет искусственного интеллекта, Пермь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645120" y="4931280"/>
            <a:ext cx="1583280" cy="1926360"/>
          </a:xfrm>
          <a:custGeom>
            <a:avLst/>
            <a:gdLst>
              <a:gd name="textAreaLeft" fmla="*/ 0 w 1583280"/>
              <a:gd name="textAreaRight" fmla="*/ 1583640 w 1583280"/>
              <a:gd name="textAreaTop" fmla="*/ 0 h 1926360"/>
              <a:gd name="textAreaBottom" fmla="*/ 1926720 h 1926360"/>
            </a:gdLst>
            <a:ahLst/>
            <a:rect l="textAreaLeft" t="textAreaTop" r="textAreaRight" b="textAreaBottom"/>
            <a:pathLst>
              <a:path w="1583591" h="1926630">
                <a:moveTo>
                  <a:pt x="1583591" y="1926630"/>
                </a:moveTo>
                <a:lnTo>
                  <a:pt x="1583591" y="0"/>
                </a:lnTo>
                <a:lnTo>
                  <a:pt x="0" y="1926630"/>
                </a:lnTo>
                <a:close/>
              </a:path>
            </a:pathLst>
          </a:custGeom>
          <a:solidFill>
            <a:srgbClr val="206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Image 0"/>
          <p:cNvSpPr/>
          <p:nvPr/>
        </p:nvSpPr>
        <p:spPr>
          <a:xfrm>
            <a:off x="0" y="0"/>
            <a:ext cx="6305040" cy="6857640"/>
          </a:xfrm>
          <a:custGeom>
            <a:avLst/>
            <a:gdLst>
              <a:gd name="textAreaLeft" fmla="*/ 0 w 6305040"/>
              <a:gd name="textAreaRight" fmla="*/ 36000000 w 6305040"/>
              <a:gd name="textAreaTop" fmla="*/ 0 h 6857640"/>
              <a:gd name="textAreaBottom" fmla="*/ 36000000 h 6857640"/>
            </a:gdLst>
            <a:ahLst/>
            <a:rect l="textAreaLeft" t="textAreaTop" r="textAreaRight" b="textAreaBottom"/>
            <a:pathLst>
              <a:path w="100000" h="100000">
                <a:moveTo>
                  <a:pt x="0" y="55640"/>
                </a:moveTo>
                <a:lnTo>
                  <a:pt x="0" y="0"/>
                </a:lnTo>
                <a:lnTo>
                  <a:pt x="22220" y="0"/>
                </a:lnTo>
                <a:lnTo>
                  <a:pt x="100000" y="99830"/>
                </a:lnTo>
                <a:lnTo>
                  <a:pt x="99870" y="100000"/>
                </a:lnTo>
                <a:lnTo>
                  <a:pt x="34300" y="100000"/>
                </a:lnTo>
                <a:lnTo>
                  <a:pt x="34430" y="9983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9612360" y="0"/>
            <a:ext cx="2578680" cy="2959200"/>
          </a:xfrm>
          <a:custGeom>
            <a:avLst/>
            <a:gdLst>
              <a:gd name="textAreaLeft" fmla="*/ 0 w 2578680"/>
              <a:gd name="textAreaRight" fmla="*/ 2579040 w 2578680"/>
              <a:gd name="textAreaTop" fmla="*/ 0 h 2959200"/>
              <a:gd name="textAreaBottom" fmla="*/ 2959560 h 2959200"/>
            </a:gdLst>
            <a:ahLst/>
            <a:rect l="textAreaLeft" t="textAreaTop" r="textAreaRight" b="textAreaBottom"/>
            <a:pathLst>
              <a:path w="2579127" h="2959596">
                <a:moveTo>
                  <a:pt x="2579127" y="0"/>
                </a:moveTo>
                <a:lnTo>
                  <a:pt x="0" y="0"/>
                </a:lnTo>
                <a:lnTo>
                  <a:pt x="2579127" y="2959596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3904200" y="784800"/>
            <a:ext cx="7164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100" spc="-1" strike="noStrike">
                <a:solidFill>
                  <a:srgbClr val="2763f9"/>
                </a:solidFill>
                <a:latin typeface="Montserrat ExtraBold"/>
                <a:ea typeface="Montserrat ExtraBold"/>
              </a:rPr>
              <a:t>Постановка задачи</a:t>
            </a:r>
            <a:endParaRPr b="0" lang="ru-RU" sz="5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4028400" y="1778400"/>
            <a:ext cx="8162640" cy="37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6396840" y="2559600"/>
            <a:ext cx="5399280" cy="391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06440" indent="-406440" defTabSz="914400">
              <a:lnSpc>
                <a:spcPct val="15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Подготовка курса (план → уроки → примеры → проверка) требует много ручной работы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406440" indent="-406440" defTabSz="914400">
              <a:lnSpc>
                <a:spcPct val="15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Типовой курс не учитывает темп и стиль общения обучающегося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406440" indent="-406440" defTabSz="914400">
              <a:lnSpc>
                <a:spcPct val="15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Нужна система, которая ведёт обучение через готовую LLM, а не обучает свою модель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5"/>
          <p:cNvSpPr/>
          <p:nvPr/>
        </p:nvSpPr>
        <p:spPr>
          <a:xfrm>
            <a:off x="762120" y="2921040"/>
            <a:ext cx="4825440" cy="1577880"/>
          </a:xfrm>
          <a:prstGeom prst="roundRect">
            <a:avLst>
              <a:gd name="adj" fmla="val 2172"/>
            </a:avLst>
          </a:prstGeom>
          <a:solidFill>
            <a:srgbClr val="206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819000" y="2921040"/>
            <a:ext cx="4711320" cy="157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Montserrat"/>
                <a:ea typeface="Montserrat"/>
              </a:rPr>
              <a:t>Профиль + тема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Montserrat"/>
                <a:ea typeface="Montserrat"/>
              </a:rPr>
              <a:t>↓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Montserrat"/>
                <a:ea typeface="Montserrat"/>
              </a:rPr>
              <a:t>Интерактивный курс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 descr="preencoded.png"/>
          <p:cNvPicPr/>
          <p:nvPr/>
        </p:nvPicPr>
        <p:blipFill>
          <a:blip r:embed="rId1"/>
          <a:stretch/>
        </p:blipFill>
        <p:spPr>
          <a:xfrm>
            <a:off x="0" y="415800"/>
            <a:ext cx="6364080" cy="1336320"/>
          </a:xfrm>
          <a:prstGeom prst="rect">
            <a:avLst/>
          </a:prstGeom>
          <a:ln w="0">
            <a:noFill/>
          </a:ln>
        </p:spPr>
      </p:pic>
      <p:pic>
        <p:nvPicPr>
          <p:cNvPr id="30" name="Image 1" descr="preencoded.png"/>
          <p:cNvPicPr/>
          <p:nvPr/>
        </p:nvPicPr>
        <p:blipFill>
          <a:blip r:embed="rId2"/>
          <a:stretch/>
        </p:blipFill>
        <p:spPr>
          <a:xfrm>
            <a:off x="0" y="1630800"/>
            <a:ext cx="6364080" cy="5226840"/>
          </a:xfrm>
          <a:prstGeom prst="rect">
            <a:avLst/>
          </a:prstGeom>
          <a:ln w="0">
            <a:noFill/>
          </a:ln>
        </p:spPr>
      </p:pic>
      <p:sp>
        <p:nvSpPr>
          <p:cNvPr id="31" name="Shape 0"/>
          <p:cNvSpPr/>
          <p:nvPr/>
        </p:nvSpPr>
        <p:spPr>
          <a:xfrm>
            <a:off x="0" y="214200"/>
            <a:ext cx="6771960" cy="6643440"/>
          </a:xfrm>
          <a:custGeom>
            <a:avLst/>
            <a:gdLst>
              <a:gd name="textAreaLeft" fmla="*/ 0 w 6771960"/>
              <a:gd name="textAreaRight" fmla="*/ 6772320 w 6771960"/>
              <a:gd name="textAreaTop" fmla="*/ 0 h 6643440"/>
              <a:gd name="textAreaBottom" fmla="*/ 6643800 h 6643440"/>
            </a:gdLst>
            <a:ahLst/>
            <a:rect l="textAreaLeft" t="textAreaTop" r="textAreaRight" b="textAreaBottom"/>
            <a:pathLst>
              <a:path w="6772205" h="6643688">
                <a:moveTo>
                  <a:pt x="6289347" y="6643688"/>
                </a:moveTo>
                <a:lnTo>
                  <a:pt x="0" y="354109"/>
                </a:lnTo>
                <a:lnTo>
                  <a:pt x="0" y="0"/>
                </a:lnTo>
                <a:lnTo>
                  <a:pt x="6751211" y="21924"/>
                </a:lnTo>
                <a:lnTo>
                  <a:pt x="6772205" y="664368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1"/>
          <p:cNvSpPr/>
          <p:nvPr/>
        </p:nvSpPr>
        <p:spPr>
          <a:xfrm>
            <a:off x="2958120" y="0"/>
            <a:ext cx="4255560" cy="2114280"/>
          </a:xfrm>
          <a:custGeom>
            <a:avLst/>
            <a:gdLst>
              <a:gd name="textAreaLeft" fmla="*/ 0 w 4255560"/>
              <a:gd name="textAreaRight" fmla="*/ 4255920 w 4255560"/>
              <a:gd name="textAreaTop" fmla="*/ 0 h 2114280"/>
              <a:gd name="textAreaBottom" fmla="*/ 2114640 h 2114280"/>
            </a:gdLst>
            <a:ahLst/>
            <a:rect l="textAreaLeft" t="textAreaTop" r="textAreaRight" b="textAreaBottom"/>
            <a:pathLst>
              <a:path w="4256080" h="2114550">
                <a:moveTo>
                  <a:pt x="4256080" y="0"/>
                </a:moveTo>
                <a:lnTo>
                  <a:pt x="2128040" y="2114550"/>
                </a:lnTo>
                <a:lnTo>
                  <a:pt x="0" y="0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47520" y="0"/>
            <a:ext cx="5758560" cy="5745240"/>
          </a:xfrm>
          <a:custGeom>
            <a:avLst/>
            <a:gdLst>
              <a:gd name="textAreaLeft" fmla="*/ 0 w 5758560"/>
              <a:gd name="textAreaRight" fmla="*/ 5758920 w 5758560"/>
              <a:gd name="textAreaTop" fmla="*/ 0 h 5745240"/>
              <a:gd name="textAreaBottom" fmla="*/ 5745600 h 5745240"/>
            </a:gdLst>
            <a:ahLst/>
            <a:rect l="textAreaLeft" t="textAreaTop" r="textAreaRight" b="textAreaBottom"/>
            <a:pathLst>
              <a:path w="5759008" h="5745659">
                <a:moveTo>
                  <a:pt x="13246" y="0"/>
                </a:moveTo>
                <a:lnTo>
                  <a:pt x="40313" y="0"/>
                </a:lnTo>
                <a:lnTo>
                  <a:pt x="5759008" y="5718654"/>
                </a:lnTo>
                <a:lnTo>
                  <a:pt x="5731941" y="5745659"/>
                </a:lnTo>
                <a:lnTo>
                  <a:pt x="0" y="132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5398560" y="0"/>
            <a:ext cx="3021480" cy="2994480"/>
          </a:xfrm>
          <a:custGeom>
            <a:avLst/>
            <a:gdLst>
              <a:gd name="textAreaLeft" fmla="*/ 0 w 3021480"/>
              <a:gd name="textAreaRight" fmla="*/ 3021840 w 3021480"/>
              <a:gd name="textAreaTop" fmla="*/ 0 h 2994480"/>
              <a:gd name="textAreaBottom" fmla="*/ 2994840 h 2994480"/>
            </a:gdLst>
            <a:ahLst/>
            <a:rect l="textAreaLeft" t="textAreaTop" r="textAreaRight" b="textAreaBottom"/>
            <a:pathLst>
              <a:path w="3021731" h="2994819">
                <a:moveTo>
                  <a:pt x="3021731" y="0"/>
                </a:moveTo>
                <a:lnTo>
                  <a:pt x="26893" y="2994819"/>
                </a:lnTo>
                <a:lnTo>
                  <a:pt x="0" y="2967865"/>
                </a:lnTo>
                <a:lnTo>
                  <a:pt x="296794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7181280" y="1962000"/>
            <a:ext cx="4952880" cy="19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5500" spc="-1" strike="noStrike">
                <a:solidFill>
                  <a:srgbClr val="2064fb"/>
                </a:solidFill>
                <a:latin typeface="Montserrat ExtraBold"/>
                <a:ea typeface="Montserrat ExtraBold"/>
              </a:rPr>
              <a:t>Цель проекта</a:t>
            </a:r>
            <a:endParaRPr b="0" lang="ru-RU" sz="5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5"/>
          <p:cNvSpPr/>
          <p:nvPr/>
        </p:nvSpPr>
        <p:spPr>
          <a:xfrm>
            <a:off x="6910560" y="3720600"/>
            <a:ext cx="51588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25080" indent="-325080" defTabSz="914400">
              <a:lnSpc>
                <a:spcPct val="2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000000"/>
                </a:solidFill>
                <a:latin typeface="Montserrat Medium"/>
                <a:ea typeface="Montserrat Medium"/>
              </a:rPr>
              <a:t>Разработать TeachAI: генерация персонализированного учебного контента на предобученной LLM через API, без датасета и fine-tuning; курс в Jupyter с UI, прогрессом и обоснованным выбором модели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preencoded.png"/>
          <p:cNvPicPr/>
          <p:nvPr/>
        </p:nvPicPr>
        <p:blipFill>
          <a:blip r:embed="rId1"/>
          <a:stretch/>
        </p:blipFill>
        <p:spPr>
          <a:xfrm>
            <a:off x="4457520" y="0"/>
            <a:ext cx="7733880" cy="6857640"/>
          </a:xfrm>
          <a:prstGeom prst="rect">
            <a:avLst/>
          </a:prstGeom>
          <a:ln w="0">
            <a:noFill/>
          </a:ln>
        </p:spPr>
      </p:pic>
      <p:pic>
        <p:nvPicPr>
          <p:cNvPr id="38" name="Image 1" descr="preencoded.png"/>
          <p:cNvPicPr/>
          <p:nvPr/>
        </p:nvPicPr>
        <p:blipFill>
          <a:blip r:embed="rId2"/>
          <a:stretch/>
        </p:blipFill>
        <p:spPr>
          <a:xfrm>
            <a:off x="5028840" y="0"/>
            <a:ext cx="7162560" cy="6857640"/>
          </a:xfrm>
          <a:prstGeom prst="rect">
            <a:avLst/>
          </a:prstGeom>
          <a:ln w="0">
            <a:noFill/>
          </a:ln>
        </p:spPr>
      </p:pic>
      <p:sp>
        <p:nvSpPr>
          <p:cNvPr id="39" name="Shape 0"/>
          <p:cNvSpPr/>
          <p:nvPr/>
        </p:nvSpPr>
        <p:spPr>
          <a:xfrm>
            <a:off x="5335200" y="0"/>
            <a:ext cx="6856200" cy="6856560"/>
          </a:xfrm>
          <a:custGeom>
            <a:avLst/>
            <a:gdLst>
              <a:gd name="textAreaLeft" fmla="*/ 0 w 6856200"/>
              <a:gd name="textAreaRight" fmla="*/ 6856560 w 6856200"/>
              <a:gd name="textAreaTop" fmla="*/ 0 h 6856560"/>
              <a:gd name="textAreaBottom" fmla="*/ 6856920 h 6856560"/>
            </a:gdLst>
            <a:ahLst/>
            <a:rect l="textAreaLeft" t="textAreaTop" r="textAreaRight" b="textAreaBottom"/>
            <a:pathLst>
              <a:path w="6856638" h="6856809">
                <a:moveTo>
                  <a:pt x="0" y="6856809"/>
                </a:moveTo>
                <a:lnTo>
                  <a:pt x="0" y="0"/>
                </a:lnTo>
                <a:lnTo>
                  <a:pt x="6856638" y="685680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"/>
          <p:cNvSpPr/>
          <p:nvPr/>
        </p:nvSpPr>
        <p:spPr>
          <a:xfrm>
            <a:off x="0" y="0"/>
            <a:ext cx="5371560" cy="6857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2"/>
          <p:cNvSpPr/>
          <p:nvPr/>
        </p:nvSpPr>
        <p:spPr>
          <a:xfrm rot="5400000">
            <a:off x="0" y="0"/>
            <a:ext cx="5028840" cy="5028480"/>
          </a:xfrm>
          <a:custGeom>
            <a:avLst/>
            <a:gdLst>
              <a:gd name="textAreaLeft" fmla="*/ 0 w 5028840"/>
              <a:gd name="textAreaRight" fmla="*/ 5029200 w 5028840"/>
              <a:gd name="textAreaTop" fmla="*/ 0 h 5028480"/>
              <a:gd name="textAreaBottom" fmla="*/ 5028840 h 5028480"/>
            </a:gdLst>
            <a:ahLst/>
            <a:rect l="textAreaLeft" t="textAreaTop" r="textAreaRight" b="textAreaBottom"/>
            <a:pathLst>
              <a:path w="5029074" h="5028902">
                <a:moveTo>
                  <a:pt x="0" y="5028902"/>
                </a:moveTo>
                <a:lnTo>
                  <a:pt x="0" y="0"/>
                </a:lnTo>
                <a:lnTo>
                  <a:pt x="5029074" y="5028902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4299480" y="0"/>
            <a:ext cx="4229640" cy="4203000"/>
          </a:xfrm>
          <a:custGeom>
            <a:avLst/>
            <a:gdLst>
              <a:gd name="textAreaLeft" fmla="*/ 0 w 4229640"/>
              <a:gd name="textAreaRight" fmla="*/ 4230000 w 4229640"/>
              <a:gd name="textAreaTop" fmla="*/ 0 h 4203000"/>
              <a:gd name="textAreaBottom" fmla="*/ 4203360 h 4203000"/>
            </a:gdLst>
            <a:ahLst/>
            <a:rect l="textAreaLeft" t="textAreaTop" r="textAreaRight" b="textAreaBottom"/>
            <a:pathLst>
              <a:path w="4230086" h="4203303">
                <a:moveTo>
                  <a:pt x="4203013" y="4203303"/>
                </a:moveTo>
                <a:lnTo>
                  <a:pt x="0" y="0"/>
                </a:lnTo>
                <a:lnTo>
                  <a:pt x="53722" y="0"/>
                </a:lnTo>
                <a:lnTo>
                  <a:pt x="4230086" y="417640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1146960" y="1047240"/>
            <a:ext cx="716400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500" spc="-1" strike="noStrike">
                <a:solidFill>
                  <a:srgbClr val="2064fb"/>
                </a:solidFill>
                <a:latin typeface="Montserrat ExtraBold"/>
                <a:ea typeface="Montserrat ExtraBold"/>
              </a:rPr>
              <a:t>Задачи проекта</a:t>
            </a:r>
            <a:endParaRPr b="0" lang="ru-RU" sz="5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700920" y="2568600"/>
            <a:ext cx="6673680" cy="410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1 Генерация: план, уроки, примеры, тесты, ответы, практика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2 Персонализация: профиль, стиль, длительность и объём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3 Интерактив в Jupyter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4 Контроль ответов LLM: валидация, фильтр вопросов, проверка кода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5 Сохранение прогресса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6 Экспериментальный выбор модели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0" descr="preencoded.png"/>
          <p:cNvPicPr/>
          <p:nvPr/>
        </p:nvPicPr>
        <p:blipFill>
          <a:blip r:embed="rId1"/>
          <a:stretch/>
        </p:blipFill>
        <p:spPr>
          <a:xfrm>
            <a:off x="5333760" y="0"/>
            <a:ext cx="6857640" cy="6857640"/>
          </a:xfrm>
          <a:prstGeom prst="rect">
            <a:avLst/>
          </a:prstGeom>
          <a:ln w="0">
            <a:noFill/>
          </a:ln>
        </p:spPr>
      </p:pic>
      <p:pic>
        <p:nvPicPr>
          <p:cNvPr id="46" name="Image 1" descr="preencoded.png"/>
          <p:cNvPicPr/>
          <p:nvPr/>
        </p:nvPicPr>
        <p:blipFill>
          <a:blip r:embed="rId2"/>
          <a:stretch/>
        </p:blipFill>
        <p:spPr>
          <a:xfrm>
            <a:off x="5333760" y="0"/>
            <a:ext cx="6857640" cy="6857640"/>
          </a:xfrm>
          <a:prstGeom prst="rect">
            <a:avLst/>
          </a:prstGeom>
          <a:ln w="0">
            <a:noFill/>
          </a:ln>
        </p:spPr>
      </p:pic>
      <p:sp>
        <p:nvSpPr>
          <p:cNvPr id="47" name="Shape 0"/>
          <p:cNvSpPr/>
          <p:nvPr/>
        </p:nvSpPr>
        <p:spPr>
          <a:xfrm>
            <a:off x="5010120" y="0"/>
            <a:ext cx="7181280" cy="6857640"/>
          </a:xfrm>
          <a:custGeom>
            <a:avLst/>
            <a:gdLst>
              <a:gd name="textAreaLeft" fmla="*/ 0 w 7181280"/>
              <a:gd name="textAreaRight" fmla="*/ 7181640 w 718128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7181670" h="6858000">
                <a:moveTo>
                  <a:pt x="7181670" y="0"/>
                </a:moveTo>
                <a:lnTo>
                  <a:pt x="0" y="0"/>
                </a:lnTo>
                <a:lnTo>
                  <a:pt x="0" y="6858000"/>
                </a:lnTo>
                <a:lnTo>
                  <a:pt x="323893" y="6858000"/>
                </a:lnTo>
                <a:lnTo>
                  <a:pt x="718167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6082200" y="0"/>
            <a:ext cx="4028760" cy="2014200"/>
          </a:xfrm>
          <a:custGeom>
            <a:avLst/>
            <a:gdLst>
              <a:gd name="textAreaLeft" fmla="*/ 0 w 4028760"/>
              <a:gd name="textAreaRight" fmla="*/ 4029120 w 4028760"/>
              <a:gd name="textAreaTop" fmla="*/ 0 h 2014200"/>
              <a:gd name="textAreaBottom" fmla="*/ 2014560 h 2014200"/>
            </a:gdLst>
            <a:ahLst/>
            <a:rect l="textAreaLeft" t="textAreaTop" r="textAreaRight" b="textAreaBottom"/>
            <a:pathLst>
              <a:path w="4029272" h="2014637">
                <a:moveTo>
                  <a:pt x="4029272" y="0"/>
                </a:moveTo>
                <a:lnTo>
                  <a:pt x="2014636" y="2014637"/>
                </a:lnTo>
                <a:lnTo>
                  <a:pt x="0" y="0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5382000" y="0"/>
            <a:ext cx="2807640" cy="2780640"/>
          </a:xfrm>
          <a:custGeom>
            <a:avLst/>
            <a:gdLst>
              <a:gd name="textAreaLeft" fmla="*/ 0 w 2807640"/>
              <a:gd name="textAreaRight" fmla="*/ 2808000 w 2807640"/>
              <a:gd name="textAreaTop" fmla="*/ 0 h 2780640"/>
              <a:gd name="textAreaBottom" fmla="*/ 2781000 h 2780640"/>
            </a:gdLst>
            <a:ahLst/>
            <a:rect l="textAreaLeft" t="textAreaTop" r="textAreaRight" b="textAreaBottom"/>
            <a:pathLst>
              <a:path w="2808019" h="2781102">
                <a:moveTo>
                  <a:pt x="26957" y="0"/>
                </a:moveTo>
                <a:lnTo>
                  <a:pt x="80871" y="0"/>
                </a:lnTo>
                <a:lnTo>
                  <a:pt x="2808019" y="2727148"/>
                </a:lnTo>
                <a:lnTo>
                  <a:pt x="2754105" y="2781102"/>
                </a:lnTo>
                <a:lnTo>
                  <a:pt x="0" y="26977"/>
                </a:lnTo>
                <a:close/>
              </a:path>
            </a:pathLst>
          </a:custGeom>
          <a:solidFill>
            <a:srgbClr val="c9c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920160" y="805320"/>
            <a:ext cx="703296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2064fb"/>
                </a:solidFill>
                <a:latin typeface="Montserrat ExtraBold"/>
                <a:ea typeface="Montserrat ExtraBold"/>
              </a:rPr>
              <a:t>Данные и модель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5882400" y="0"/>
            <a:ext cx="5845320" cy="5818680"/>
          </a:xfrm>
          <a:custGeom>
            <a:avLst/>
            <a:gdLst>
              <a:gd name="textAreaLeft" fmla="*/ 0 w 5845320"/>
              <a:gd name="textAreaRight" fmla="*/ 5845680 w 5845320"/>
              <a:gd name="textAreaTop" fmla="*/ 0 h 5818680"/>
              <a:gd name="textAreaBottom" fmla="*/ 5819040 h 5818680"/>
            </a:gdLst>
            <a:ahLst/>
            <a:rect l="textAreaLeft" t="textAreaTop" r="textAreaRight" b="textAreaBottom"/>
            <a:pathLst>
              <a:path w="5845525" h="5818882">
                <a:moveTo>
                  <a:pt x="5818635" y="0"/>
                </a:moveTo>
                <a:lnTo>
                  <a:pt x="5845525" y="26767"/>
                </a:lnTo>
                <a:lnTo>
                  <a:pt x="53779" y="5818882"/>
                </a:lnTo>
                <a:lnTo>
                  <a:pt x="0" y="5764766"/>
                </a:lnTo>
                <a:lnTo>
                  <a:pt x="576485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0" y="6000480"/>
            <a:ext cx="856800" cy="857160"/>
          </a:xfrm>
          <a:custGeom>
            <a:avLst/>
            <a:gdLst>
              <a:gd name="textAreaLeft" fmla="*/ 0 w 856800"/>
              <a:gd name="textAreaRight" fmla="*/ 857160 w 856800"/>
              <a:gd name="textAreaTop" fmla="*/ 0 h 857160"/>
              <a:gd name="textAreaBottom" fmla="*/ 857520 h 857160"/>
            </a:gdLst>
            <a:ahLst/>
            <a:rect l="textAreaLeft" t="textAreaTop" r="textAreaRight" b="textAreaBottom"/>
            <a:pathLst>
              <a:path w="857328" h="857349">
                <a:moveTo>
                  <a:pt x="0" y="857349"/>
                </a:moveTo>
                <a:lnTo>
                  <a:pt x="0" y="0"/>
                </a:lnTo>
                <a:lnTo>
                  <a:pt x="857328" y="8573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882720" y="2540160"/>
            <a:ext cx="3695400" cy="245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Есть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Предобученная LLM через API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Модель gpt-4o-mini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Параметры запроса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Данные сессии в JSON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4883040" y="2540160"/>
            <a:ext cx="2806200" cy="245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Нет (согласовано)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Свой датасет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Fine-tuning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RAG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Парсинг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3266280" y="380880"/>
            <a:ext cx="8105760" cy="7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Архитектура системы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"/>
          <p:cNvSpPr/>
          <p:nvPr/>
        </p:nvSpPr>
        <p:spPr>
          <a:xfrm>
            <a:off x="0" y="0"/>
            <a:ext cx="3533400" cy="2014200"/>
          </a:xfrm>
          <a:custGeom>
            <a:avLst/>
            <a:gdLst>
              <a:gd name="textAreaLeft" fmla="*/ 0 w 3533400"/>
              <a:gd name="textAreaRight" fmla="*/ 3533760 w 3533400"/>
              <a:gd name="textAreaTop" fmla="*/ 0 h 2014200"/>
              <a:gd name="textAreaBottom" fmla="*/ 2014560 h 2014200"/>
            </a:gdLst>
            <a:ahLst/>
            <a:rect l="textAreaLeft" t="textAreaTop" r="textAreaRight" b="textAreaBottom"/>
            <a:pathLst>
              <a:path w="3533885" h="2014637">
                <a:moveTo>
                  <a:pt x="3533885" y="0"/>
                </a:moveTo>
                <a:lnTo>
                  <a:pt x="1519217" y="2014637"/>
                </a:lnTo>
                <a:lnTo>
                  <a:pt x="0" y="4953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0" y="714240"/>
            <a:ext cx="1645560" cy="1700280"/>
          </a:xfrm>
          <a:custGeom>
            <a:avLst/>
            <a:gdLst>
              <a:gd name="textAreaLeft" fmla="*/ 0 w 1645560"/>
              <a:gd name="textAreaRight" fmla="*/ 1645920 w 1645560"/>
              <a:gd name="textAreaTop" fmla="*/ 0 h 1700280"/>
              <a:gd name="textAreaBottom" fmla="*/ 1700640 h 1700280"/>
            </a:gdLst>
            <a:ahLst/>
            <a:rect l="textAreaLeft" t="textAreaTop" r="textAreaRight" b="textAreaBottom"/>
            <a:pathLst>
              <a:path w="1645998" h="1700510">
                <a:moveTo>
                  <a:pt x="1645998" y="53906"/>
                </a:moveTo>
                <a:lnTo>
                  <a:pt x="0" y="1700510"/>
                </a:lnTo>
                <a:lnTo>
                  <a:pt x="0" y="1592698"/>
                </a:lnTo>
                <a:lnTo>
                  <a:pt x="1592174" y="0"/>
                </a:lnTo>
                <a:close/>
              </a:path>
            </a:pathLst>
          </a:custGeom>
          <a:solidFill>
            <a:srgbClr val="276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Image 0"/>
          <p:cNvSpPr/>
          <p:nvPr/>
        </p:nvSpPr>
        <p:spPr>
          <a:xfrm>
            <a:off x="2914920" y="4846320"/>
            <a:ext cx="4022640" cy="2010960"/>
          </a:xfrm>
          <a:custGeom>
            <a:avLst/>
            <a:gdLst>
              <a:gd name="textAreaLeft" fmla="*/ 0 w 4022640"/>
              <a:gd name="textAreaRight" fmla="*/ 36000000 w 4022640"/>
              <a:gd name="textAreaTop" fmla="*/ 0 h 2010960"/>
              <a:gd name="textAreaBottom" fmla="*/ 36000000 h 2010960"/>
            </a:gdLst>
            <a:ahLst/>
            <a:rect l="textAreaLeft" t="textAreaTop" r="textAreaRight" b="textAreaBottom"/>
            <a:pathLst>
              <a:path w="100000" h="100000">
                <a:moveTo>
                  <a:pt x="100000" y="100000"/>
                </a:moveTo>
                <a:lnTo>
                  <a:pt x="0" y="100000"/>
                </a:lnTo>
                <a:lnTo>
                  <a:pt x="5000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755640" y="2349360"/>
            <a:ext cx="4711320" cy="33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Движок</a:t>
            </a:r>
            <a:r>
              <a:rPr b="0" lang="en-US" sz="1300" spc="-1" strike="noStrike">
                <a:solidFill>
                  <a:srgbClr val="000000"/>
                </a:solidFill>
                <a:latin typeface="Montserrat"/>
                <a:ea typeface="Montserrat"/>
              </a:rPr>
              <a:t> — ядро: запускает систему и связывает подсистемы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Конфигурация</a:t>
            </a:r>
            <a:r>
              <a:rPr b="0" lang="en-US" sz="1300" spc="-1" strike="noStrike">
                <a:solidFill>
                  <a:srgbClr val="000000"/>
                </a:solidFill>
                <a:latin typeface="Montserrat"/>
                <a:ea typeface="Montserrat"/>
              </a:rPr>
              <a:t> — ключ API, имя модели, режим сети (.env)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Состояние</a:t>
            </a:r>
            <a:r>
              <a:rPr b="0" lang="en-US" sz="1300" spc="-1" strike="noStrike">
                <a:solidFill>
                  <a:srgbClr val="000000"/>
                </a:solidFill>
                <a:latin typeface="Montserrat"/>
                <a:ea typeface="Montserrat"/>
              </a:rPr>
              <a:t> — профиль, план курса, прогресс в локальном JSON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Генерация</a:t>
            </a:r>
            <a:r>
              <a:rPr b="0" lang="en-US" sz="1300" spc="-1" strike="noStrike">
                <a:solidFill>
                  <a:srgbClr val="000000"/>
                </a:solidFill>
                <a:latin typeface="Montserrat"/>
                <a:ea typeface="Montserrat"/>
              </a:rPr>
              <a:t> — единый фасад всех запросов к LLM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Оценивание</a:t>
            </a:r>
            <a:r>
              <a:rPr b="0" lang="en-US" sz="1300" spc="-1" strike="noStrike">
                <a:solidFill>
                  <a:srgbClr val="000000"/>
                </a:solidFill>
                <a:latin typeface="Montserrat"/>
                <a:ea typeface="Montserrat"/>
              </a:rPr>
              <a:t> — тесты и проверка ответов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Интерфейс</a:t>
            </a:r>
            <a:r>
              <a:rPr b="0" lang="en-US" sz="1300" spc="-1" strike="noStrike">
                <a:solidFill>
                  <a:srgbClr val="000000"/>
                </a:solidFill>
                <a:latin typeface="Montserrat"/>
                <a:ea typeface="Montserrat"/>
              </a:rPr>
              <a:t> — экраны и виджеты урока в Jupyter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Image 1" descr="preencoded.png"/>
          <p:cNvPicPr/>
          <p:nvPr/>
        </p:nvPicPr>
        <p:blipFill>
          <a:blip r:embed="rId2"/>
          <a:stretch/>
        </p:blipFill>
        <p:spPr>
          <a:xfrm>
            <a:off x="5752800" y="1504080"/>
            <a:ext cx="6095520" cy="4066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806760" y="361800"/>
            <a:ext cx="501552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Генерация контента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480600" y="0"/>
            <a:ext cx="75960" cy="2495160"/>
          </a:xfrm>
          <a:prstGeom prst="rect">
            <a:avLst/>
          </a:prstGeom>
          <a:solidFill>
            <a:srgbClr val="206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768240" y="1905120"/>
            <a:ext cx="4711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Отдельный вызов LLM под каждую задачу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768240" y="2991600"/>
            <a:ext cx="4711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Цепочка: план → урок → примеры → тест → вопрос → контрольное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768240" y="4077720"/>
            <a:ext cx="47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У каждого шага своя инструкция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Image 0" descr="preencoded.png"/>
          <p:cNvPicPr/>
          <p:nvPr/>
        </p:nvPicPr>
        <p:blipFill>
          <a:blip r:embed="rId1"/>
          <a:stretch/>
        </p:blipFill>
        <p:spPr>
          <a:xfrm>
            <a:off x="5968800" y="2158920"/>
            <a:ext cx="5841360" cy="328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853200" y="380880"/>
            <a:ext cx="8740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Промпты и контроль качества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"/>
          <p:cNvSpPr/>
          <p:nvPr/>
        </p:nvSpPr>
        <p:spPr>
          <a:xfrm rot="10800000">
            <a:off x="10458360" y="533520"/>
            <a:ext cx="1465920" cy="1465920"/>
          </a:xfrm>
          <a:custGeom>
            <a:avLst/>
            <a:gdLst>
              <a:gd name="textAreaLeft" fmla="*/ 0 w 1465920"/>
              <a:gd name="textAreaRight" fmla="*/ 1466280 w 1465920"/>
              <a:gd name="textAreaTop" fmla="*/ 0 h 1465920"/>
              <a:gd name="textAreaBottom" fmla="*/ 1466280 h 1465920"/>
            </a:gdLst>
            <a:ahLst/>
            <a:rect l="textAreaLeft" t="textAreaTop" r="textAreaRight" b="textAreaBottom"/>
            <a:pathLst>
              <a:path w="1466218" h="1466255">
                <a:moveTo>
                  <a:pt x="0" y="1466255"/>
                </a:moveTo>
                <a:lnTo>
                  <a:pt x="0" y="0"/>
                </a:lnTo>
                <a:lnTo>
                  <a:pt x="1466218" y="1466255"/>
                </a:lnTo>
                <a:close/>
              </a:path>
            </a:pathLst>
          </a:custGeom>
          <a:solidFill>
            <a:srgbClr val="c9c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10439280" y="0"/>
            <a:ext cx="1264680" cy="1238040"/>
          </a:xfrm>
          <a:custGeom>
            <a:avLst/>
            <a:gdLst>
              <a:gd name="textAreaLeft" fmla="*/ 0 w 1264680"/>
              <a:gd name="textAreaRight" fmla="*/ 1265040 w 1264680"/>
              <a:gd name="textAreaTop" fmla="*/ 0 h 1238040"/>
              <a:gd name="textAreaBottom" fmla="*/ 1238400 h 1238040"/>
            </a:gdLst>
            <a:ahLst/>
            <a:rect l="textAreaLeft" t="textAreaTop" r="textAreaRight" b="textAreaBottom"/>
            <a:pathLst>
              <a:path w="1265107" h="1238250">
                <a:moveTo>
                  <a:pt x="1238160" y="1238250"/>
                </a:moveTo>
                <a:lnTo>
                  <a:pt x="0" y="0"/>
                </a:lnTo>
                <a:lnTo>
                  <a:pt x="53894" y="0"/>
                </a:lnTo>
                <a:lnTo>
                  <a:pt x="1265107" y="12112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819000" y="2158920"/>
            <a:ext cx="3187440" cy="28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Сценарий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План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Примеры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Вопрос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Тест / контрольное задание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4375080" y="2158920"/>
            <a:ext cx="6997320" cy="28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Механизм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проверка JSON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синтаксис и правка ошибок, повтор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анализ текста урока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эталон / выполнение кода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 rot="5400000">
            <a:off x="17640" y="-17280"/>
            <a:ext cx="6805800" cy="6840360"/>
          </a:xfrm>
          <a:custGeom>
            <a:avLst/>
            <a:gdLst>
              <a:gd name="textAreaLeft" fmla="*/ 0 w 6805800"/>
              <a:gd name="textAreaRight" fmla="*/ 6806160 w 6805800"/>
              <a:gd name="textAreaTop" fmla="*/ 0 h 6840360"/>
              <a:gd name="textAreaBottom" fmla="*/ 6840720 h 6840360"/>
            </a:gdLst>
            <a:ahLst/>
            <a:rect l="textAreaLeft" t="textAreaTop" r="textAreaRight" b="textAreaBottom"/>
            <a:pathLst>
              <a:path w="6806236" h="6840835">
                <a:moveTo>
                  <a:pt x="0" y="6840835"/>
                </a:moveTo>
                <a:lnTo>
                  <a:pt x="0" y="0"/>
                </a:lnTo>
                <a:lnTo>
                  <a:pt x="6806236" y="6840835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Image 0"/>
          <p:cNvSpPr/>
          <p:nvPr/>
        </p:nvSpPr>
        <p:spPr>
          <a:xfrm>
            <a:off x="0" y="4536360"/>
            <a:ext cx="1603080" cy="2320920"/>
          </a:xfrm>
          <a:custGeom>
            <a:avLst/>
            <a:gdLst>
              <a:gd name="textAreaLeft" fmla="*/ 0 w 1603080"/>
              <a:gd name="textAreaRight" fmla="*/ 36000000 w 1603080"/>
              <a:gd name="textAreaTop" fmla="*/ 0 h 2320920"/>
              <a:gd name="textAreaBottom" fmla="*/ 36000000 h 2320920"/>
            </a:gdLst>
            <a:ahLst/>
            <a:rect l="textAreaLeft" t="textAreaTop" r="textAreaRight" b="textAreaBottom"/>
            <a:pathLst>
              <a:path w="100000" h="100000">
                <a:moveTo>
                  <a:pt x="55220" y="100000"/>
                </a:moveTo>
                <a:lnTo>
                  <a:pt x="0" y="100000"/>
                </a:lnTo>
                <a:lnTo>
                  <a:pt x="0" y="0"/>
                </a:lnTo>
                <a:lnTo>
                  <a:pt x="100000" y="6907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897480" y="576720"/>
            <a:ext cx="1123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1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Сценарий работы</a:t>
            </a:r>
            <a:endParaRPr b="0" lang="ru-RU" sz="5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"/>
          <p:cNvSpPr/>
          <p:nvPr/>
        </p:nvSpPr>
        <p:spPr>
          <a:xfrm>
            <a:off x="806040" y="1515600"/>
            <a:ext cx="11363040" cy="37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11261520" y="5954760"/>
            <a:ext cx="929520" cy="902880"/>
          </a:xfrm>
          <a:custGeom>
            <a:avLst/>
            <a:gdLst>
              <a:gd name="textAreaLeft" fmla="*/ 0 w 929520"/>
              <a:gd name="textAreaRight" fmla="*/ 929880 w 929520"/>
              <a:gd name="textAreaTop" fmla="*/ 0 h 902880"/>
              <a:gd name="textAreaBottom" fmla="*/ 903240 h 902880"/>
            </a:gdLst>
            <a:ahLst/>
            <a:rect l="textAreaLeft" t="textAreaTop" r="textAreaRight" b="textAreaBottom"/>
            <a:pathLst>
              <a:path w="929954" h="903188">
                <a:moveTo>
                  <a:pt x="0" y="903188"/>
                </a:moveTo>
                <a:lnTo>
                  <a:pt x="903171" y="0"/>
                </a:lnTo>
                <a:lnTo>
                  <a:pt x="929954" y="26825"/>
                </a:lnTo>
                <a:lnTo>
                  <a:pt x="929954" y="903188"/>
                </a:lnTo>
                <a:close/>
              </a:path>
            </a:pathLst>
          </a:custGeom>
          <a:solidFill>
            <a:srgbClr val="206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" name="Image 1" descr="preencoded.png"/>
          <p:cNvPicPr/>
          <p:nvPr/>
        </p:nvPicPr>
        <p:blipFill>
          <a:blip r:embed="rId2"/>
          <a:stretch/>
        </p:blipFill>
        <p:spPr>
          <a:xfrm>
            <a:off x="1905120" y="1778040"/>
            <a:ext cx="8381520" cy="471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0" y="0"/>
            <a:ext cx="1830600" cy="2652480"/>
          </a:xfrm>
          <a:custGeom>
            <a:avLst/>
            <a:gdLst>
              <a:gd name="textAreaLeft" fmla="*/ 0 w 1830600"/>
              <a:gd name="textAreaRight" fmla="*/ 1830960 w 1830600"/>
              <a:gd name="textAreaTop" fmla="*/ 0 h 2652480"/>
              <a:gd name="textAreaBottom" fmla="*/ 2652840 h 2652480"/>
            </a:gdLst>
            <a:ahLst/>
            <a:rect l="textAreaLeft" t="textAreaTop" r="textAreaRight" b="textAreaBottom"/>
            <a:pathLst>
              <a:path w="1831036" h="2653010">
                <a:moveTo>
                  <a:pt x="0" y="0"/>
                </a:moveTo>
                <a:lnTo>
                  <a:pt x="1009267" y="0"/>
                </a:lnTo>
                <a:lnTo>
                  <a:pt x="1831036" y="821903"/>
                </a:lnTo>
                <a:lnTo>
                  <a:pt x="0" y="26530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Image 0"/>
          <p:cNvSpPr/>
          <p:nvPr/>
        </p:nvSpPr>
        <p:spPr>
          <a:xfrm>
            <a:off x="0" y="0"/>
            <a:ext cx="2553840" cy="4800600"/>
          </a:xfrm>
          <a:custGeom>
            <a:avLst/>
            <a:gdLst>
              <a:gd name="textAreaLeft" fmla="*/ 0 w 2553840"/>
              <a:gd name="textAreaRight" fmla="*/ 36000000 w 2553840"/>
              <a:gd name="textAreaTop" fmla="*/ 0 h 4800600"/>
              <a:gd name="textAreaBottom" fmla="*/ 36000000 h 4800600"/>
            </a:gdLst>
            <a:ahLst/>
            <a:rect l="textAreaLeft" t="textAreaTop" r="textAreaRight" b="textAreaBottom"/>
            <a:pathLst>
              <a:path w="100000" h="100000">
                <a:moveTo>
                  <a:pt x="0" y="100000"/>
                </a:moveTo>
                <a:lnTo>
                  <a:pt x="0" y="0"/>
                </a:lnTo>
                <a:lnTo>
                  <a:pt x="12030" y="0"/>
                </a:lnTo>
                <a:lnTo>
                  <a:pt x="100000" y="4680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"/>
          <p:cNvSpPr/>
          <p:nvPr/>
        </p:nvSpPr>
        <p:spPr>
          <a:xfrm>
            <a:off x="9128880" y="2868120"/>
            <a:ext cx="3062160" cy="3989520"/>
          </a:xfrm>
          <a:custGeom>
            <a:avLst/>
            <a:gdLst>
              <a:gd name="textAreaLeft" fmla="*/ 0 w 3062160"/>
              <a:gd name="textAreaRight" fmla="*/ 3062520 w 3062160"/>
              <a:gd name="textAreaTop" fmla="*/ 0 h 3989520"/>
              <a:gd name="textAreaBottom" fmla="*/ 3989880 h 3989520"/>
            </a:gdLst>
            <a:ahLst/>
            <a:rect l="textAreaLeft" t="textAreaTop" r="textAreaRight" b="textAreaBottom"/>
            <a:pathLst>
              <a:path w="3062608" h="3989784">
                <a:moveTo>
                  <a:pt x="3062608" y="3989784"/>
                </a:moveTo>
                <a:lnTo>
                  <a:pt x="927051" y="3989784"/>
                </a:lnTo>
                <a:lnTo>
                  <a:pt x="0" y="3062558"/>
                </a:lnTo>
                <a:lnTo>
                  <a:pt x="3062608" y="0"/>
                </a:lnTo>
                <a:close/>
              </a:path>
            </a:pathLst>
          </a:custGeom>
          <a:solidFill>
            <a:srgbClr val="206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9573840" y="5622480"/>
            <a:ext cx="205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Интерактивный прототип в Jupyter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10616400" y="2214720"/>
            <a:ext cx="1575000" cy="1628640"/>
          </a:xfrm>
          <a:custGeom>
            <a:avLst/>
            <a:gdLst>
              <a:gd name="textAreaLeft" fmla="*/ 0 w 1575000"/>
              <a:gd name="textAreaRight" fmla="*/ 1575360 w 1575000"/>
              <a:gd name="textAreaTop" fmla="*/ 0 h 1628640"/>
              <a:gd name="textAreaBottom" fmla="*/ 1629000 h 1628640"/>
            </a:gdLst>
            <a:ahLst/>
            <a:rect l="textAreaLeft" t="textAreaTop" r="textAreaRight" b="textAreaBottom"/>
            <a:pathLst>
              <a:path w="1575257" h="1629073">
                <a:moveTo>
                  <a:pt x="1575257" y="107682"/>
                </a:moveTo>
                <a:lnTo>
                  <a:pt x="53874" y="1629073"/>
                </a:lnTo>
                <a:lnTo>
                  <a:pt x="0" y="1575150"/>
                </a:lnTo>
                <a:lnTo>
                  <a:pt x="1575257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2783520" y="345960"/>
            <a:ext cx="7759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Montserrat"/>
                <a:ea typeface="Montserrat"/>
              </a:rPr>
              <a:t>Запуск системы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819000" y="1905120"/>
            <a:ext cx="801324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Точка входа: ноутбук TeachAI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ОДНА стартовая ячейка запускает всю систему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Нужны файл .env с ключом OPENAI_API_KEY и Python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6"/>
          <p:cNvSpPr/>
          <p:nvPr/>
        </p:nvSpPr>
        <p:spPr>
          <a:xfrm>
            <a:off x="762120" y="3936960"/>
            <a:ext cx="7619400" cy="1142640"/>
          </a:xfrm>
          <a:prstGeom prst="roundRect">
            <a:avLst>
              <a:gd name="adj" fmla="val 3000"/>
            </a:avLst>
          </a:pr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7"/>
          <p:cNvSpPr/>
          <p:nvPr/>
        </p:nvSpPr>
        <p:spPr>
          <a:xfrm>
            <a:off x="914400" y="3914280"/>
            <a:ext cx="7314480" cy="1188360"/>
          </a:xfrm>
          <a:prstGeom prst="roundRect">
            <a:avLst>
              <a:gd name="adj" fmla="val 8077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1188720" y="4142880"/>
            <a:ext cx="6766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d73a49"/>
                </a:solidFill>
                <a:latin typeface="Consolas"/>
                <a:ea typeface="Consolas"/>
              </a:rPr>
              <a:t>from run_teachai import start_jupyter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d73a49"/>
                </a:solidFill>
                <a:latin typeface="Consolas"/>
                <a:ea typeface="Consolas"/>
              </a:rPr>
              <a:t>start_jupyter()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819000" y="5207040"/>
            <a:ext cx="811476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Montserrat"/>
                <a:ea typeface="Montserrat"/>
              </a:rPr>
              <a:t>Одна ячейка → весь интерфейс в Jupyter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0" y="0"/>
            <a:ext cx="1830600" cy="2652480"/>
          </a:xfrm>
          <a:custGeom>
            <a:avLst/>
            <a:gdLst>
              <a:gd name="textAreaLeft" fmla="*/ 0 w 1830600"/>
              <a:gd name="textAreaRight" fmla="*/ 1830960 w 1830600"/>
              <a:gd name="textAreaTop" fmla="*/ 0 h 2652480"/>
              <a:gd name="textAreaBottom" fmla="*/ 2652840 h 2652480"/>
            </a:gdLst>
            <a:ahLst/>
            <a:rect l="textAreaLeft" t="textAreaTop" r="textAreaRight" b="textAreaBottom"/>
            <a:pathLst>
              <a:path w="1831036" h="2653010">
                <a:moveTo>
                  <a:pt x="0" y="0"/>
                </a:moveTo>
                <a:lnTo>
                  <a:pt x="1009267" y="0"/>
                </a:lnTo>
                <a:lnTo>
                  <a:pt x="1831036" y="821903"/>
                </a:lnTo>
                <a:lnTo>
                  <a:pt x="0" y="26530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2783880" y="190440"/>
            <a:ext cx="9029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Montserrat"/>
                <a:ea typeface="Montserrat"/>
              </a:rPr>
              <a:t>Начало работы — профиль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 0" descr="preencoded.png"/>
          <p:cNvPicPr/>
          <p:nvPr/>
        </p:nvPicPr>
        <p:blipFill>
          <a:blip r:embed="rId1"/>
          <a:stretch/>
        </p:blipFill>
        <p:spPr>
          <a:xfrm>
            <a:off x="0" y="1117440"/>
            <a:ext cx="12191400" cy="5016240"/>
          </a:xfrm>
          <a:prstGeom prst="rect">
            <a:avLst/>
          </a:prstGeom>
          <a:ln w="0">
            <a:noFill/>
          </a:ln>
        </p:spPr>
      </p:pic>
      <p:sp>
        <p:nvSpPr>
          <p:cNvPr id="92" name="Text 2"/>
          <p:cNvSpPr/>
          <p:nvPr/>
        </p:nvSpPr>
        <p:spPr>
          <a:xfrm>
            <a:off x="819000" y="6172200"/>
            <a:ext cx="111625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Студент вводит имя, общее время, длительность занятия, стиль общения → «Сохранить настройки»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3"/>
          <p:cNvSpPr/>
          <p:nvPr/>
        </p:nvSpPr>
        <p:spPr>
          <a:xfrm>
            <a:off x="819000" y="6527880"/>
            <a:ext cx="1116252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Montserrat"/>
                <a:ea typeface="Montserrat"/>
              </a:rPr>
              <a:t>Числа на экране (31 час, 30 мин) — пример одной сессии, не настройки по умолчанию.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1830600" cy="2652480"/>
          </a:xfrm>
          <a:custGeom>
            <a:avLst/>
            <a:gdLst>
              <a:gd name="textAreaLeft" fmla="*/ 0 w 1830600"/>
              <a:gd name="textAreaRight" fmla="*/ 1830960 w 1830600"/>
              <a:gd name="textAreaTop" fmla="*/ 0 h 2652480"/>
              <a:gd name="textAreaBottom" fmla="*/ 2652840 h 2652480"/>
            </a:gdLst>
            <a:ahLst/>
            <a:rect l="textAreaLeft" t="textAreaTop" r="textAreaRight" b="textAreaBottom"/>
            <a:pathLst>
              <a:path w="1831036" h="2653010">
                <a:moveTo>
                  <a:pt x="0" y="0"/>
                </a:moveTo>
                <a:lnTo>
                  <a:pt x="1009267" y="0"/>
                </a:lnTo>
                <a:lnTo>
                  <a:pt x="1831036" y="821903"/>
                </a:lnTo>
                <a:lnTo>
                  <a:pt x="0" y="26530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2783880" y="190440"/>
            <a:ext cx="9029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Montserrat"/>
                <a:ea typeface="Montserrat"/>
              </a:rPr>
              <a:t>Начало работы — выбор курса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Image 0" descr="preencoded.png"/>
          <p:cNvPicPr/>
          <p:nvPr/>
        </p:nvPicPr>
        <p:blipFill>
          <a:blip r:embed="rId1"/>
          <a:stretch/>
        </p:blipFill>
        <p:spPr>
          <a:xfrm>
            <a:off x="0" y="1117440"/>
            <a:ext cx="12191400" cy="5016240"/>
          </a:xfrm>
          <a:prstGeom prst="rect">
            <a:avLst/>
          </a:prstGeom>
          <a:ln w="0">
            <a:noFill/>
          </a:ln>
        </p:spPr>
      </p:pic>
      <p:sp>
        <p:nvSpPr>
          <p:cNvPr id="97" name="Text 2"/>
          <p:cNvSpPr/>
          <p:nvPr/>
        </p:nvSpPr>
        <p:spPr>
          <a:xfrm>
            <a:off x="819000" y="6172200"/>
            <a:ext cx="111625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Курс выбирается из каталога; рядом показываются описание и требования курса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1830600" cy="2652480"/>
          </a:xfrm>
          <a:custGeom>
            <a:avLst/>
            <a:gdLst>
              <a:gd name="textAreaLeft" fmla="*/ 0 w 1830600"/>
              <a:gd name="textAreaRight" fmla="*/ 1830960 w 1830600"/>
              <a:gd name="textAreaTop" fmla="*/ 0 h 2652480"/>
              <a:gd name="textAreaBottom" fmla="*/ 2652840 h 2652480"/>
            </a:gdLst>
            <a:ahLst/>
            <a:rect l="textAreaLeft" t="textAreaTop" r="textAreaRight" b="textAreaBottom"/>
            <a:pathLst>
              <a:path w="1831036" h="2653010">
                <a:moveTo>
                  <a:pt x="0" y="0"/>
                </a:moveTo>
                <a:lnTo>
                  <a:pt x="1009267" y="0"/>
                </a:lnTo>
                <a:lnTo>
                  <a:pt x="1831036" y="821903"/>
                </a:lnTo>
                <a:lnTo>
                  <a:pt x="0" y="26530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2783880" y="190440"/>
            <a:ext cx="9029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Montserrat"/>
                <a:ea typeface="Montserrat"/>
              </a:rPr>
              <a:t>Начало работы — старт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Image 0" descr="preencoded.png"/>
          <p:cNvPicPr/>
          <p:nvPr/>
        </p:nvPicPr>
        <p:blipFill>
          <a:blip r:embed="rId1"/>
          <a:stretch/>
        </p:blipFill>
        <p:spPr>
          <a:xfrm>
            <a:off x="0" y="1117440"/>
            <a:ext cx="12191400" cy="5016240"/>
          </a:xfrm>
          <a:prstGeom prst="rect">
            <a:avLst/>
          </a:prstGeom>
          <a:ln w="0">
            <a:noFill/>
          </a:ln>
        </p:spPr>
      </p:pic>
      <p:sp>
        <p:nvSpPr>
          <p:cNvPr id="101" name="Text 2"/>
          <p:cNvSpPr/>
          <p:nvPr/>
        </p:nvSpPr>
        <p:spPr>
          <a:xfrm>
            <a:off x="819000" y="6172200"/>
            <a:ext cx="111625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Сводка настроек обучения → кнопка «Начать курс»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 rot="16200000">
            <a:off x="8152920" y="2819520"/>
            <a:ext cx="4028040" cy="4048920"/>
          </a:xfrm>
          <a:custGeom>
            <a:avLst/>
            <a:gdLst>
              <a:gd name="textAreaLeft" fmla="*/ 0 w 4028040"/>
              <a:gd name="textAreaRight" fmla="*/ 4028400 w 4028040"/>
              <a:gd name="textAreaTop" fmla="*/ 0 h 4048920"/>
              <a:gd name="textAreaBottom" fmla="*/ 4049280 h 4048920"/>
            </a:gdLst>
            <a:ahLst/>
            <a:rect l="textAreaLeft" t="textAreaTop" r="textAreaRight" b="textAreaBottom"/>
            <a:pathLst>
              <a:path w="4028577" h="4049117">
                <a:moveTo>
                  <a:pt x="0" y="4049117"/>
                </a:moveTo>
                <a:lnTo>
                  <a:pt x="0" y="0"/>
                </a:lnTo>
                <a:lnTo>
                  <a:pt x="4028577" y="4049117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941400" y="451080"/>
            <a:ext cx="10308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5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Сравнение моделей (методика)</a:t>
            </a:r>
            <a:endParaRPr b="0" lang="ru-RU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2"/>
          <p:cNvSpPr/>
          <p:nvPr/>
        </p:nvSpPr>
        <p:spPr>
          <a:xfrm>
            <a:off x="849960" y="1476360"/>
            <a:ext cx="10491120" cy="37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666720" y="1905120"/>
            <a:ext cx="5219280" cy="32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Объект: генерация урока по одному промпту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5 моделей, 5 тем «Основы Python», 13.09.2026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Автофильтр формы 25/25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3 судьи разных семейств, слепые метки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Рубрика 0–10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Image 0" descr="preencoded.png"/>
          <p:cNvPicPr/>
          <p:nvPr/>
        </p:nvPicPr>
        <p:blipFill>
          <a:blip r:embed="rId1"/>
          <a:stretch/>
        </p:blipFill>
        <p:spPr>
          <a:xfrm>
            <a:off x="6222960" y="2031840"/>
            <a:ext cx="5460480" cy="3072960"/>
          </a:xfrm>
          <a:prstGeom prst="rect">
            <a:avLst/>
          </a:prstGeom>
          <a:ln w="0">
            <a:noFill/>
          </a:ln>
        </p:spPr>
      </p:pic>
      <p:sp>
        <p:nvSpPr>
          <p:cNvPr id="107" name="Text 4"/>
          <p:cNvSpPr/>
          <p:nvPr/>
        </p:nvSpPr>
        <p:spPr>
          <a:xfrm>
            <a:off x="666720" y="5969160"/>
            <a:ext cx="1146744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Montserrat"/>
                <a:ea typeface="Montserrat"/>
              </a:rPr>
              <a:t>Судьям текст обрезали до ~3500 символов; цена и скорость — по полному ответу.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 rot="16200000">
            <a:off x="9536760" y="4203720"/>
            <a:ext cx="2647440" cy="2660760"/>
          </a:xfrm>
          <a:custGeom>
            <a:avLst/>
            <a:gdLst>
              <a:gd name="textAreaLeft" fmla="*/ 0 w 2647440"/>
              <a:gd name="textAreaRight" fmla="*/ 2647800 w 2647440"/>
              <a:gd name="textAreaTop" fmla="*/ 0 h 2660760"/>
              <a:gd name="textAreaBottom" fmla="*/ 2661120 h 2660760"/>
            </a:gdLst>
            <a:ahLst/>
            <a:rect l="textAreaLeft" t="textAreaTop" r="textAreaRight" b="textAreaBottom"/>
            <a:pathLst>
              <a:path w="2647685" h="2661245">
                <a:moveTo>
                  <a:pt x="0" y="2661245"/>
                </a:moveTo>
                <a:lnTo>
                  <a:pt x="0" y="0"/>
                </a:lnTo>
                <a:lnTo>
                  <a:pt x="2647685" y="2661245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"/>
          <p:cNvSpPr/>
          <p:nvPr/>
        </p:nvSpPr>
        <p:spPr>
          <a:xfrm rot="5400000">
            <a:off x="14400" y="-14040"/>
            <a:ext cx="5648040" cy="5676120"/>
          </a:xfrm>
          <a:custGeom>
            <a:avLst/>
            <a:gdLst>
              <a:gd name="textAreaLeft" fmla="*/ 0 w 5648040"/>
              <a:gd name="textAreaRight" fmla="*/ 5648400 w 5648040"/>
              <a:gd name="textAreaTop" fmla="*/ 0 h 5676120"/>
              <a:gd name="textAreaBottom" fmla="*/ 5676480 h 5676120"/>
            </a:gdLst>
            <a:ahLst/>
            <a:rect l="textAreaLeft" t="textAreaTop" r="textAreaRight" b="textAreaBottom"/>
            <a:pathLst>
              <a:path w="5648283" h="5676602">
                <a:moveTo>
                  <a:pt x="0" y="5676602"/>
                </a:moveTo>
                <a:lnTo>
                  <a:pt x="0" y="0"/>
                </a:lnTo>
                <a:lnTo>
                  <a:pt x="5648283" y="5676602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91440" y="427320"/>
            <a:ext cx="1200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2763f9"/>
                </a:solidFill>
                <a:latin typeface="Montserrat ExtraBold"/>
                <a:ea typeface="Montserrat ExtraBold"/>
              </a:rPr>
              <a:t>Результаты и выбор модели</a:t>
            </a:r>
            <a:endParaRPr b="0" lang="ru-RU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3"/>
          <p:cNvSpPr/>
          <p:nvPr/>
        </p:nvSpPr>
        <p:spPr>
          <a:xfrm>
            <a:off x="247680" y="1306440"/>
            <a:ext cx="11704680" cy="37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565200" y="5334120"/>
            <a:ext cx="1106100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800" spc="-1" strike="noStrike">
                <a:solidFill>
                  <a:srgbClr val="2064fb"/>
                </a:solidFill>
                <a:latin typeface="Montserrat"/>
                <a:ea typeface="Montserrat"/>
              </a:rPr>
              <a:t>Вердикт: в системе оставляем gpt-4o-mini (лучший балл/₽ и скорость).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2064fb"/>
                </a:solidFill>
                <a:latin typeface="Montserrat"/>
                <a:ea typeface="Montserrat"/>
              </a:rPr>
              <a:t>Апгрейд при бюджете — gpt-5.6-luna.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5"/>
          <p:cNvSpPr/>
          <p:nvPr/>
        </p:nvSpPr>
        <p:spPr>
          <a:xfrm>
            <a:off x="317520" y="3611880"/>
            <a:ext cx="11048400" cy="558360"/>
          </a:xfrm>
          <a:prstGeom prst="roundRect">
            <a:avLst>
              <a:gd name="adj" fmla="val 6136"/>
            </a:avLst>
          </a:pr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565200" y="1625760"/>
            <a:ext cx="3060360" cy="31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Модель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gpt-5.6-luna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gemini-3.5-flash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gpt-5.6-terra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gpt-4o-mini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claude-5-sonnet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7"/>
          <p:cNvSpPr/>
          <p:nvPr/>
        </p:nvSpPr>
        <p:spPr>
          <a:xfrm>
            <a:off x="3867120" y="1625760"/>
            <a:ext cx="1536480" cy="31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Балл 0–10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8.40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8.33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8.27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7.73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7.67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5645160" y="1625760"/>
            <a:ext cx="1282320" cy="31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₽</a:t>
            </a:r>
            <a:r>
              <a:rPr b="1" lang="en-US" sz="17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/урок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0.88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6.53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8.78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0.53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7.57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9"/>
          <p:cNvSpPr/>
          <p:nvPr/>
        </p:nvSpPr>
        <p:spPr>
          <a:xfrm>
            <a:off x="7169040" y="1625760"/>
            <a:ext cx="1282320" cy="31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Балл/₽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9.57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1.28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0.94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14.72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1.01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0"/>
          <p:cNvSpPr/>
          <p:nvPr/>
        </p:nvSpPr>
        <p:spPr>
          <a:xfrm>
            <a:off x="8692920" y="1625760"/>
            <a:ext cx="2679120" cy="31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2064fb"/>
                </a:solidFill>
                <a:latin typeface="Montserrat Bold"/>
                <a:ea typeface="Montserrat Bold"/>
              </a:rPr>
              <a:t>Latency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~84 с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~21 с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~82 с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2049"/>
              </a:spcAft>
              <a:tabLst>
                <a:tab algn="l" pos="0"/>
              </a:tabLst>
            </a:pPr>
            <a:r>
              <a:rPr b="1" lang="en-US" sz="17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~12 с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~37 с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Image 0"/>
          <p:cNvSpPr/>
          <p:nvPr/>
        </p:nvSpPr>
        <p:spPr>
          <a:xfrm>
            <a:off x="419760" y="5483880"/>
            <a:ext cx="2720880" cy="1373760"/>
          </a:xfrm>
          <a:custGeom>
            <a:avLst/>
            <a:gdLst>
              <a:gd name="textAreaLeft" fmla="*/ 0 w 2720880"/>
              <a:gd name="textAreaRight" fmla="*/ 36000000 w 2720880"/>
              <a:gd name="textAreaTop" fmla="*/ 0 h 1373760"/>
              <a:gd name="textAreaBottom" fmla="*/ 36000000 h 1373760"/>
            </a:gdLst>
            <a:ahLst/>
            <a:rect l="textAreaLeft" t="textAreaTop" r="textAreaRight" b="textAreaBottom"/>
            <a:pathLst>
              <a:path w="100000" h="100000">
                <a:moveTo>
                  <a:pt x="0" y="100000"/>
                </a:moveTo>
                <a:lnTo>
                  <a:pt x="50000" y="0"/>
                </a:lnTo>
                <a:lnTo>
                  <a:pt x="100000" y="10000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Image 1"/>
          <p:cNvSpPr/>
          <p:nvPr/>
        </p:nvSpPr>
        <p:spPr>
          <a:xfrm>
            <a:off x="9715320" y="0"/>
            <a:ext cx="2476080" cy="2500560"/>
          </a:xfrm>
          <a:custGeom>
            <a:avLst/>
            <a:gdLst>
              <a:gd name="textAreaLeft" fmla="*/ 0 w 2476080"/>
              <a:gd name="textAreaRight" fmla="*/ 36000000 w 2476080"/>
              <a:gd name="textAreaTop" fmla="*/ 0 h 2500560"/>
              <a:gd name="textAreaBottom" fmla="*/ 36000000 h 2500560"/>
            </a:gdLst>
            <a:ahLst/>
            <a:rect l="textAreaLeft" t="textAreaTop" r="textAreaRight" b="textAreaBottom"/>
            <a:pathLst>
              <a:path w="100000" h="100000">
                <a:moveTo>
                  <a:pt x="100000" y="100000"/>
                </a:moveTo>
                <a:lnTo>
                  <a:pt x="100000" y="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Image 2"/>
          <p:cNvSpPr/>
          <p:nvPr/>
        </p:nvSpPr>
        <p:spPr>
          <a:xfrm>
            <a:off x="0" y="5164560"/>
            <a:ext cx="2482200" cy="1693080"/>
          </a:xfrm>
          <a:custGeom>
            <a:avLst/>
            <a:gdLst>
              <a:gd name="textAreaLeft" fmla="*/ 0 w 2482200"/>
              <a:gd name="textAreaRight" fmla="*/ 36000000 w 2482200"/>
              <a:gd name="textAreaTop" fmla="*/ 0 h 1693080"/>
              <a:gd name="textAreaBottom" fmla="*/ 36000000 h 1693080"/>
            </a:gdLst>
            <a:ahLst/>
            <a:rect l="textAreaLeft" t="textAreaTop" r="textAreaRight" b="textAreaBottom"/>
            <a:pathLst>
              <a:path w="100000" h="100000">
                <a:moveTo>
                  <a:pt x="100000" y="100000"/>
                </a:moveTo>
                <a:lnTo>
                  <a:pt x="0" y="100000"/>
                </a:lnTo>
                <a:lnTo>
                  <a:pt x="0" y="46600"/>
                </a:lnTo>
                <a:lnTo>
                  <a:pt x="3179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0"/>
          <p:cNvSpPr/>
          <p:nvPr/>
        </p:nvSpPr>
        <p:spPr>
          <a:xfrm>
            <a:off x="668520" y="424080"/>
            <a:ext cx="1117980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50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Технологический стек</a:t>
            </a: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"/>
          <p:cNvSpPr/>
          <p:nvPr/>
        </p:nvSpPr>
        <p:spPr>
          <a:xfrm>
            <a:off x="667080" y="1352520"/>
            <a:ext cx="11523960" cy="37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2"/>
          <p:cNvSpPr/>
          <p:nvPr/>
        </p:nvSpPr>
        <p:spPr>
          <a:xfrm>
            <a:off x="717480" y="1714680"/>
            <a:ext cx="10680120" cy="18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Python, Jupyter, ipywidgets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LLM через API, в продукте gpt-4o-mini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Конфигурация через .env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JSON для состояния сессии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Отдельный ноутбук сравнения моделей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 rot="5400000">
            <a:off x="17640" y="-17280"/>
            <a:ext cx="6805800" cy="6840360"/>
          </a:xfrm>
          <a:custGeom>
            <a:avLst/>
            <a:gdLst>
              <a:gd name="textAreaLeft" fmla="*/ 0 w 6805800"/>
              <a:gd name="textAreaRight" fmla="*/ 6806160 w 6805800"/>
              <a:gd name="textAreaTop" fmla="*/ 0 h 6840360"/>
              <a:gd name="textAreaBottom" fmla="*/ 6840720 h 6840360"/>
            </a:gdLst>
            <a:ahLst/>
            <a:rect l="textAreaLeft" t="textAreaTop" r="textAreaRight" b="textAreaBottom"/>
            <a:pathLst>
              <a:path w="6806236" h="6840835">
                <a:moveTo>
                  <a:pt x="0" y="6840835"/>
                </a:moveTo>
                <a:lnTo>
                  <a:pt x="0" y="0"/>
                </a:lnTo>
                <a:lnTo>
                  <a:pt x="6806236" y="6840835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Image 0"/>
          <p:cNvSpPr/>
          <p:nvPr/>
        </p:nvSpPr>
        <p:spPr>
          <a:xfrm>
            <a:off x="0" y="4114080"/>
            <a:ext cx="1776960" cy="2743560"/>
          </a:xfrm>
          <a:custGeom>
            <a:avLst/>
            <a:gdLst>
              <a:gd name="textAreaLeft" fmla="*/ 0 w 1776960"/>
              <a:gd name="textAreaRight" fmla="*/ 36000000 w 1776960"/>
              <a:gd name="textAreaTop" fmla="*/ 0 h 2743560"/>
              <a:gd name="textAreaBottom" fmla="*/ 36000000 h 2743560"/>
            </a:gdLst>
            <a:ahLst/>
            <a:rect l="textAreaLeft" t="textAreaTop" r="textAreaRight" b="textAreaBottom"/>
            <a:pathLst>
              <a:path w="100000" h="100000">
                <a:moveTo>
                  <a:pt x="45610" y="100000"/>
                </a:moveTo>
                <a:lnTo>
                  <a:pt x="0" y="100000"/>
                </a:lnTo>
                <a:lnTo>
                  <a:pt x="0" y="0"/>
                </a:lnTo>
                <a:lnTo>
                  <a:pt x="100000" y="6477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668520" y="424080"/>
            <a:ext cx="11179800" cy="73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42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Предобученная LLM без дообучения</a:t>
            </a:r>
            <a:endParaRPr b="0" lang="ru-RU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667080" y="1352520"/>
            <a:ext cx="11523960" cy="37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1326960" y="1650960"/>
            <a:ext cx="10299240" cy="14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Задача — система обучения, не тренировка нейросети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Промпты + валидация + сравнение готовых моделей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Без GPU и размеченного корпуса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Согласовано с куратором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4"/>
          <p:cNvSpPr/>
          <p:nvPr/>
        </p:nvSpPr>
        <p:spPr>
          <a:xfrm>
            <a:off x="1260000" y="5128200"/>
            <a:ext cx="2666520" cy="315000"/>
          </a:xfrm>
          <a:prstGeom prst="roundRect">
            <a:avLst>
              <a:gd name="adj" fmla="val 10871"/>
            </a:avLst>
          </a:prstGeom>
          <a:solidFill>
            <a:srgbClr val="206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1022400" y="5128200"/>
            <a:ext cx="316188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Montserrat"/>
                <a:ea typeface="Montserrat"/>
              </a:rPr>
              <a:t>Готовая LLM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6"/>
          <p:cNvSpPr/>
          <p:nvPr/>
        </p:nvSpPr>
        <p:spPr>
          <a:xfrm>
            <a:off x="4762440" y="4952880"/>
            <a:ext cx="2666520" cy="630360"/>
          </a:xfrm>
          <a:prstGeom prst="roundRect">
            <a:avLst>
              <a:gd name="adj" fmla="val 5436"/>
            </a:avLst>
          </a:prstGeom>
          <a:solidFill>
            <a:srgbClr val="206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4819680" y="4952880"/>
            <a:ext cx="255240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Montserrat"/>
                <a:ea typeface="Montserrat"/>
              </a:rPr>
              <a:t>Промпты и код TeachAI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8"/>
          <p:cNvSpPr/>
          <p:nvPr/>
        </p:nvSpPr>
        <p:spPr>
          <a:xfrm>
            <a:off x="8254800" y="5128200"/>
            <a:ext cx="2666520" cy="315000"/>
          </a:xfrm>
          <a:prstGeom prst="roundRect">
            <a:avLst>
              <a:gd name="adj" fmla="val 10871"/>
            </a:avLst>
          </a:prstGeom>
          <a:solidFill>
            <a:srgbClr val="206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7998120" y="5085000"/>
            <a:ext cx="316188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Montserrat"/>
                <a:ea typeface="Montserrat"/>
              </a:rPr>
              <a:t>Контент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3752640" y="4952880"/>
            <a:ext cx="125676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→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1"/>
          <p:cNvSpPr/>
          <p:nvPr/>
        </p:nvSpPr>
        <p:spPr>
          <a:xfrm>
            <a:off x="7245000" y="4952880"/>
            <a:ext cx="125676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→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0" y="0"/>
            <a:ext cx="3028680" cy="3013200"/>
          </a:xfrm>
          <a:custGeom>
            <a:avLst/>
            <a:gdLst>
              <a:gd name="textAreaLeft" fmla="*/ 0 w 3028680"/>
              <a:gd name="textAreaRight" fmla="*/ 3029040 w 3028680"/>
              <a:gd name="textAreaTop" fmla="*/ 0 h 3013200"/>
              <a:gd name="textAreaBottom" fmla="*/ 3013560 h 3013200"/>
            </a:gdLst>
            <a:ahLst/>
            <a:rect l="textAreaLeft" t="textAreaTop" r="textAreaRight" b="textAreaBottom"/>
            <a:pathLst>
              <a:path w="3028874" h="3013670">
                <a:moveTo>
                  <a:pt x="0" y="0"/>
                </a:moveTo>
                <a:lnTo>
                  <a:pt x="1514437" y="0"/>
                </a:lnTo>
                <a:lnTo>
                  <a:pt x="3028874" y="0"/>
                </a:lnTo>
                <a:lnTo>
                  <a:pt x="0" y="3013670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"/>
          <p:cNvSpPr/>
          <p:nvPr/>
        </p:nvSpPr>
        <p:spPr>
          <a:xfrm rot="16200000">
            <a:off x="8305920" y="2964960"/>
            <a:ext cx="3885480" cy="3885480"/>
          </a:xfrm>
          <a:custGeom>
            <a:avLst/>
            <a:gdLst>
              <a:gd name="textAreaLeft" fmla="*/ 0 w 3885480"/>
              <a:gd name="textAreaRight" fmla="*/ 3885840 w 3885480"/>
              <a:gd name="textAreaTop" fmla="*/ 0 h 3885480"/>
              <a:gd name="textAreaBottom" fmla="*/ 3885840 h 3885480"/>
            </a:gdLst>
            <a:ahLst/>
            <a:rect l="textAreaLeft" t="textAreaTop" r="textAreaRight" b="textAreaBottom"/>
            <a:pathLst>
              <a:path w="3885805" h="3885902">
                <a:moveTo>
                  <a:pt x="0" y="3885902"/>
                </a:moveTo>
                <a:lnTo>
                  <a:pt x="0" y="0"/>
                </a:lnTo>
                <a:lnTo>
                  <a:pt x="3885805" y="3885902"/>
                </a:lnTo>
                <a:close/>
              </a:path>
            </a:pathLst>
          </a:custGeom>
          <a:solidFill>
            <a:srgbClr val="eef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"/>
          <p:cNvSpPr/>
          <p:nvPr/>
        </p:nvSpPr>
        <p:spPr>
          <a:xfrm>
            <a:off x="9109440" y="5302440"/>
            <a:ext cx="1608840" cy="1555200"/>
          </a:xfrm>
          <a:custGeom>
            <a:avLst/>
            <a:gdLst>
              <a:gd name="textAreaLeft" fmla="*/ 0 w 1608840"/>
              <a:gd name="textAreaRight" fmla="*/ 1609200 w 1608840"/>
              <a:gd name="textAreaTop" fmla="*/ 0 h 1555200"/>
              <a:gd name="textAreaBottom" fmla="*/ 1555560 h 1555200"/>
            </a:gdLst>
            <a:ahLst/>
            <a:rect l="textAreaLeft" t="textAreaTop" r="textAreaRight" b="textAreaBottom"/>
            <a:pathLst>
              <a:path w="1609288" h="1555452">
                <a:moveTo>
                  <a:pt x="1501466" y="1555452"/>
                </a:moveTo>
                <a:lnTo>
                  <a:pt x="0" y="53819"/>
                </a:lnTo>
                <a:lnTo>
                  <a:pt x="53911" y="0"/>
                </a:lnTo>
                <a:lnTo>
                  <a:pt x="1609288" y="1555452"/>
                </a:lnTo>
                <a:close/>
              </a:path>
            </a:pathLst>
          </a:custGeom>
          <a:solidFill>
            <a:srgbClr val="c9c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7553880" y="5302440"/>
            <a:ext cx="1608840" cy="1555200"/>
          </a:xfrm>
          <a:custGeom>
            <a:avLst/>
            <a:gdLst>
              <a:gd name="textAreaLeft" fmla="*/ 0 w 1608840"/>
              <a:gd name="textAreaRight" fmla="*/ 1609200 w 1608840"/>
              <a:gd name="textAreaTop" fmla="*/ 0 h 1555200"/>
              <a:gd name="textAreaBottom" fmla="*/ 1555560 h 1555200"/>
            </a:gdLst>
            <a:ahLst/>
            <a:rect l="textAreaLeft" t="textAreaTop" r="textAreaRight" b="textAreaBottom"/>
            <a:pathLst>
              <a:path w="1609288" h="1555452">
                <a:moveTo>
                  <a:pt x="1609288" y="53819"/>
                </a:moveTo>
                <a:lnTo>
                  <a:pt x="107822" y="1555452"/>
                </a:lnTo>
                <a:lnTo>
                  <a:pt x="0" y="1555452"/>
                </a:lnTo>
                <a:lnTo>
                  <a:pt x="1555377" y="0"/>
                </a:lnTo>
                <a:close/>
              </a:path>
            </a:pathLst>
          </a:custGeom>
          <a:solidFill>
            <a:srgbClr val="c9c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668520" y="424080"/>
            <a:ext cx="1117980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50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Обеспечение качества</a:t>
            </a: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667080" y="1352520"/>
            <a:ext cx="11523960" cy="37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717480" y="1714680"/>
            <a:ext cx="5219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2064fb"/>
                </a:solidFill>
                <a:latin typeface="Montserrat"/>
                <a:ea typeface="Montserrat"/>
              </a:rPr>
              <a:t>В системе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717480" y="2476440"/>
            <a:ext cx="5219280" cy="18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JSON-план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Синтаксис примеров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Фильтр вопросов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Кэш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Retry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8"/>
          <p:cNvSpPr/>
          <p:nvPr/>
        </p:nvSpPr>
        <p:spPr>
          <a:xfrm>
            <a:off x="6406920" y="1714680"/>
            <a:ext cx="5219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2064fb"/>
                </a:solidFill>
                <a:latin typeface="Montserrat"/>
                <a:ea typeface="Montserrat"/>
              </a:rPr>
              <a:t>В эксперименте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6406920" y="2476440"/>
            <a:ext cx="521928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Рубрика судей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Format gate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Цена и скорость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0" y="74520"/>
            <a:ext cx="8676720" cy="6783120"/>
          </a:xfrm>
          <a:custGeom>
            <a:avLst/>
            <a:gdLst>
              <a:gd name="textAreaLeft" fmla="*/ 0 w 8676720"/>
              <a:gd name="textAreaRight" fmla="*/ 8677080 w 8676720"/>
              <a:gd name="textAreaTop" fmla="*/ 0 h 6783120"/>
              <a:gd name="textAreaBottom" fmla="*/ 6783480 h 6783120"/>
            </a:gdLst>
            <a:ahLst/>
            <a:rect l="textAreaLeft" t="textAreaTop" r="textAreaRight" b="textAreaBottom"/>
            <a:pathLst>
              <a:path w="8677256" h="6783487">
                <a:moveTo>
                  <a:pt x="1894245" y="6783487"/>
                </a:moveTo>
                <a:lnTo>
                  <a:pt x="232550" y="6783487"/>
                </a:lnTo>
                <a:lnTo>
                  <a:pt x="0" y="6550813"/>
                </a:lnTo>
                <a:lnTo>
                  <a:pt x="0" y="0"/>
                </a:lnTo>
                <a:lnTo>
                  <a:pt x="867725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"/>
          <p:cNvSpPr/>
          <p:nvPr/>
        </p:nvSpPr>
        <p:spPr>
          <a:xfrm>
            <a:off x="4911120" y="0"/>
            <a:ext cx="7279920" cy="6857640"/>
          </a:xfrm>
          <a:custGeom>
            <a:avLst/>
            <a:gdLst>
              <a:gd name="textAreaLeft" fmla="*/ 0 w 7279920"/>
              <a:gd name="textAreaRight" fmla="*/ 7280280 w 727992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7280391" h="6858000">
                <a:moveTo>
                  <a:pt x="7280391" y="0"/>
                </a:moveTo>
                <a:lnTo>
                  <a:pt x="7280391" y="6858000"/>
                </a:lnTo>
                <a:lnTo>
                  <a:pt x="685740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Image 0"/>
          <p:cNvSpPr/>
          <p:nvPr/>
        </p:nvSpPr>
        <p:spPr>
          <a:xfrm>
            <a:off x="3116880" y="2819520"/>
            <a:ext cx="8067960" cy="4037760"/>
          </a:xfrm>
          <a:custGeom>
            <a:avLst/>
            <a:gdLst>
              <a:gd name="textAreaLeft" fmla="*/ 0 w 8067960"/>
              <a:gd name="textAreaRight" fmla="*/ 36000000 w 8067960"/>
              <a:gd name="textAreaTop" fmla="*/ 0 h 4037760"/>
              <a:gd name="textAreaBottom" fmla="*/ 36000000 h 4037760"/>
            </a:gdLst>
            <a:ahLst/>
            <a:rect l="textAreaLeft" t="textAreaTop" r="textAreaRight" b="textAreaBottom"/>
            <a:pathLst>
              <a:path w="100000" h="100000">
                <a:moveTo>
                  <a:pt x="0" y="100000"/>
                </a:moveTo>
                <a:lnTo>
                  <a:pt x="50000" y="0"/>
                </a:lnTo>
                <a:lnTo>
                  <a:pt x="100000" y="10000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Image 1"/>
          <p:cNvSpPr/>
          <p:nvPr/>
        </p:nvSpPr>
        <p:spPr>
          <a:xfrm>
            <a:off x="3112920" y="2819520"/>
            <a:ext cx="8075880" cy="4037760"/>
          </a:xfrm>
          <a:custGeom>
            <a:avLst/>
            <a:gdLst>
              <a:gd name="textAreaLeft" fmla="*/ 0 w 8075880"/>
              <a:gd name="textAreaRight" fmla="*/ 36000000 w 8075880"/>
              <a:gd name="textAreaTop" fmla="*/ 0 h 4037760"/>
              <a:gd name="textAreaBottom" fmla="*/ 36000000 h 4037760"/>
            </a:gdLst>
            <a:ahLst/>
            <a:rect l="textAreaLeft" t="textAreaTop" r="textAreaRight" b="textAreaBottom"/>
            <a:pathLst>
              <a:path w="100000" h="100000">
                <a:moveTo>
                  <a:pt x="0" y="100000"/>
                </a:moveTo>
                <a:lnTo>
                  <a:pt x="50000" y="0"/>
                </a:lnTo>
                <a:lnTo>
                  <a:pt x="100000" y="10000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5589360" y="0"/>
            <a:ext cx="6601680" cy="6602040"/>
          </a:xfrm>
          <a:custGeom>
            <a:avLst/>
            <a:gdLst>
              <a:gd name="textAreaLeft" fmla="*/ 0 w 6601680"/>
              <a:gd name="textAreaRight" fmla="*/ 6602040 w 6601680"/>
              <a:gd name="textAreaTop" fmla="*/ 0 h 6602040"/>
              <a:gd name="textAreaBottom" fmla="*/ 6602400 h 6602040"/>
            </a:gdLst>
            <a:ahLst/>
            <a:rect l="textAreaLeft" t="textAreaTop" r="textAreaRight" b="textAreaBottom"/>
            <a:pathLst>
              <a:path w="6602148" h="6602313">
                <a:moveTo>
                  <a:pt x="6602148" y="0"/>
                </a:moveTo>
                <a:lnTo>
                  <a:pt x="6602148" y="66023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Image 2"/>
          <p:cNvSpPr/>
          <p:nvPr/>
        </p:nvSpPr>
        <p:spPr>
          <a:xfrm>
            <a:off x="0" y="0"/>
            <a:ext cx="8859240" cy="6368400"/>
          </a:xfrm>
          <a:custGeom>
            <a:avLst/>
            <a:gdLst>
              <a:gd name="textAreaLeft" fmla="*/ 0 w 8859240"/>
              <a:gd name="textAreaRight" fmla="*/ 36000000 w 8859240"/>
              <a:gd name="textAreaTop" fmla="*/ 0 h 6368400"/>
              <a:gd name="textAreaBottom" fmla="*/ 36000000 h 6368400"/>
            </a:gdLst>
            <a:ahLst/>
            <a:rect l="textAreaLeft" t="textAreaTop" r="textAreaRight" b="textAreaBottom"/>
            <a:pathLst>
              <a:path w="100000" h="100000">
                <a:moveTo>
                  <a:pt x="0" y="60880"/>
                </a:moveTo>
                <a:lnTo>
                  <a:pt x="0" y="0"/>
                </a:lnTo>
                <a:lnTo>
                  <a:pt x="100000" y="0"/>
                </a:lnTo>
                <a:lnTo>
                  <a:pt x="28120" y="10000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9643680" y="0"/>
            <a:ext cx="2547360" cy="2547720"/>
          </a:xfrm>
          <a:custGeom>
            <a:avLst/>
            <a:gdLst>
              <a:gd name="textAreaLeft" fmla="*/ 0 w 2547360"/>
              <a:gd name="textAreaRight" fmla="*/ 2547720 w 2547360"/>
              <a:gd name="textAreaTop" fmla="*/ 0 h 2547720"/>
              <a:gd name="textAreaBottom" fmla="*/ 2548080 h 2547720"/>
            </a:gdLst>
            <a:ahLst/>
            <a:rect l="textAreaLeft" t="textAreaTop" r="textAreaRight" b="textAreaBottom"/>
            <a:pathLst>
              <a:path w="2547874" h="2547938">
                <a:moveTo>
                  <a:pt x="107775" y="0"/>
                </a:moveTo>
                <a:lnTo>
                  <a:pt x="2547874" y="2440160"/>
                </a:lnTo>
                <a:lnTo>
                  <a:pt x="2547874" y="2547938"/>
                </a:lnTo>
                <a:lnTo>
                  <a:pt x="0" y="0"/>
                </a:lnTo>
                <a:close/>
              </a:path>
            </a:pathLst>
          </a:custGeom>
          <a:solidFill>
            <a:srgbClr val="c9c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651600" y="518760"/>
            <a:ext cx="531000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50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Выводы</a:t>
            </a: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615960" y="1905120"/>
            <a:ext cx="6235200" cy="18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Модульная система TeachAI в Jupyter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Многошаговый пайплайн LLM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Персонализация и прогресс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gpt-4o-mini выбрана по эксперименту (балл/₽)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Inference-only согласован с куратором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Image 0" descr="preencoded.png"/>
          <p:cNvPicPr/>
          <p:nvPr/>
        </p:nvPicPr>
        <p:blipFill>
          <a:blip r:embed="rId1"/>
          <a:stretch/>
        </p:blipFill>
        <p:spPr>
          <a:xfrm>
            <a:off x="6095880" y="0"/>
            <a:ext cx="6095520" cy="6095520"/>
          </a:xfrm>
          <a:prstGeom prst="rect">
            <a:avLst/>
          </a:prstGeom>
          <a:ln w="0">
            <a:noFill/>
          </a:ln>
        </p:spPr>
      </p:pic>
      <p:pic>
        <p:nvPicPr>
          <p:cNvPr id="158" name="Image 1" descr="preencoded.png"/>
          <p:cNvPicPr/>
          <p:nvPr/>
        </p:nvPicPr>
        <p:blipFill>
          <a:blip r:embed="rId2"/>
          <a:stretch/>
        </p:blipFill>
        <p:spPr>
          <a:xfrm>
            <a:off x="6095880" y="0"/>
            <a:ext cx="6095520" cy="6095520"/>
          </a:xfrm>
          <a:prstGeom prst="rect">
            <a:avLst/>
          </a:prstGeom>
          <a:ln w="0">
            <a:noFill/>
          </a:ln>
        </p:spPr>
      </p:pic>
      <p:sp>
        <p:nvSpPr>
          <p:cNvPr id="159" name="Shape 0"/>
          <p:cNvSpPr/>
          <p:nvPr/>
        </p:nvSpPr>
        <p:spPr>
          <a:xfrm>
            <a:off x="6026760" y="0"/>
            <a:ext cx="6164280" cy="6165000"/>
          </a:xfrm>
          <a:custGeom>
            <a:avLst/>
            <a:gdLst>
              <a:gd name="textAreaLeft" fmla="*/ 0 w 6164280"/>
              <a:gd name="textAreaRight" fmla="*/ 6164640 w 6164280"/>
              <a:gd name="textAreaTop" fmla="*/ 0 h 6165000"/>
              <a:gd name="textAreaBottom" fmla="*/ 6165360 h 6165000"/>
            </a:gdLst>
            <a:ahLst/>
            <a:rect l="textAreaLeft" t="textAreaTop" r="textAreaRight" b="textAreaBottom"/>
            <a:pathLst>
              <a:path w="6164803" h="6165255">
                <a:moveTo>
                  <a:pt x="0" y="0"/>
                </a:moveTo>
                <a:lnTo>
                  <a:pt x="0" y="6165255"/>
                </a:lnTo>
                <a:lnTo>
                  <a:pt x="6164803" y="6165255"/>
                </a:lnTo>
                <a:lnTo>
                  <a:pt x="6164803" y="6096204"/>
                </a:lnTo>
                <a:lnTo>
                  <a:pt x="6904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1"/>
          <p:cNvSpPr/>
          <p:nvPr/>
        </p:nvSpPr>
        <p:spPr>
          <a:xfrm rot="5400000">
            <a:off x="360" y="0"/>
            <a:ext cx="6095520" cy="6095520"/>
          </a:xfrm>
          <a:custGeom>
            <a:avLst/>
            <a:gdLst>
              <a:gd name="textAreaLeft" fmla="*/ 0 w 6095520"/>
              <a:gd name="textAreaRight" fmla="*/ 6095880 w 6095520"/>
              <a:gd name="textAreaTop" fmla="*/ 0 h 6095520"/>
              <a:gd name="textAreaBottom" fmla="*/ 6095880 h 6095520"/>
            </a:gdLst>
            <a:ahLst/>
            <a:rect l="textAreaLeft" t="textAreaTop" r="textAreaRight" b="textAreaBottom"/>
            <a:pathLst>
              <a:path w="6095848" h="6096000">
                <a:moveTo>
                  <a:pt x="0" y="6096000"/>
                </a:moveTo>
                <a:lnTo>
                  <a:pt x="0" y="0"/>
                </a:lnTo>
                <a:lnTo>
                  <a:pt x="6095848" y="609600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700920" y="3374280"/>
            <a:ext cx="107895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500" spc="-1" strike="noStrike">
                <a:solidFill>
                  <a:srgbClr val="000000"/>
                </a:solidFill>
                <a:latin typeface="Montserrat ExtraBold"/>
                <a:ea typeface="Montserrat ExtraBold"/>
              </a:rPr>
              <a:t>Спасибо за внимание</a:t>
            </a:r>
            <a:endParaRPr b="0" lang="ru-RU" sz="5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1453680" y="4916520"/>
            <a:ext cx="9284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Вопросы?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Image 2"/>
          <p:cNvSpPr/>
          <p:nvPr/>
        </p:nvSpPr>
        <p:spPr>
          <a:xfrm>
            <a:off x="0" y="0"/>
            <a:ext cx="6789960" cy="4322160"/>
          </a:xfrm>
          <a:custGeom>
            <a:avLst/>
            <a:gdLst>
              <a:gd name="textAreaLeft" fmla="*/ 0 w 6789960"/>
              <a:gd name="textAreaRight" fmla="*/ 36000000 w 6789960"/>
              <a:gd name="textAreaTop" fmla="*/ 0 h 4322160"/>
              <a:gd name="textAreaBottom" fmla="*/ 36000000 h 4322160"/>
            </a:gdLst>
            <a:ahLst/>
            <a:rect l="textAreaLeft" t="textAreaTop" r="textAreaRight" b="textAreaBottom"/>
            <a:pathLst>
              <a:path w="100000" h="100000">
                <a:moveTo>
                  <a:pt x="0" y="42900"/>
                </a:moveTo>
                <a:lnTo>
                  <a:pt x="0" y="0"/>
                </a:lnTo>
                <a:lnTo>
                  <a:pt x="100000" y="0"/>
                </a:lnTo>
                <a:lnTo>
                  <a:pt x="36340" y="10000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Image 3" descr="preencoded.png"/>
          <p:cNvPicPr/>
          <p:nvPr/>
        </p:nvPicPr>
        <p:blipFill>
          <a:blip r:embed="rId4"/>
          <a:stretch/>
        </p:blipFill>
        <p:spPr>
          <a:xfrm>
            <a:off x="497520" y="367920"/>
            <a:ext cx="2936880" cy="401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2026-10-06T11:46:15Z</dcterms:created>
  <dc:creator/>
  <dc:description/>
  <dc:language>ru-RU</dc:language>
  <cp:lastModifiedBy/>
  <dcterms:modified xsi:type="dcterms:W3CDTF">2026-10-07T12:10:21Z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