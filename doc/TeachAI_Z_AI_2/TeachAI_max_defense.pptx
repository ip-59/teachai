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teachai_slides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468">
              <a:alpha val="8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08450" y="116859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74320" y="1600349"/>
            <a:ext cx="8595360" cy="66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TeachAI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04989" y="2366070"/>
            <a:ext cx="7133874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Интерактивная AI-система обучения программированию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267200" y="2939951"/>
            <a:ext cx="609600" cy="381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950361" y="3231952"/>
            <a:ext cx="32431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На базе Jupyter Notebook и LLM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59584" y="3825627"/>
            <a:ext cx="36986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Персонализированное обучение + практика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4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4651"/>
            <a:ext cx="1882021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Проблема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780901"/>
            <a:ext cx="507950" cy="381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71401"/>
            <a:ext cx="7924800" cy="775246"/>
          </a:xfrm>
          <a:prstGeom prst="roundRect">
            <a:avLst>
              <a:gd name="adj" fmla="val 1310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119389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8808" y="1249412"/>
            <a:ext cx="11626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04776" y="1133326"/>
            <a:ext cx="285425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Отсутствие персонализации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04776" y="1371451"/>
            <a:ext cx="642808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Стандартные курсы не учитывают индивидуальный уровень и темп обучения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1848148"/>
            <a:ext cx="7924800" cy="775246"/>
          </a:xfrm>
          <a:prstGeom prst="roundRect">
            <a:avLst>
              <a:gd name="adj" fmla="val 1310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207064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8808" y="2126159"/>
            <a:ext cx="11626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04776" y="2010073"/>
            <a:ext cx="295232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Нет интерактивной практики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04776" y="2248198"/>
            <a:ext cx="600455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Пассивное потребление материала без применения знаний на практике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9600" y="2724894"/>
            <a:ext cx="7924800" cy="775246"/>
          </a:xfrm>
          <a:prstGeom prst="roundRect">
            <a:avLst>
              <a:gd name="adj" fmla="val 1310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294739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8808" y="3002905"/>
            <a:ext cx="11626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04776" y="2886819"/>
            <a:ext cx="236986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Сложность изучения AI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04776" y="3124944"/>
            <a:ext cx="497006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Высокий порог входа в программирование и AI-технологии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3601641"/>
            <a:ext cx="7924800" cy="775246"/>
          </a:xfrm>
          <a:prstGeom prst="roundRect">
            <a:avLst>
              <a:gd name="adj" fmla="val 1310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382413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8808" y="3879652"/>
            <a:ext cx="11626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04776" y="3763566"/>
            <a:ext cx="280573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Недостаток обратной связи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04776" y="4001691"/>
            <a:ext cx="463670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Нет своевременных комментариев и подсказок по коду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149072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Решение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66651"/>
            <a:ext cx="2438400" cy="3619649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1090464"/>
            <a:ext cx="2438400" cy="0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750" y="1419076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5448" y="1531739"/>
            <a:ext cx="303967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12750" y="2130177"/>
            <a:ext cx="2438519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AI-репетитор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50" y="2495699"/>
            <a:ext cx="2133704" cy="14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Интерактивный искусственный интеллект выступает в роли персонального преподавателя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51150" y="1066651"/>
            <a:ext cx="2438400" cy="3619649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1150" y="1090464"/>
            <a:ext cx="2438400" cy="0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4301" y="1419076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9557" y="1531739"/>
            <a:ext cx="321647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54301" y="2130177"/>
            <a:ext cx="2133704" cy="57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Обучение через диалог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54301" y="2759720"/>
            <a:ext cx="2133704" cy="14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Естественное общение с системой делает процесс обучения увлекательным и эффективным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92701" y="1066651"/>
            <a:ext cx="2438400" cy="3619649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92701" y="1090464"/>
            <a:ext cx="2438400" cy="0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5851" y="1419076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03007" y="1531739"/>
            <a:ext cx="413087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95851" y="2130177"/>
            <a:ext cx="2133704" cy="57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Генерация и проверка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5851" y="2759720"/>
            <a:ext cx="2133704" cy="1140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Автоматическая генерация заданий по уровню и детальная проверка решений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2041505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Точка входа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378595"/>
            <a:ext cx="76200" cy="1015901"/>
          </a:xfrm>
          <a:prstGeom prst="roundRect">
            <a:avLst>
              <a:gd name="adj" fmla="val 50000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8950" y="1378595"/>
            <a:ext cx="825505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TeachAI.ipynb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8950" y="1702445"/>
            <a:ext cx="8027722" cy="57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Главный файл запуска системы. Представляет собой Jupyter Notebook, который служит единой точкой входа для инициализации и работы TeachAI.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8950" y="2281238"/>
            <a:ext cx="8027722" cy="57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При выполнении ячейки запуска происходит полная инициализация среды: загрузка модулей, настройка LLM-подключения и запуск интерактивного интерфейса.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3113931"/>
            <a:ext cx="2438400" cy="1361926"/>
          </a:xfrm>
          <a:prstGeom prst="roundRect">
            <a:avLst>
              <a:gd name="adj" fmla="val 7460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3412" y="3113931"/>
            <a:ext cx="0" cy="1361926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0375" y="3317081"/>
            <a:ext cx="226230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Инициализация среды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0375" y="3586907"/>
            <a:ext cx="208369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Загрузка зависимостей и настройка рабочего окружения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51150" y="3113931"/>
            <a:ext cx="2438400" cy="1361926"/>
          </a:xfrm>
          <a:prstGeom prst="roundRect">
            <a:avLst>
              <a:gd name="adj" fmla="val 7460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74963" y="3113931"/>
            <a:ext cx="0" cy="1361926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1926" y="3317081"/>
            <a:ext cx="2262301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Создание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01926" y="3586907"/>
            <a:ext cx="208369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Инициализация TeachAIEngine с конфигурацией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2701" y="3113931"/>
            <a:ext cx="2438400" cy="1361926"/>
          </a:xfrm>
          <a:prstGeom prst="roundRect">
            <a:avLst>
              <a:gd name="adj" fmla="val 7460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16513" y="3113931"/>
            <a:ext cx="0" cy="1361926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3476" y="3317081"/>
            <a:ext cx="238136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Запуск UI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3476" y="3586907"/>
            <a:ext cx="20836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Старт интерактивного интерфейса в Jupyter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3588841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Архитектура системы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0" y="800546"/>
            <a:ext cx="4572000" cy="844302"/>
          </a:xfrm>
          <a:prstGeom prst="roundRect">
            <a:avLst>
              <a:gd name="adj" fmla="val 12034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313432" y="978247"/>
            <a:ext cx="451713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Notebook (UI)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32304" y="1276648"/>
            <a:ext cx="42793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Пользовательский интерфейс на базе Jupyter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52950" y="1644848"/>
            <a:ext cx="38100" cy="2031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86000" y="1847999"/>
            <a:ext cx="4572000" cy="882402"/>
          </a:xfrm>
          <a:prstGeom prst="roundRect">
            <a:avLst>
              <a:gd name="adj" fmla="val 11514"/>
            </a:avLst>
          </a:prstGeom>
          <a:solidFill>
            <a:srgbClr val="144468"/>
          </a:solidFill>
          <a:ln w="19050">
            <a:solidFill>
              <a:srgbClr val="D7A0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52878" y="2044750"/>
            <a:ext cx="423824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TeachAIEngine (ядро)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52878" y="2343150"/>
            <a:ext cx="42382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Центральный оркестратор системы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2950" y="2730401"/>
            <a:ext cx="38100" cy="2031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86000" y="2933551"/>
            <a:ext cx="4572000" cy="1072902"/>
          </a:xfrm>
          <a:prstGeom prst="roundRect">
            <a:avLst>
              <a:gd name="adj" fmla="val 9470"/>
            </a:avLst>
          </a:prstGeom>
          <a:solidFill>
            <a:srgbClr val="F0F6FA"/>
          </a:solidFill>
          <a:ln w="19050">
            <a:solidFill>
              <a:srgbClr val="A8CE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35149" y="3130302"/>
            <a:ext cx="4473702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Модули системы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11742" y="3428702"/>
            <a:ext cx="41205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Персонализация, генерация, проверка, форматирование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52950" y="4006453"/>
            <a:ext cx="38100" cy="2031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86000" y="4209604"/>
            <a:ext cx="4572000" cy="844302"/>
          </a:xfrm>
          <a:prstGeom prst="roundRect">
            <a:avLst>
              <a:gd name="adj" fmla="val 12034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94560" y="4387304"/>
            <a:ext cx="475488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32304" y="4685705"/>
            <a:ext cx="427939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Большая языковая модель (GPT API)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4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322040"/>
            <a:ext cx="298715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spc="200" kern="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ЯДРО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6301" y="1614041"/>
            <a:ext cx="2613764" cy="1053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TeachAI</a:t>
            </a:r>
            <a:endParaRPr lang="en-US" sz="3200" dirty="0"/>
          </a:p>
          <a:p>
            <a:pPr algn="l" indent="0" marL="0">
              <a:lnSpc>
                <a:spcPts val="384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06301" y="2792611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301" y="2983111"/>
            <a:ext cx="26137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Центральный orchestrator, управляющий всеми компонентами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59101" y="1140023"/>
            <a:ext cx="50750" cy="507950"/>
          </a:xfrm>
          <a:prstGeom prst="roundRect">
            <a:avLst>
              <a:gd name="adj" fmla="val 5004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36802" y="1114723"/>
            <a:ext cx="2250763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Управление логикой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6802" y="1371898"/>
            <a:ext cx="4988231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Координация всех этапов обучения от диалога до проверки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59101" y="1876425"/>
            <a:ext cx="50750" cy="507950"/>
          </a:xfrm>
          <a:prstGeom prst="roundRect">
            <a:avLst>
              <a:gd name="adj" fmla="val 5004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36802" y="1851124"/>
            <a:ext cx="149215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Работа с LLM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6802" y="2108299"/>
            <a:ext cx="496813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Интеграция с API языковой модели для генерации контента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59101" y="2612827"/>
            <a:ext cx="50750" cy="507950"/>
          </a:xfrm>
          <a:prstGeom prst="roundRect">
            <a:avLst>
              <a:gd name="adj" fmla="val 5004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36802" y="2587526"/>
            <a:ext cx="170128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Связь модулей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6802" y="2844701"/>
            <a:ext cx="460214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Маршрутизация данных между компонентами системы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59101" y="3349228"/>
            <a:ext cx="50750" cy="507950"/>
          </a:xfrm>
          <a:prstGeom prst="roundRect">
            <a:avLst>
              <a:gd name="adj" fmla="val 5004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36802" y="3323927"/>
            <a:ext cx="167503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Управление UI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6802" y="3581102"/>
            <a:ext cx="4310070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Отображение контента и интерактивных элементов в Notebook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2812137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Персонализация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789658"/>
            <a:ext cx="507950" cy="381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030909"/>
            <a:ext cx="3200400" cy="60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Адаптивный подход к обучению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600" y="2744688"/>
            <a:ext cx="3200400" cy="1425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Система автоматически определяет уровень пользователя через начальный диалог и подстраивает сложность материалов под его потребности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62400" y="1046262"/>
            <a:ext cx="4572000" cy="1152376"/>
          </a:xfrm>
          <a:prstGeom prst="roundRect">
            <a:avLst>
              <a:gd name="adj" fmla="val 881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986213" y="1046262"/>
            <a:ext cx="0" cy="1152376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3926" y="1249412"/>
            <a:ext cx="43378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Начальный диалог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63926" y="1538288"/>
            <a:ext cx="42174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Определение опыта и целей обучения через серию вопросов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62400" y="2351038"/>
            <a:ext cx="4572000" cy="1152376"/>
          </a:xfrm>
          <a:prstGeom prst="roundRect">
            <a:avLst>
              <a:gd name="adj" fmla="val 881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86213" y="2351038"/>
            <a:ext cx="0" cy="1152376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3926" y="2554188"/>
            <a:ext cx="43378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Определение уровня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63926" y="2843064"/>
            <a:ext cx="42174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Классификация пользователя: начинающий, средний, продвинутый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62400" y="3655814"/>
            <a:ext cx="4572000" cy="1152376"/>
          </a:xfrm>
          <a:prstGeom prst="roundRect">
            <a:avLst>
              <a:gd name="adj" fmla="val 8817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86213" y="3655814"/>
            <a:ext cx="0" cy="1152376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3926" y="3858964"/>
            <a:ext cx="433789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Адаптация сложности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63926" y="4147840"/>
            <a:ext cx="42174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Динамическая подстройка сложности заданий по мере прогресса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3247727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Генерация заданий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15901"/>
            <a:ext cx="3759101" cy="2362795"/>
          </a:xfrm>
          <a:prstGeom prst="roundRect">
            <a:avLst>
              <a:gd name="adj" fmla="val 5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3501" y="12698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2889" y="1360289"/>
            <a:ext cx="285929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501" y="1853952"/>
            <a:ext cx="3511403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control_tasks_generator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3501" y="2177802"/>
            <a:ext cx="3413864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Специальный модуль, отвечающий за создание учебных задач разного типа и сложности с использованием LLM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1851" y="1015901"/>
            <a:ext cx="3759101" cy="2362795"/>
          </a:xfrm>
          <a:prstGeom prst="roundRect">
            <a:avLst>
              <a:gd name="adj" fmla="val 5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5752" y="126980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35141" y="1360289"/>
            <a:ext cx="285929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5752" y="1853952"/>
            <a:ext cx="370648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LLM-генерация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752" y="2177802"/>
            <a:ext cx="3413864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Задачи генерируются через API языковой модели с учётом темы, уровня и прогресса пользователя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600" y="3835896"/>
            <a:ext cx="7924800" cy="850404"/>
          </a:xfrm>
          <a:prstGeom prst="roundRect">
            <a:avLst>
              <a:gd name="adj" fmla="val 11947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3412" y="3835896"/>
            <a:ext cx="0" cy="850404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126" y="4013597"/>
            <a:ext cx="773784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Подбор под уровень: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система автоматически адаптирует сложность, объём и формат задания к текущему уровню пользователя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3274338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Проверка решений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99245"/>
            <a:ext cx="38100" cy="558701"/>
          </a:xfrm>
          <a:prstGeom prst="roundRect">
            <a:avLst>
              <a:gd name="adj" fmla="val 66667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0100" y="1073944"/>
            <a:ext cx="83439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Проверка выполнения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0100" y="1372344"/>
            <a:ext cx="8121015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Система анализирует код и ответ пользователя, оценивая корректность и полноту решения поставленной задачи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070348"/>
            <a:ext cx="38100" cy="558701"/>
          </a:xfrm>
          <a:prstGeom prst="roundRect">
            <a:avLst>
              <a:gd name="adj" fmla="val 66667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2045047"/>
            <a:ext cx="83439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Анализ ответа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0100" y="2343448"/>
            <a:ext cx="8121015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 выполняет глубокий семантический анализ предложенного решения, выявляя логические ошибки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041452"/>
            <a:ext cx="38100" cy="558701"/>
          </a:xfrm>
          <a:prstGeom prst="roundRect">
            <a:avLst>
              <a:gd name="adj" fmla="val 66667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0100" y="3016151"/>
            <a:ext cx="83439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Обратная связь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0100" y="3314551"/>
            <a:ext cx="8121015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Пользователь получает развёрнутый комментарий с указанием сильных сторон и ошибок в коде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4012555"/>
            <a:ext cx="38100" cy="558701"/>
          </a:xfrm>
          <a:prstGeom prst="roundRect">
            <a:avLst>
              <a:gd name="adj" fmla="val 66667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3987254"/>
            <a:ext cx="83439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Объяснение ошибок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" y="4285655"/>
            <a:ext cx="8121015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Система не просто указывает на ошибку, но объясняет её причину и предлагает правильный подход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2919293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Форматирование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794272"/>
            <a:ext cx="507950" cy="381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035522"/>
            <a:ext cx="4420703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content_formatter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484983"/>
            <a:ext cx="3947056" cy="9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Модуль, отвечающий за улучшение читаемости и структурирование ответов LLM перед отображением пользователю.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600" y="3491061"/>
            <a:ext cx="3947056" cy="614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Преобразует «сырой» текст от модели в чистый, аккуратно оформленный формат.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1851" y="1784300"/>
            <a:ext cx="298" cy="228600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75299" y="1705421"/>
            <a:ext cx="507950" cy="381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75299" y="1946672"/>
            <a:ext cx="4368701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Ключевые функции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75299" y="2396133"/>
            <a:ext cx="3759101" cy="185807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Улучшение читаемости текста</a:t>
            </a:r>
            <a:endParaRPr lang="en-US" sz="1400" dirty="0"/>
          </a:p>
          <a:p>
            <a:pPr algn="l" marL="127000" indent="-1270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Структурирование с помощью заголовков</a:t>
            </a:r>
            <a:endParaRPr lang="en-US" sz="1400" dirty="0"/>
          </a:p>
          <a:p>
            <a:pPr algn="l" marL="127000" indent="-1270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Форматирование блоков кода</a:t>
            </a:r>
            <a:endParaRPr lang="en-US" sz="1400" dirty="0"/>
          </a:p>
          <a:p>
            <a:pPr algn="l" marL="127000" indent="-1270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Выделение ключевых терминов</a:t>
            </a:r>
            <a:endParaRPr lang="en-US" sz="1400" dirty="0"/>
          </a:p>
          <a:p>
            <a:pPr algn="l" marL="127000" indent="-127000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Единый стиль оформления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2607647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Pipeline работы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99" y="1572667"/>
            <a:ext cx="1219200" cy="1036141"/>
          </a:xfrm>
          <a:prstGeom prst="roundRect">
            <a:avLst>
              <a:gd name="adj" fmla="val 9806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80" y="1775817"/>
            <a:ext cx="121943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Пользователь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8995" y="2024658"/>
            <a:ext cx="106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Вход в систему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8299" y="1952625"/>
            <a:ext cx="24378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387650" y="1553617"/>
            <a:ext cx="1219200" cy="1074241"/>
          </a:xfrm>
          <a:prstGeom prst="roundRect">
            <a:avLst>
              <a:gd name="adj" fmla="val 9458"/>
            </a:avLst>
          </a:prstGeom>
          <a:solidFill>
            <a:srgbClr val="144468"/>
          </a:solidFill>
          <a:ln w="19050">
            <a:solidFill>
              <a:srgbClr val="D7A0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10391" y="1775817"/>
            <a:ext cx="117371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Диалог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83748" y="2024658"/>
            <a:ext cx="1027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Определение уровня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83050" y="1952625"/>
            <a:ext cx="24378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62400" y="1572667"/>
            <a:ext cx="1219200" cy="1036141"/>
          </a:xfrm>
          <a:prstGeom prst="roundRect">
            <a:avLst>
              <a:gd name="adj" fmla="val 9806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62281" y="1775817"/>
            <a:ext cx="121943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Задание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38496" y="2024658"/>
            <a:ext cx="106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Генерация задачи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952625"/>
            <a:ext cx="24378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7150" y="1572667"/>
            <a:ext cx="1219200" cy="1036141"/>
          </a:xfrm>
          <a:prstGeom prst="roundRect">
            <a:avLst>
              <a:gd name="adj" fmla="val 9806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537031" y="1775817"/>
            <a:ext cx="121943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Ответ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13246" y="2024658"/>
            <a:ext cx="106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Решение пользователя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2550" y="1952625"/>
            <a:ext cx="24378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11901" y="1572667"/>
            <a:ext cx="1219200" cy="1036141"/>
          </a:xfrm>
          <a:prstGeom prst="roundRect">
            <a:avLst>
              <a:gd name="adj" fmla="val 9806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11782" y="1775817"/>
            <a:ext cx="121943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Проверка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87997" y="2024658"/>
            <a:ext cx="106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Анализ решения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02050" y="2881759"/>
            <a:ext cx="2539901" cy="1419076"/>
          </a:xfrm>
          <a:prstGeom prst="roundRect">
            <a:avLst>
              <a:gd name="adj" fmla="val 7160"/>
            </a:avLst>
          </a:prstGeom>
          <a:solidFill>
            <a:srgbClr val="F0F6FA"/>
          </a:solidFill>
          <a:ln w="19050">
            <a:solidFill>
              <a:srgbClr val="D7A0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14700" y="3103959"/>
            <a:ext cx="25146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Обратная связь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1863" y="3392835"/>
            <a:ext cx="220027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Цикл повторяется для каждого задания с адаптацией по уровню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1947208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Технологии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15901"/>
            <a:ext cx="3759101" cy="1446014"/>
          </a:xfrm>
          <a:prstGeom prst="roundRect">
            <a:avLst>
              <a:gd name="adj" fmla="val 8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3501" y="1434108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23342" y="1572220"/>
            <a:ext cx="34772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76251" y="1269802"/>
            <a:ext cx="292625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76251" y="1568202"/>
            <a:ext cx="256047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Основной язык разработки системы и пользовательских скриптов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665065"/>
            <a:ext cx="3759101" cy="1232743"/>
          </a:xfrm>
          <a:prstGeom prst="roundRect">
            <a:avLst>
              <a:gd name="adj" fmla="val 10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3501" y="2976563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45369" y="3143250"/>
            <a:ext cx="294858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76251" y="2918966"/>
            <a:ext cx="277994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Jupyter Notebook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76251" y="3217366"/>
            <a:ext cx="2560476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Интерактивная среда для запуска и демонстрации кода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1851" y="1015901"/>
            <a:ext cx="3759101" cy="1446014"/>
          </a:xfrm>
          <a:prstGeom prst="roundRect">
            <a:avLst>
              <a:gd name="adj" fmla="val 8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5752" y="1434108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26223" y="1600795"/>
            <a:ext cx="25021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38502" y="1269802"/>
            <a:ext cx="292625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 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38502" y="1568202"/>
            <a:ext cx="256047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Подключение к большой языковой модели для генерации контента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1851" y="2665065"/>
            <a:ext cx="3759101" cy="1446014"/>
          </a:xfrm>
          <a:prstGeom prst="roundRect">
            <a:avLst>
              <a:gd name="adj" fmla="val 8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752" y="3083272"/>
            <a:ext cx="609600" cy="609600"/>
          </a:xfrm>
          <a:prstGeom prst="roundRect">
            <a:avLst>
              <a:gd name="adj" fmla="val 20833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38427" y="3249960"/>
            <a:ext cx="22092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38502" y="2918966"/>
            <a:ext cx="2779946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IPython Display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38502" y="3217366"/>
            <a:ext cx="256047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Визуализация результатов и форматированный вывод в Notebook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2500848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Преимущества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835075"/>
            <a:ext cx="2438400" cy="293995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3751213"/>
            <a:ext cx="2438400" cy="0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1139875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39339" y="1277987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0503" y="1901875"/>
            <a:ext cx="2316593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Интерактивность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948" y="2279600"/>
            <a:ext cx="2133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Диалоговый формат обучения обеспечивает активное вовлечение студента в процесс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51150" y="835075"/>
            <a:ext cx="2438400" cy="293995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51150" y="3751213"/>
            <a:ext cx="2438400" cy="0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5550" y="1139875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0890" y="1277987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51091" y="1901875"/>
            <a:ext cx="2438519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Персонализация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03498" y="2279600"/>
            <a:ext cx="21337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Каждый обучающийся получает уникальную программу, адаптированную под его уровень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92701" y="835075"/>
            <a:ext cx="2438400" cy="2939951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92701" y="3751213"/>
            <a:ext cx="2438400" cy="0"/>
          </a:xfrm>
          <a:prstGeom prst="line">
            <a:avLst/>
          </a:prstGeom>
          <a:noFill/>
          <a:ln w="47625">
            <a:solidFill>
              <a:srgbClr val="DD5F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7101" y="1139875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22440" y="1277987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892641" y="1901875"/>
            <a:ext cx="2438519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Автоматизация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45049" y="2279600"/>
            <a:ext cx="21337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Генерация задач и проверка решений происходят без участия преподавателя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600" y="4079825"/>
            <a:ext cx="7924800" cy="939701"/>
          </a:xfrm>
          <a:prstGeom prst="roundRect">
            <a:avLst>
              <a:gd name="adj" fmla="val 10812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8076" y="4282976"/>
            <a:ext cx="77878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Проверка решений в реальном времени</a:t>
            </a:r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с подробными объяснениями ошибок и рекомендациями по улучшению кода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" y="507950"/>
            <a:ext cx="863600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300" spc="200" kern="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ЧЕСТНЫЙ ВЗГЛЯД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36158" y="828526"/>
            <a:ext cx="4671684" cy="504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Ограничения системы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600" y="1600051"/>
            <a:ext cx="2438400" cy="2708077"/>
          </a:xfrm>
          <a:prstGeom prst="roundRect">
            <a:avLst>
              <a:gd name="adj" fmla="val 520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0970" y="1914376"/>
            <a:ext cx="2415659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1362" y="2511177"/>
            <a:ext cx="22948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Зависимость от LLM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1949" y="2850803"/>
            <a:ext cx="211370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Качество генерации напрямую зависит от возможностей языковой модели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51150" y="1600051"/>
            <a:ext cx="2438400" cy="2708077"/>
          </a:xfrm>
          <a:prstGeom prst="roundRect">
            <a:avLst>
              <a:gd name="adj" fmla="val 520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62521" y="1914376"/>
            <a:ext cx="2415659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22912" y="2511177"/>
            <a:ext cx="22948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Нет своей модели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3500" y="2850803"/>
            <a:ext cx="211370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Система использует внешнее API, что создаёт зависимость от стороннего сервиса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2701" y="1600051"/>
            <a:ext cx="2438400" cy="2708077"/>
          </a:xfrm>
          <a:prstGeom prst="roundRect">
            <a:avLst>
              <a:gd name="adj" fmla="val 520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04071" y="1914376"/>
            <a:ext cx="2415659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QC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64463" y="2511177"/>
            <a:ext cx="22948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Контроль качества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55050" y="2850803"/>
            <a:ext cx="211370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Ограниченная возможность контроля корректности сгенерированных материалов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69813"/>
            <a:ext cx="1079421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Вывод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40147"/>
            <a:ext cx="8321040" cy="658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2000"/>
              </a:spcAft>
              <a:buNone/>
            </a:pPr>
            <a:r>
              <a:rPr lang="en-US" sz="16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Реализована интерактивная AI-система обучения программированию TeachAI, включающая: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600" y="1803350"/>
            <a:ext cx="3759101" cy="644426"/>
          </a:xfrm>
          <a:prstGeom prst="roundRect">
            <a:avLst>
              <a:gd name="adj" fmla="val 1576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207481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17402" y="2006501"/>
            <a:ext cx="27293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Персонализация обучения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600" y="2600176"/>
            <a:ext cx="3759101" cy="644426"/>
          </a:xfrm>
          <a:prstGeom prst="roundRect">
            <a:avLst>
              <a:gd name="adj" fmla="val 1576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3501" y="2871639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7402" y="2803327"/>
            <a:ext cx="30705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Генерация заданий через LLM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1851" y="1803350"/>
            <a:ext cx="3759101" cy="882551"/>
          </a:xfrm>
          <a:prstGeom prst="roundRect">
            <a:avLst>
              <a:gd name="adj" fmla="val 11512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5752" y="2193875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DD5F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9653" y="2006501"/>
            <a:ext cx="31472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Проверка решений с обратной связью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1851" y="2838301"/>
            <a:ext cx="3759101" cy="882551"/>
          </a:xfrm>
          <a:prstGeom prst="roundRect">
            <a:avLst>
              <a:gd name="adj" fmla="val 11512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5752" y="3228826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79653" y="3041452"/>
            <a:ext cx="314726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Интерактивная среда на базе Jupyter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3974753"/>
            <a:ext cx="7924800" cy="939701"/>
          </a:xfrm>
          <a:prstGeom prst="roundRect">
            <a:avLst>
              <a:gd name="adj" fmla="val 10812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8076" y="4177903"/>
            <a:ext cx="77878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Система демонстрирует возможность создания эффективного AI-репетитора для обучения программированию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8037" y="473869"/>
            <a:ext cx="180933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spc="200" kern="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ПЕРСПЕКТИВЫ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917806" y="794445"/>
            <a:ext cx="5308238" cy="526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40"/>
              </a:lnSpc>
              <a:spcAft>
                <a:spcPts val="2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Дальнейшее развитие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11547" y="1586954"/>
            <a:ext cx="1777901" cy="2400002"/>
          </a:xfrm>
          <a:prstGeom prst="roundRect">
            <a:avLst>
              <a:gd name="adj" fmla="val 71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8067" y="1850380"/>
            <a:ext cx="174486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7121" y="2351931"/>
            <a:ext cx="1526753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Добавление retrieval-augmented generation для работы с документацией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2598" y="1586954"/>
            <a:ext cx="1777901" cy="2400002"/>
          </a:xfrm>
          <a:prstGeom prst="roundRect">
            <a:avLst>
              <a:gd name="adj" fmla="val 71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09118" y="1850380"/>
            <a:ext cx="174486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818172" y="2351931"/>
            <a:ext cx="152675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Улучшение проверки кода через статический анализ AST-деревьев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73650" y="1586954"/>
            <a:ext cx="1777901" cy="2400002"/>
          </a:xfrm>
          <a:prstGeom prst="roundRect">
            <a:avLst>
              <a:gd name="adj" fmla="val 71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90170" y="1850380"/>
            <a:ext cx="174486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99223" y="2351931"/>
            <a:ext cx="152675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Хранение прогресса обучения и история взаимодействий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54701" y="1586954"/>
            <a:ext cx="1777901" cy="2400002"/>
          </a:xfrm>
          <a:prstGeom prst="roundRect">
            <a:avLst>
              <a:gd name="adj" fmla="val 714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671221" y="1850380"/>
            <a:ext cx="1744861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Web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80275" y="2351931"/>
            <a:ext cx="1526753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Вынос в полноценное web-приложение с аккаунтами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67200" y="4291757"/>
            <a:ext cx="609600" cy="381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16461" y="4482257"/>
            <a:ext cx="33186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TeachAI — спасибо за внимание!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2026-04-10T11:29:00Z</dcterms:created>
  <dcterms:modified xsi:type="dcterms:W3CDTF">2026-04-10T11:29:00Z</dcterms:modified>
</cp:coreProperties>
</file>