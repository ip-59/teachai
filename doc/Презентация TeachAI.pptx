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7.png" ContentType="image/png"/>
  <Override PartName="/ppt/media/image26.png" ContentType="image/png"/>
  <Override PartName="/ppt/media/image25.png" ContentType="image/png"/>
  <Override PartName="/ppt/media/image29.png" ContentType="image/png"/>
  <Override PartName="/ppt/media/image17.png" ContentType="image/png"/>
  <Override PartName="/ppt/media/image8.png" ContentType="image/png"/>
  <Override PartName="/ppt/media/image32.jpeg" ContentType="image/jpeg"/>
  <Override PartName="/ppt/media/image12.png" ContentType="image/png"/>
  <Override PartName="/ppt/media/image3.png" ContentType="image/png"/>
  <Override PartName="/ppt/media/image28.png" ContentType="image/png"/>
  <Override PartName="/ppt/media/image11.jpeg" ContentType="image/jpeg"/>
  <Override PartName="/ppt/media/image30.png" ContentType="image/png"/>
  <Override PartName="/ppt/media/image18.png" ContentType="image/png"/>
  <Override PartName="/ppt/media/image9.png" ContentType="image/png"/>
  <Override PartName="/ppt/media/image10.jpeg" ContentType="image/jpeg"/>
  <Override PartName="/ppt/media/image24.jpeg" ContentType="image/jpeg"/>
  <Override PartName="/ppt/media/image20.png" ContentType="image/png"/>
  <Override PartName="/ppt/media/image31.png" ContentType="image/png"/>
  <Override PartName="/ppt/media/image33.png" ContentType="image/png"/>
  <Override PartName="/ppt/media/image7.png" ContentType="image/png"/>
  <Override PartName="/ppt/media/image13.jpeg" ContentType="image/jpeg"/>
  <Override PartName="/ppt/media/image4.png" ContentType="image/png"/>
  <Override PartName="/ppt/media/image14.png" ContentType="image/png"/>
  <Override PartName="/ppt/media/image34.png" ContentType="image/png"/>
  <Override PartName="/ppt/media/image2.png" ContentType="image/png"/>
  <Override PartName="/ppt/media/image5.png" ContentType="image/png"/>
  <Override PartName="/ppt/media/image22.jpeg" ContentType="image/jpeg"/>
  <Override PartName="/ppt/media/image6.png" ContentType="image/png"/>
  <Override PartName="/ppt/media/image15.png" ContentType="image/png"/>
  <Override PartName="/ppt/media/image1.jpeg" ContentType="image/jpeg"/>
  <Override PartName="/ppt/media/image19.jpeg" ContentType="image/jpeg"/>
  <Override PartName="/ppt/media/image21.png" ContentType="image/png"/>
  <Override PartName="/ppt/media/image16.jpeg" ContentType="image/jpeg"/>
  <Override PartName="/ppt/media/image23.png" ContentType="image/png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перемещения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страницы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&lt;верхний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E92B7C5-884C-469A-82A1-B103CF8B5CE1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BE3AB1D-A622-419B-B078-41F5A1BA234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D318922-1650-4C05-BBFA-8848D26CF55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DC970E1-6980-4898-9756-25898422A47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D387D17-017A-4505-8F62-BA52120D7AD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B3DC7BB-2DA2-4941-9FC1-2D51DBDDE2A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0473B80-9D23-4407-8045-A52B1C8746D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2145265-ECC0-4103-8730-C64656FD16F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F4B30FD-FD0E-43BA-8179-377D67FACB6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CE2EA2C-9C62-414A-A332-4462141B515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E3B31EF-2444-49D8-8B28-1D9FD7D0323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EADBEBE-7BA8-4EA4-9835-0BD699BF619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AB439F7-0BD0-4A5C-B440-42BCC76E1AD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5307214-B301-4A0E-8C2F-E9344A85A58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D01A3A8-20BA-4713-A10D-52A29F75DE2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6A95758-6B4D-4616-AACA-39E158FAA83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2EAB9E3-631E-4AFE-87D7-8ED1153F5A0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2960D23-E214-4AE7-BF91-1032D924F61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F616ADE-8AFB-4630-B70E-4FB4C54601C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5ECD623-3B3D-4C99-BD58-24A4BBD01EB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7A5EC26-1ED9-4D3C-AA22-007AF101573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заглавия щёлкните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ln w="0">
            <a:noFill/>
          </a:ln>
        </p:spPr>
      </p:pic>
      <p:pic>
        <p:nvPicPr>
          <p:cNvPr id="9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ln w="0">
            <a:noFill/>
          </a:ln>
        </p:spPr>
      </p:pic>
      <p:sp>
        <p:nvSpPr>
          <p:cNvPr id="10" name="Image 2"/>
          <p:cNvSpPr/>
          <p:nvPr/>
        </p:nvSpPr>
        <p:spPr>
          <a:xfrm>
            <a:off x="6786360" y="3240720"/>
            <a:ext cx="5404320" cy="3616560"/>
          </a:xfrm>
          <a:custGeom>
            <a:avLst/>
            <a:gdLst>
              <a:gd name="textAreaLeft" fmla="*/ 0 w 5404320"/>
              <a:gd name="textAreaRight" fmla="*/ 36000000 w 5404320"/>
              <a:gd name="textAreaTop" fmla="*/ 0 h 3616560"/>
              <a:gd name="textAreaBottom" fmla="*/ 36000000 h 3616560"/>
            </a:gdLst>
            <a:ahLst/>
            <a:rect l="textAreaLeft" t="textAreaTop" r="textAreaRight" b="textAreaBottom"/>
            <a:pathLst>
              <a:path w="100000" h="100000">
                <a:moveTo>
                  <a:pt x="0" y="100000"/>
                </a:moveTo>
                <a:lnTo>
                  <a:pt x="65600" y="0"/>
                </a:lnTo>
                <a:lnTo>
                  <a:pt x="100000" y="50390"/>
                </a:lnTo>
                <a:lnTo>
                  <a:pt x="100000" y="10000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Image 3"/>
          <p:cNvSpPr/>
          <p:nvPr/>
        </p:nvSpPr>
        <p:spPr>
          <a:xfrm>
            <a:off x="6786360" y="3240720"/>
            <a:ext cx="5404320" cy="3616560"/>
          </a:xfrm>
          <a:custGeom>
            <a:avLst/>
            <a:gdLst>
              <a:gd name="textAreaLeft" fmla="*/ 0 w 5404320"/>
              <a:gd name="textAreaRight" fmla="*/ 36000000 w 5404320"/>
              <a:gd name="textAreaTop" fmla="*/ 0 h 3616560"/>
              <a:gd name="textAreaBottom" fmla="*/ 36000000 h 3616560"/>
            </a:gdLst>
            <a:ahLst/>
            <a:rect l="textAreaLeft" t="textAreaTop" r="textAreaRight" b="textAreaBottom"/>
            <a:pathLst>
              <a:path w="100000" h="100000">
                <a:moveTo>
                  <a:pt x="0" y="100000"/>
                </a:moveTo>
                <a:lnTo>
                  <a:pt x="65600" y="0"/>
                </a:lnTo>
                <a:lnTo>
                  <a:pt x="100000" y="50390"/>
                </a:lnTo>
                <a:lnTo>
                  <a:pt x="100000" y="10000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Image 4"/>
          <p:cNvSpPr/>
          <p:nvPr/>
        </p:nvSpPr>
        <p:spPr>
          <a:xfrm>
            <a:off x="7736040" y="3565080"/>
            <a:ext cx="4454640" cy="3292200"/>
          </a:xfrm>
          <a:custGeom>
            <a:avLst/>
            <a:gdLst>
              <a:gd name="textAreaLeft" fmla="*/ 0 w 4454640"/>
              <a:gd name="textAreaRight" fmla="*/ 36000000 w 4454640"/>
              <a:gd name="textAreaTop" fmla="*/ 0 h 3292200"/>
              <a:gd name="textAreaBottom" fmla="*/ 36000000 h 3292200"/>
            </a:gdLst>
            <a:ahLst/>
            <a:rect l="textAreaLeft" t="textAreaTop" r="textAreaRight" b="textAreaBottom"/>
            <a:pathLst>
              <a:path w="100000" h="100000">
                <a:moveTo>
                  <a:pt x="100000" y="100000"/>
                </a:moveTo>
                <a:lnTo>
                  <a:pt x="0" y="100000"/>
                </a:lnTo>
                <a:lnTo>
                  <a:pt x="73900" y="0"/>
                </a:lnTo>
                <a:lnTo>
                  <a:pt x="100000" y="3531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Image 5"/>
          <p:cNvSpPr/>
          <p:nvPr/>
        </p:nvSpPr>
        <p:spPr>
          <a:xfrm>
            <a:off x="0" y="0"/>
            <a:ext cx="10147680" cy="6857280"/>
          </a:xfrm>
          <a:custGeom>
            <a:avLst/>
            <a:gdLst>
              <a:gd name="textAreaLeft" fmla="*/ 0 w 10147680"/>
              <a:gd name="textAreaRight" fmla="*/ 36000000 w 10147680"/>
              <a:gd name="textAreaTop" fmla="*/ 0 h 6857280"/>
              <a:gd name="textAreaBottom" fmla="*/ 36000000 h 6857280"/>
            </a:gdLst>
            <a:ahLst/>
            <a:rect l="textAreaLeft" t="textAreaTop" r="textAreaRight" b="textAreaBottom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32210" y="100000"/>
                </a:lnTo>
                <a:lnTo>
                  <a:pt x="31850" y="100000"/>
                </a:lnTo>
                <a:lnTo>
                  <a:pt x="0" y="5273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Image 6"/>
          <p:cNvSpPr/>
          <p:nvPr/>
        </p:nvSpPr>
        <p:spPr>
          <a:xfrm>
            <a:off x="0" y="0"/>
            <a:ext cx="8577720" cy="6381360"/>
          </a:xfrm>
          <a:custGeom>
            <a:avLst/>
            <a:gdLst>
              <a:gd name="textAreaLeft" fmla="*/ 0 w 8577720"/>
              <a:gd name="textAreaRight" fmla="*/ 36000000 w 8577720"/>
              <a:gd name="textAreaTop" fmla="*/ 0 h 6381360"/>
              <a:gd name="textAreaBottom" fmla="*/ 36000000 h 6381360"/>
            </a:gdLst>
            <a:ahLst/>
            <a:rect l="textAreaLeft" t="textAreaTop" r="textAreaRight" b="textAreaBottom"/>
            <a:pathLst>
              <a:path w="100000" h="100000">
                <a:moveTo>
                  <a:pt x="0" y="65380"/>
                </a:moveTo>
                <a:lnTo>
                  <a:pt x="0" y="0"/>
                </a:lnTo>
                <a:lnTo>
                  <a:pt x="100000" y="0"/>
                </a:lnTo>
                <a:lnTo>
                  <a:pt x="25840" y="10000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0"/>
          <p:cNvSpPr/>
          <p:nvPr/>
        </p:nvSpPr>
        <p:spPr>
          <a:xfrm>
            <a:off x="940320" y="1110960"/>
            <a:ext cx="5323680" cy="182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TeachAI — интеллектуальная система персонализированного обучения на основе LLM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" name="Image 7" descr="preencoded.png"/>
          <p:cNvPicPr/>
          <p:nvPr/>
        </p:nvPicPr>
        <p:blipFill>
          <a:blip r:embed="rId8"/>
          <a:stretch/>
        </p:blipFill>
        <p:spPr>
          <a:xfrm>
            <a:off x="8841240" y="444240"/>
            <a:ext cx="2936520" cy="401040"/>
          </a:xfrm>
          <a:prstGeom prst="rect">
            <a:avLst/>
          </a:prstGeom>
          <a:ln w="0">
            <a:noFill/>
          </a:ln>
        </p:spPr>
      </p:pic>
      <p:sp>
        <p:nvSpPr>
          <p:cNvPr id="17" name="Text 1"/>
          <p:cNvSpPr/>
          <p:nvPr/>
        </p:nvSpPr>
        <p:spPr>
          <a:xfrm>
            <a:off x="970560" y="505080"/>
            <a:ext cx="4743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Montserrat"/>
                <a:ea typeface="Montserrat"/>
              </a:rPr>
              <a:t>Игорь Пучкин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970560" y="3526560"/>
            <a:ext cx="4743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Montserrat"/>
                <a:ea typeface="Montserrat"/>
              </a:rPr>
              <a:t>Старт: [дата] · Защита: [дата]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3"/>
          <p:cNvSpPr/>
          <p:nvPr/>
        </p:nvSpPr>
        <p:spPr>
          <a:xfrm>
            <a:off x="7112160" y="4883400"/>
            <a:ext cx="467856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Montserrat"/>
                <a:ea typeface="Montserrat"/>
              </a:rPr>
              <a:t>Курс: AI/ML - разработчик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7112160" y="5280480"/>
            <a:ext cx="46785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Montserrat"/>
                <a:ea typeface="Montserrat"/>
              </a:rPr>
              <a:t>Университет искусственного интеллекта, Пермь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/>
          <p:cNvSpPr/>
          <p:nvPr/>
        </p:nvSpPr>
        <p:spPr>
          <a:xfrm>
            <a:off x="645120" y="4931280"/>
            <a:ext cx="1582920" cy="1926000"/>
          </a:xfrm>
          <a:custGeom>
            <a:avLst/>
            <a:gdLst>
              <a:gd name="textAreaLeft" fmla="*/ 0 w 1582920"/>
              <a:gd name="textAreaRight" fmla="*/ 1583640 w 1582920"/>
              <a:gd name="textAreaTop" fmla="*/ 0 h 1926000"/>
              <a:gd name="textAreaBottom" fmla="*/ 1926720 h 1926000"/>
            </a:gdLst>
            <a:ahLst/>
            <a:rect l="textAreaLeft" t="textAreaTop" r="textAreaRight" b="textAreaBottom"/>
            <a:pathLst>
              <a:path w="1583591" h="1926630">
                <a:moveTo>
                  <a:pt x="1583591" y="1926630"/>
                </a:moveTo>
                <a:lnTo>
                  <a:pt x="1583591" y="0"/>
                </a:lnTo>
                <a:lnTo>
                  <a:pt x="0" y="1926630"/>
                </a:lnTo>
                <a:close/>
              </a:path>
            </a:pathLst>
          </a:custGeom>
          <a:solidFill>
            <a:srgbClr val="206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Image 0"/>
          <p:cNvSpPr/>
          <p:nvPr/>
        </p:nvSpPr>
        <p:spPr>
          <a:xfrm>
            <a:off x="0" y="0"/>
            <a:ext cx="6304680" cy="6857280"/>
          </a:xfrm>
          <a:custGeom>
            <a:avLst/>
            <a:gdLst>
              <a:gd name="textAreaLeft" fmla="*/ 0 w 6304680"/>
              <a:gd name="textAreaRight" fmla="*/ 36000000 w 6304680"/>
              <a:gd name="textAreaTop" fmla="*/ 0 h 6857280"/>
              <a:gd name="textAreaBottom" fmla="*/ 36000000 h 6857280"/>
            </a:gdLst>
            <a:ahLst/>
            <a:rect l="textAreaLeft" t="textAreaTop" r="textAreaRight" b="textAreaBottom"/>
            <a:pathLst>
              <a:path w="100000" h="100000">
                <a:moveTo>
                  <a:pt x="0" y="55640"/>
                </a:moveTo>
                <a:lnTo>
                  <a:pt x="0" y="0"/>
                </a:lnTo>
                <a:lnTo>
                  <a:pt x="22220" y="0"/>
                </a:lnTo>
                <a:lnTo>
                  <a:pt x="100000" y="99830"/>
                </a:lnTo>
                <a:lnTo>
                  <a:pt x="99870" y="100000"/>
                </a:lnTo>
                <a:lnTo>
                  <a:pt x="34300" y="100000"/>
                </a:lnTo>
                <a:lnTo>
                  <a:pt x="34430" y="9983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1"/>
          <p:cNvSpPr/>
          <p:nvPr/>
        </p:nvSpPr>
        <p:spPr>
          <a:xfrm>
            <a:off x="9612360" y="0"/>
            <a:ext cx="2578320" cy="2958840"/>
          </a:xfrm>
          <a:custGeom>
            <a:avLst/>
            <a:gdLst>
              <a:gd name="textAreaLeft" fmla="*/ 0 w 2578320"/>
              <a:gd name="textAreaRight" fmla="*/ 2579040 w 2578320"/>
              <a:gd name="textAreaTop" fmla="*/ 0 h 2958840"/>
              <a:gd name="textAreaBottom" fmla="*/ 2959560 h 2958840"/>
            </a:gdLst>
            <a:ahLst/>
            <a:rect l="textAreaLeft" t="textAreaTop" r="textAreaRight" b="textAreaBottom"/>
            <a:pathLst>
              <a:path w="2579127" h="2959596">
                <a:moveTo>
                  <a:pt x="2579127" y="0"/>
                </a:moveTo>
                <a:lnTo>
                  <a:pt x="0" y="0"/>
                </a:lnTo>
                <a:lnTo>
                  <a:pt x="2579127" y="2959596"/>
                </a:lnTo>
                <a:close/>
              </a:path>
            </a:pathLst>
          </a:custGeom>
          <a:solidFill>
            <a:srgbClr val="eef0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2"/>
          <p:cNvSpPr/>
          <p:nvPr/>
        </p:nvSpPr>
        <p:spPr>
          <a:xfrm>
            <a:off x="3904200" y="784800"/>
            <a:ext cx="71636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100" spc="-1" strike="noStrike">
                <a:solidFill>
                  <a:srgbClr val="2763f9"/>
                </a:solidFill>
                <a:latin typeface="Montserrat ExtraBold"/>
                <a:ea typeface="Montserrat ExtraBold"/>
              </a:rPr>
              <a:t>Постановка задачи</a:t>
            </a:r>
            <a:endParaRPr b="0" lang="ru-RU" sz="5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3"/>
          <p:cNvSpPr/>
          <p:nvPr/>
        </p:nvSpPr>
        <p:spPr>
          <a:xfrm>
            <a:off x="4028400" y="1778400"/>
            <a:ext cx="8162280" cy="374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4"/>
          <p:cNvSpPr/>
          <p:nvPr/>
        </p:nvSpPr>
        <p:spPr>
          <a:xfrm>
            <a:off x="6396840" y="2559600"/>
            <a:ext cx="5398920" cy="39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06440" indent="-406440" defTabSz="914400">
              <a:lnSpc>
                <a:spcPct val="15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Подготовка курса (план → уроки → примеры → проверка) требует много ручной работы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406440" indent="-406440" defTabSz="914400">
              <a:lnSpc>
                <a:spcPct val="15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Типовой курс не учитывает темп и стиль общения обучающегося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406440" indent="-406440" defTabSz="914400">
              <a:lnSpc>
                <a:spcPct val="15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Нужна система, которая ведёт обучение через готовую LLM, а не обучает свою модель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5"/>
          <p:cNvSpPr/>
          <p:nvPr/>
        </p:nvSpPr>
        <p:spPr>
          <a:xfrm>
            <a:off x="762120" y="2921040"/>
            <a:ext cx="4825080" cy="1577520"/>
          </a:xfrm>
          <a:prstGeom prst="roundRect">
            <a:avLst>
              <a:gd name="adj" fmla="val 2172"/>
            </a:avLst>
          </a:prstGeom>
          <a:solidFill>
            <a:srgbClr val="206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6"/>
          <p:cNvSpPr/>
          <p:nvPr/>
        </p:nvSpPr>
        <p:spPr>
          <a:xfrm>
            <a:off x="819000" y="2921040"/>
            <a:ext cx="4710960" cy="157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Montserrat"/>
                <a:ea typeface="Montserrat"/>
              </a:rPr>
              <a:t>Профиль + тема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Montserrat"/>
                <a:ea typeface="Montserrat"/>
              </a:rPr>
              <a:t>↓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Montserrat"/>
                <a:ea typeface="Montserrat"/>
              </a:rPr>
              <a:t>Интерактивный курс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0" descr="preencoded.png"/>
          <p:cNvPicPr/>
          <p:nvPr/>
        </p:nvPicPr>
        <p:blipFill>
          <a:blip r:embed="rId1"/>
          <a:stretch/>
        </p:blipFill>
        <p:spPr>
          <a:xfrm>
            <a:off x="0" y="415800"/>
            <a:ext cx="6363720" cy="1335960"/>
          </a:xfrm>
          <a:prstGeom prst="rect">
            <a:avLst/>
          </a:prstGeom>
          <a:ln w="0">
            <a:noFill/>
          </a:ln>
        </p:spPr>
      </p:pic>
      <p:pic>
        <p:nvPicPr>
          <p:cNvPr id="30" name="Image 1" descr="preencoded.png"/>
          <p:cNvPicPr/>
          <p:nvPr/>
        </p:nvPicPr>
        <p:blipFill>
          <a:blip r:embed="rId2"/>
          <a:stretch/>
        </p:blipFill>
        <p:spPr>
          <a:xfrm>
            <a:off x="0" y="1630800"/>
            <a:ext cx="6363720" cy="5226480"/>
          </a:xfrm>
          <a:prstGeom prst="rect">
            <a:avLst/>
          </a:prstGeom>
          <a:ln w="0">
            <a:noFill/>
          </a:ln>
        </p:spPr>
      </p:pic>
      <p:sp>
        <p:nvSpPr>
          <p:cNvPr id="31" name="Shape 0"/>
          <p:cNvSpPr/>
          <p:nvPr/>
        </p:nvSpPr>
        <p:spPr>
          <a:xfrm>
            <a:off x="0" y="214200"/>
            <a:ext cx="6771600" cy="6643080"/>
          </a:xfrm>
          <a:custGeom>
            <a:avLst/>
            <a:gdLst>
              <a:gd name="textAreaLeft" fmla="*/ 0 w 6771600"/>
              <a:gd name="textAreaRight" fmla="*/ 6772320 w 6771600"/>
              <a:gd name="textAreaTop" fmla="*/ 0 h 6643080"/>
              <a:gd name="textAreaBottom" fmla="*/ 6643800 h 6643080"/>
            </a:gdLst>
            <a:ahLst/>
            <a:rect l="textAreaLeft" t="textAreaTop" r="textAreaRight" b="textAreaBottom"/>
            <a:pathLst>
              <a:path w="6772205" h="6643688">
                <a:moveTo>
                  <a:pt x="6289347" y="6643688"/>
                </a:moveTo>
                <a:lnTo>
                  <a:pt x="0" y="354109"/>
                </a:lnTo>
                <a:lnTo>
                  <a:pt x="0" y="0"/>
                </a:lnTo>
                <a:lnTo>
                  <a:pt x="6751211" y="21924"/>
                </a:lnTo>
                <a:lnTo>
                  <a:pt x="6772205" y="664368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1"/>
          <p:cNvSpPr/>
          <p:nvPr/>
        </p:nvSpPr>
        <p:spPr>
          <a:xfrm>
            <a:off x="2958120" y="0"/>
            <a:ext cx="4255200" cy="2113920"/>
          </a:xfrm>
          <a:custGeom>
            <a:avLst/>
            <a:gdLst>
              <a:gd name="textAreaLeft" fmla="*/ 0 w 4255200"/>
              <a:gd name="textAreaRight" fmla="*/ 4255920 w 4255200"/>
              <a:gd name="textAreaTop" fmla="*/ 0 h 2113920"/>
              <a:gd name="textAreaBottom" fmla="*/ 2114640 h 2113920"/>
            </a:gdLst>
            <a:ahLst/>
            <a:rect l="textAreaLeft" t="textAreaTop" r="textAreaRight" b="textAreaBottom"/>
            <a:pathLst>
              <a:path w="4256080" h="2114550">
                <a:moveTo>
                  <a:pt x="4256080" y="0"/>
                </a:moveTo>
                <a:lnTo>
                  <a:pt x="2128040" y="2114550"/>
                </a:lnTo>
                <a:lnTo>
                  <a:pt x="0" y="0"/>
                </a:lnTo>
                <a:close/>
              </a:path>
            </a:pathLst>
          </a:custGeom>
          <a:solidFill>
            <a:srgbClr val="eef0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2"/>
          <p:cNvSpPr/>
          <p:nvPr/>
        </p:nvSpPr>
        <p:spPr>
          <a:xfrm>
            <a:off x="47520" y="0"/>
            <a:ext cx="5758200" cy="5744880"/>
          </a:xfrm>
          <a:custGeom>
            <a:avLst/>
            <a:gdLst>
              <a:gd name="textAreaLeft" fmla="*/ 0 w 5758200"/>
              <a:gd name="textAreaRight" fmla="*/ 5758920 w 5758200"/>
              <a:gd name="textAreaTop" fmla="*/ 0 h 5744880"/>
              <a:gd name="textAreaBottom" fmla="*/ 5745600 h 5744880"/>
            </a:gdLst>
            <a:ahLst/>
            <a:rect l="textAreaLeft" t="textAreaTop" r="textAreaRight" b="textAreaBottom"/>
            <a:pathLst>
              <a:path w="5759008" h="5745659">
                <a:moveTo>
                  <a:pt x="13246" y="0"/>
                </a:moveTo>
                <a:lnTo>
                  <a:pt x="40313" y="0"/>
                </a:lnTo>
                <a:lnTo>
                  <a:pt x="5759008" y="5718654"/>
                </a:lnTo>
                <a:lnTo>
                  <a:pt x="5731941" y="5745659"/>
                </a:lnTo>
                <a:lnTo>
                  <a:pt x="0" y="132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3"/>
          <p:cNvSpPr/>
          <p:nvPr/>
        </p:nvSpPr>
        <p:spPr>
          <a:xfrm>
            <a:off x="5398560" y="0"/>
            <a:ext cx="3021120" cy="2994120"/>
          </a:xfrm>
          <a:custGeom>
            <a:avLst/>
            <a:gdLst>
              <a:gd name="textAreaLeft" fmla="*/ 0 w 3021120"/>
              <a:gd name="textAreaRight" fmla="*/ 3021840 w 3021120"/>
              <a:gd name="textAreaTop" fmla="*/ 0 h 2994120"/>
              <a:gd name="textAreaBottom" fmla="*/ 2994840 h 2994120"/>
            </a:gdLst>
            <a:ahLst/>
            <a:rect l="textAreaLeft" t="textAreaTop" r="textAreaRight" b="textAreaBottom"/>
            <a:pathLst>
              <a:path w="3021731" h="2994819">
                <a:moveTo>
                  <a:pt x="3021731" y="0"/>
                </a:moveTo>
                <a:lnTo>
                  <a:pt x="26893" y="2994819"/>
                </a:lnTo>
                <a:lnTo>
                  <a:pt x="0" y="2967865"/>
                </a:lnTo>
                <a:lnTo>
                  <a:pt x="296794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4"/>
          <p:cNvSpPr/>
          <p:nvPr/>
        </p:nvSpPr>
        <p:spPr>
          <a:xfrm>
            <a:off x="7181280" y="1962000"/>
            <a:ext cx="4952520" cy="19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5500" spc="-1" strike="noStrike">
                <a:solidFill>
                  <a:srgbClr val="2064fb"/>
                </a:solidFill>
                <a:latin typeface="Montserrat ExtraBold"/>
                <a:ea typeface="Montserrat ExtraBold"/>
              </a:rPr>
              <a:t>Цель проекта</a:t>
            </a:r>
            <a:endParaRPr b="0" lang="ru-RU" sz="5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5"/>
          <p:cNvSpPr/>
          <p:nvPr/>
        </p:nvSpPr>
        <p:spPr>
          <a:xfrm>
            <a:off x="6910560" y="3720600"/>
            <a:ext cx="5158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25080" indent="-325080" defTabSz="914400">
              <a:lnSpc>
                <a:spcPct val="2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000000"/>
                </a:solidFill>
                <a:latin typeface="Montserrat Medium"/>
                <a:ea typeface="Montserrat Medium"/>
              </a:rPr>
              <a:t>Разработать обучающую систему TeachAI: генерация персонализированного учебного контента на предобученной LLM через API, без датасета и fine-tuning; курс в Jupyter с UI, прогрессом и обоснованным выбором модели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0" descr="preencoded.png"/>
          <p:cNvPicPr/>
          <p:nvPr/>
        </p:nvPicPr>
        <p:blipFill>
          <a:blip r:embed="rId1"/>
          <a:stretch/>
        </p:blipFill>
        <p:spPr>
          <a:xfrm>
            <a:off x="4457520" y="0"/>
            <a:ext cx="7733520" cy="6857280"/>
          </a:xfrm>
          <a:prstGeom prst="rect">
            <a:avLst/>
          </a:prstGeom>
          <a:ln w="0">
            <a:noFill/>
          </a:ln>
        </p:spPr>
      </p:pic>
      <p:pic>
        <p:nvPicPr>
          <p:cNvPr id="38" name="Image 1" descr="preencoded.png"/>
          <p:cNvPicPr/>
          <p:nvPr/>
        </p:nvPicPr>
        <p:blipFill>
          <a:blip r:embed="rId2"/>
          <a:stretch/>
        </p:blipFill>
        <p:spPr>
          <a:xfrm>
            <a:off x="5028840" y="0"/>
            <a:ext cx="7162200" cy="6857280"/>
          </a:xfrm>
          <a:prstGeom prst="rect">
            <a:avLst/>
          </a:prstGeom>
          <a:ln w="0">
            <a:noFill/>
          </a:ln>
        </p:spPr>
      </p:pic>
      <p:sp>
        <p:nvSpPr>
          <p:cNvPr id="39" name="Shape 0"/>
          <p:cNvSpPr/>
          <p:nvPr/>
        </p:nvSpPr>
        <p:spPr>
          <a:xfrm>
            <a:off x="5335200" y="0"/>
            <a:ext cx="6855840" cy="6856200"/>
          </a:xfrm>
          <a:custGeom>
            <a:avLst/>
            <a:gdLst>
              <a:gd name="textAreaLeft" fmla="*/ 0 w 6855840"/>
              <a:gd name="textAreaRight" fmla="*/ 6856560 w 6855840"/>
              <a:gd name="textAreaTop" fmla="*/ 0 h 6856200"/>
              <a:gd name="textAreaBottom" fmla="*/ 6856920 h 6856200"/>
            </a:gdLst>
            <a:ahLst/>
            <a:rect l="textAreaLeft" t="textAreaTop" r="textAreaRight" b="textAreaBottom"/>
            <a:pathLst>
              <a:path w="6856638" h="6856809">
                <a:moveTo>
                  <a:pt x="0" y="6856809"/>
                </a:moveTo>
                <a:lnTo>
                  <a:pt x="0" y="0"/>
                </a:lnTo>
                <a:lnTo>
                  <a:pt x="6856638" y="685680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1"/>
          <p:cNvSpPr/>
          <p:nvPr/>
        </p:nvSpPr>
        <p:spPr>
          <a:xfrm>
            <a:off x="0" y="0"/>
            <a:ext cx="5371200" cy="68572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2"/>
          <p:cNvSpPr/>
          <p:nvPr/>
        </p:nvSpPr>
        <p:spPr>
          <a:xfrm rot="5400000">
            <a:off x="360" y="0"/>
            <a:ext cx="5028480" cy="5028120"/>
          </a:xfrm>
          <a:custGeom>
            <a:avLst/>
            <a:gdLst>
              <a:gd name="textAreaLeft" fmla="*/ 0 w 5028480"/>
              <a:gd name="textAreaRight" fmla="*/ 5029200 w 5028480"/>
              <a:gd name="textAreaTop" fmla="*/ 0 h 5028120"/>
              <a:gd name="textAreaBottom" fmla="*/ 5028840 h 5028120"/>
            </a:gdLst>
            <a:ahLst/>
            <a:rect l="textAreaLeft" t="textAreaTop" r="textAreaRight" b="textAreaBottom"/>
            <a:pathLst>
              <a:path w="5029074" h="5028902">
                <a:moveTo>
                  <a:pt x="0" y="5028902"/>
                </a:moveTo>
                <a:lnTo>
                  <a:pt x="0" y="0"/>
                </a:lnTo>
                <a:lnTo>
                  <a:pt x="5029074" y="5028902"/>
                </a:lnTo>
                <a:close/>
              </a:path>
            </a:pathLst>
          </a:custGeom>
          <a:solidFill>
            <a:srgbClr val="eef0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3"/>
          <p:cNvSpPr/>
          <p:nvPr/>
        </p:nvSpPr>
        <p:spPr>
          <a:xfrm>
            <a:off x="4299480" y="0"/>
            <a:ext cx="4229280" cy="4202640"/>
          </a:xfrm>
          <a:custGeom>
            <a:avLst/>
            <a:gdLst>
              <a:gd name="textAreaLeft" fmla="*/ 0 w 4229280"/>
              <a:gd name="textAreaRight" fmla="*/ 4230000 w 4229280"/>
              <a:gd name="textAreaTop" fmla="*/ 0 h 4202640"/>
              <a:gd name="textAreaBottom" fmla="*/ 4203360 h 4202640"/>
            </a:gdLst>
            <a:ahLst/>
            <a:rect l="textAreaLeft" t="textAreaTop" r="textAreaRight" b="textAreaBottom"/>
            <a:pathLst>
              <a:path w="4230086" h="4203303">
                <a:moveTo>
                  <a:pt x="4203013" y="4203303"/>
                </a:moveTo>
                <a:lnTo>
                  <a:pt x="0" y="0"/>
                </a:lnTo>
                <a:lnTo>
                  <a:pt x="53722" y="0"/>
                </a:lnTo>
                <a:lnTo>
                  <a:pt x="4230086" y="417640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4"/>
          <p:cNvSpPr/>
          <p:nvPr/>
        </p:nvSpPr>
        <p:spPr>
          <a:xfrm>
            <a:off x="1146960" y="1047240"/>
            <a:ext cx="7163640" cy="83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500" spc="-1" strike="noStrike">
                <a:solidFill>
                  <a:srgbClr val="2064fb"/>
                </a:solidFill>
                <a:latin typeface="Montserrat ExtraBold"/>
                <a:ea typeface="Montserrat ExtraBold"/>
              </a:rPr>
              <a:t>Задачи проекта</a:t>
            </a:r>
            <a:endParaRPr b="0" lang="ru-RU" sz="5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5"/>
          <p:cNvSpPr/>
          <p:nvPr/>
        </p:nvSpPr>
        <p:spPr>
          <a:xfrm>
            <a:off x="700920" y="2568600"/>
            <a:ext cx="6673320" cy="41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1 Генерация: план, уроки, примеры, тесты, ответы, практика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2 Персонализация: профиль, стиль, длительность и объём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3 Интерактив в Jupyter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4 Контроль ответов LLM: валидация, фильтр вопросов, проверка кода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5 Сохранение прогресса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6 Экспериментальный выбор модели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 0" descr="preencoded.png"/>
          <p:cNvPicPr/>
          <p:nvPr/>
        </p:nvPicPr>
        <p:blipFill>
          <a:blip r:embed="rId1"/>
          <a:stretch/>
        </p:blipFill>
        <p:spPr>
          <a:xfrm>
            <a:off x="5333760" y="0"/>
            <a:ext cx="6857280" cy="6857280"/>
          </a:xfrm>
          <a:prstGeom prst="rect">
            <a:avLst/>
          </a:prstGeom>
          <a:ln w="0">
            <a:noFill/>
          </a:ln>
        </p:spPr>
      </p:pic>
      <p:pic>
        <p:nvPicPr>
          <p:cNvPr id="46" name="Image 1" descr="preencoded.png"/>
          <p:cNvPicPr/>
          <p:nvPr/>
        </p:nvPicPr>
        <p:blipFill>
          <a:blip r:embed="rId2"/>
          <a:stretch/>
        </p:blipFill>
        <p:spPr>
          <a:xfrm>
            <a:off x="5333760" y="0"/>
            <a:ext cx="6857280" cy="6857280"/>
          </a:xfrm>
          <a:prstGeom prst="rect">
            <a:avLst/>
          </a:prstGeom>
          <a:ln w="0">
            <a:noFill/>
          </a:ln>
        </p:spPr>
      </p:pic>
      <p:sp>
        <p:nvSpPr>
          <p:cNvPr id="47" name="Shape 0"/>
          <p:cNvSpPr/>
          <p:nvPr/>
        </p:nvSpPr>
        <p:spPr>
          <a:xfrm>
            <a:off x="5010120" y="0"/>
            <a:ext cx="7180920" cy="6857280"/>
          </a:xfrm>
          <a:custGeom>
            <a:avLst/>
            <a:gdLst>
              <a:gd name="textAreaLeft" fmla="*/ 0 w 7180920"/>
              <a:gd name="textAreaRight" fmla="*/ 7181640 w 7180920"/>
              <a:gd name="textAreaTop" fmla="*/ 0 h 6857280"/>
              <a:gd name="textAreaBottom" fmla="*/ 6858000 h 6857280"/>
            </a:gdLst>
            <a:ahLst/>
            <a:rect l="textAreaLeft" t="textAreaTop" r="textAreaRight" b="textAreaBottom"/>
            <a:pathLst>
              <a:path w="7181670" h="6858000">
                <a:moveTo>
                  <a:pt x="7181670" y="0"/>
                </a:moveTo>
                <a:lnTo>
                  <a:pt x="0" y="0"/>
                </a:lnTo>
                <a:lnTo>
                  <a:pt x="0" y="6858000"/>
                </a:lnTo>
                <a:lnTo>
                  <a:pt x="323893" y="6858000"/>
                </a:lnTo>
                <a:lnTo>
                  <a:pt x="718167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1"/>
          <p:cNvSpPr/>
          <p:nvPr/>
        </p:nvSpPr>
        <p:spPr>
          <a:xfrm>
            <a:off x="6082200" y="0"/>
            <a:ext cx="4028400" cy="2013840"/>
          </a:xfrm>
          <a:custGeom>
            <a:avLst/>
            <a:gdLst>
              <a:gd name="textAreaLeft" fmla="*/ 0 w 4028400"/>
              <a:gd name="textAreaRight" fmla="*/ 4029120 w 4028400"/>
              <a:gd name="textAreaTop" fmla="*/ 0 h 2013840"/>
              <a:gd name="textAreaBottom" fmla="*/ 2014560 h 2013840"/>
            </a:gdLst>
            <a:ahLst/>
            <a:rect l="textAreaLeft" t="textAreaTop" r="textAreaRight" b="textAreaBottom"/>
            <a:pathLst>
              <a:path w="4029272" h="2014637">
                <a:moveTo>
                  <a:pt x="4029272" y="0"/>
                </a:moveTo>
                <a:lnTo>
                  <a:pt x="2014636" y="2014637"/>
                </a:lnTo>
                <a:lnTo>
                  <a:pt x="0" y="0"/>
                </a:lnTo>
                <a:close/>
              </a:path>
            </a:pathLst>
          </a:custGeom>
          <a:solidFill>
            <a:srgbClr val="eef0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2"/>
          <p:cNvSpPr/>
          <p:nvPr/>
        </p:nvSpPr>
        <p:spPr>
          <a:xfrm>
            <a:off x="5382000" y="0"/>
            <a:ext cx="2807280" cy="2780280"/>
          </a:xfrm>
          <a:custGeom>
            <a:avLst/>
            <a:gdLst>
              <a:gd name="textAreaLeft" fmla="*/ 0 w 2807280"/>
              <a:gd name="textAreaRight" fmla="*/ 2808000 w 2807280"/>
              <a:gd name="textAreaTop" fmla="*/ 0 h 2780280"/>
              <a:gd name="textAreaBottom" fmla="*/ 2781000 h 2780280"/>
            </a:gdLst>
            <a:ahLst/>
            <a:rect l="textAreaLeft" t="textAreaTop" r="textAreaRight" b="textAreaBottom"/>
            <a:pathLst>
              <a:path w="2808019" h="2781102">
                <a:moveTo>
                  <a:pt x="26957" y="0"/>
                </a:moveTo>
                <a:lnTo>
                  <a:pt x="80871" y="0"/>
                </a:lnTo>
                <a:lnTo>
                  <a:pt x="2808019" y="2727148"/>
                </a:lnTo>
                <a:lnTo>
                  <a:pt x="2754105" y="2781102"/>
                </a:lnTo>
                <a:lnTo>
                  <a:pt x="0" y="26977"/>
                </a:lnTo>
                <a:close/>
              </a:path>
            </a:pathLst>
          </a:custGeom>
          <a:solidFill>
            <a:srgbClr val="c9c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920160" y="805320"/>
            <a:ext cx="703260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2064fb"/>
                </a:solidFill>
                <a:latin typeface="Montserrat ExtraBold"/>
                <a:ea typeface="Montserrat ExtraBold"/>
              </a:rPr>
              <a:t>Данные и модель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4"/>
          <p:cNvSpPr/>
          <p:nvPr/>
        </p:nvSpPr>
        <p:spPr>
          <a:xfrm>
            <a:off x="5882400" y="0"/>
            <a:ext cx="5844960" cy="5818320"/>
          </a:xfrm>
          <a:custGeom>
            <a:avLst/>
            <a:gdLst>
              <a:gd name="textAreaLeft" fmla="*/ 0 w 5844960"/>
              <a:gd name="textAreaRight" fmla="*/ 5845680 w 5844960"/>
              <a:gd name="textAreaTop" fmla="*/ 0 h 5818320"/>
              <a:gd name="textAreaBottom" fmla="*/ 5819040 h 5818320"/>
            </a:gdLst>
            <a:ahLst/>
            <a:rect l="textAreaLeft" t="textAreaTop" r="textAreaRight" b="textAreaBottom"/>
            <a:pathLst>
              <a:path w="5845525" h="5818882">
                <a:moveTo>
                  <a:pt x="5818635" y="0"/>
                </a:moveTo>
                <a:lnTo>
                  <a:pt x="5845525" y="26767"/>
                </a:lnTo>
                <a:lnTo>
                  <a:pt x="53779" y="5818882"/>
                </a:lnTo>
                <a:lnTo>
                  <a:pt x="0" y="5764766"/>
                </a:lnTo>
                <a:lnTo>
                  <a:pt x="576485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5"/>
          <p:cNvSpPr/>
          <p:nvPr/>
        </p:nvSpPr>
        <p:spPr>
          <a:xfrm>
            <a:off x="0" y="6000480"/>
            <a:ext cx="856440" cy="856800"/>
          </a:xfrm>
          <a:custGeom>
            <a:avLst/>
            <a:gdLst>
              <a:gd name="textAreaLeft" fmla="*/ 0 w 856440"/>
              <a:gd name="textAreaRight" fmla="*/ 857160 w 856440"/>
              <a:gd name="textAreaTop" fmla="*/ 0 h 856800"/>
              <a:gd name="textAreaBottom" fmla="*/ 857520 h 856800"/>
            </a:gdLst>
            <a:ahLst/>
            <a:rect l="textAreaLeft" t="textAreaTop" r="textAreaRight" b="textAreaBottom"/>
            <a:pathLst>
              <a:path w="857328" h="857349">
                <a:moveTo>
                  <a:pt x="0" y="857349"/>
                </a:moveTo>
                <a:lnTo>
                  <a:pt x="0" y="0"/>
                </a:lnTo>
                <a:lnTo>
                  <a:pt x="857328" y="85734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882720" y="2540160"/>
            <a:ext cx="3695040" cy="245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Есть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Предобученная LLM через API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Модель gpt-4o-mini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Параметры запроса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Данные сессии в JSON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7"/>
          <p:cNvSpPr/>
          <p:nvPr/>
        </p:nvSpPr>
        <p:spPr>
          <a:xfrm>
            <a:off x="4883040" y="2540160"/>
            <a:ext cx="2805840" cy="245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Нет (согласовано)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Свой датасет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Fine-tuning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RAG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Парсинг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/>
          <p:nvPr/>
        </p:nvSpPr>
        <p:spPr>
          <a:xfrm>
            <a:off x="3266280" y="380880"/>
            <a:ext cx="810540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Montserrat ExtraBold"/>
                <a:ea typeface="Montserrat ExtraBold"/>
              </a:rPr>
              <a:t>Архитектура системы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1"/>
          <p:cNvSpPr/>
          <p:nvPr/>
        </p:nvSpPr>
        <p:spPr>
          <a:xfrm>
            <a:off x="0" y="0"/>
            <a:ext cx="3533040" cy="2013840"/>
          </a:xfrm>
          <a:custGeom>
            <a:avLst/>
            <a:gdLst>
              <a:gd name="textAreaLeft" fmla="*/ 0 w 3533040"/>
              <a:gd name="textAreaRight" fmla="*/ 3533760 w 3533040"/>
              <a:gd name="textAreaTop" fmla="*/ 0 h 2013840"/>
              <a:gd name="textAreaBottom" fmla="*/ 2014560 h 2013840"/>
            </a:gdLst>
            <a:ahLst/>
            <a:rect l="textAreaLeft" t="textAreaTop" r="textAreaRight" b="textAreaBottom"/>
            <a:pathLst>
              <a:path w="3533885" h="2014637">
                <a:moveTo>
                  <a:pt x="3533885" y="0"/>
                </a:moveTo>
                <a:lnTo>
                  <a:pt x="1519217" y="2014637"/>
                </a:lnTo>
                <a:lnTo>
                  <a:pt x="0" y="4953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2"/>
          <p:cNvSpPr/>
          <p:nvPr/>
        </p:nvSpPr>
        <p:spPr>
          <a:xfrm>
            <a:off x="0" y="714240"/>
            <a:ext cx="1645200" cy="1699920"/>
          </a:xfrm>
          <a:custGeom>
            <a:avLst/>
            <a:gdLst>
              <a:gd name="textAreaLeft" fmla="*/ 0 w 1645200"/>
              <a:gd name="textAreaRight" fmla="*/ 1645920 w 1645200"/>
              <a:gd name="textAreaTop" fmla="*/ 0 h 1699920"/>
              <a:gd name="textAreaBottom" fmla="*/ 1700640 h 1699920"/>
            </a:gdLst>
            <a:ahLst/>
            <a:rect l="textAreaLeft" t="textAreaTop" r="textAreaRight" b="textAreaBottom"/>
            <a:pathLst>
              <a:path w="1645998" h="1700510">
                <a:moveTo>
                  <a:pt x="1645998" y="53906"/>
                </a:moveTo>
                <a:lnTo>
                  <a:pt x="0" y="1700510"/>
                </a:lnTo>
                <a:lnTo>
                  <a:pt x="0" y="1592698"/>
                </a:lnTo>
                <a:lnTo>
                  <a:pt x="1592174" y="0"/>
                </a:lnTo>
                <a:close/>
              </a:path>
            </a:pathLst>
          </a:custGeom>
          <a:solidFill>
            <a:srgbClr val="2763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Image 0"/>
          <p:cNvSpPr/>
          <p:nvPr/>
        </p:nvSpPr>
        <p:spPr>
          <a:xfrm>
            <a:off x="2914920" y="4846320"/>
            <a:ext cx="4022280" cy="2010600"/>
          </a:xfrm>
          <a:custGeom>
            <a:avLst/>
            <a:gdLst>
              <a:gd name="textAreaLeft" fmla="*/ 0 w 4022280"/>
              <a:gd name="textAreaRight" fmla="*/ 36000000 w 4022280"/>
              <a:gd name="textAreaTop" fmla="*/ 0 h 2010600"/>
              <a:gd name="textAreaBottom" fmla="*/ 36000000 h 2010600"/>
            </a:gdLst>
            <a:ahLst/>
            <a:rect l="textAreaLeft" t="textAreaTop" r="textAreaRight" b="textAreaBottom"/>
            <a:pathLst>
              <a:path w="100000" h="100000">
                <a:moveTo>
                  <a:pt x="100000" y="100000"/>
                </a:moveTo>
                <a:lnTo>
                  <a:pt x="0" y="100000"/>
                </a:lnTo>
                <a:lnTo>
                  <a:pt x="5000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3"/>
          <p:cNvSpPr/>
          <p:nvPr/>
        </p:nvSpPr>
        <p:spPr>
          <a:xfrm>
            <a:off x="755640" y="2349360"/>
            <a:ext cx="4710960" cy="33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13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Движок</a:t>
            </a:r>
            <a:r>
              <a:rPr b="0" lang="en-US" sz="1300" spc="-1" strike="noStrike">
                <a:solidFill>
                  <a:srgbClr val="000000"/>
                </a:solidFill>
                <a:latin typeface="Montserrat"/>
                <a:ea typeface="Montserrat"/>
              </a:rPr>
              <a:t> — ядро: запускает систему и связывает подсистемы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13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Конфигурация</a:t>
            </a:r>
            <a:r>
              <a:rPr b="0" lang="en-US" sz="1300" spc="-1" strike="noStrike">
                <a:solidFill>
                  <a:srgbClr val="000000"/>
                </a:solidFill>
                <a:latin typeface="Montserrat"/>
                <a:ea typeface="Montserrat"/>
              </a:rPr>
              <a:t> — ключ API, имя модели, режим сети (.env)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13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Состояние</a:t>
            </a:r>
            <a:r>
              <a:rPr b="0" lang="en-US" sz="1300" spc="-1" strike="noStrike">
                <a:solidFill>
                  <a:srgbClr val="000000"/>
                </a:solidFill>
                <a:latin typeface="Montserrat"/>
                <a:ea typeface="Montserrat"/>
              </a:rPr>
              <a:t> — профиль, план курса, прогресс в локальном JSON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13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Генерация</a:t>
            </a:r>
            <a:r>
              <a:rPr b="0" lang="en-US" sz="1300" spc="-1" strike="noStrike">
                <a:solidFill>
                  <a:srgbClr val="000000"/>
                </a:solidFill>
                <a:latin typeface="Montserrat"/>
                <a:ea typeface="Montserrat"/>
              </a:rPr>
              <a:t> — единый фасад всех запросов к LLM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13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Оценивание</a:t>
            </a:r>
            <a:r>
              <a:rPr b="0" lang="en-US" sz="1300" spc="-1" strike="noStrike">
                <a:solidFill>
                  <a:srgbClr val="000000"/>
                </a:solidFill>
                <a:latin typeface="Montserrat"/>
                <a:ea typeface="Montserrat"/>
              </a:rPr>
              <a:t> — тесты и проверка ответов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Интерфейс</a:t>
            </a:r>
            <a:r>
              <a:rPr b="0" lang="en-US" sz="1300" spc="-1" strike="noStrike">
                <a:solidFill>
                  <a:srgbClr val="000000"/>
                </a:solidFill>
                <a:latin typeface="Montserrat"/>
                <a:ea typeface="Montserrat"/>
              </a:rPr>
              <a:t> — экраны и виджеты урока в Jupyter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0" name="Image 1" descr="preencoded.png"/>
          <p:cNvPicPr/>
          <p:nvPr/>
        </p:nvPicPr>
        <p:blipFill>
          <a:blip r:embed="rId2"/>
          <a:stretch/>
        </p:blipFill>
        <p:spPr>
          <a:xfrm>
            <a:off x="5752800" y="1504080"/>
            <a:ext cx="6095160" cy="4065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0"/>
          <p:cNvSpPr/>
          <p:nvPr/>
        </p:nvSpPr>
        <p:spPr>
          <a:xfrm>
            <a:off x="806760" y="361800"/>
            <a:ext cx="5015160" cy="12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Montserrat ExtraBold"/>
                <a:ea typeface="Montserrat ExtraBold"/>
              </a:rPr>
              <a:t>Генерация контента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1"/>
          <p:cNvSpPr/>
          <p:nvPr/>
        </p:nvSpPr>
        <p:spPr>
          <a:xfrm>
            <a:off x="480600" y="0"/>
            <a:ext cx="75600" cy="2494800"/>
          </a:xfrm>
          <a:prstGeom prst="rect">
            <a:avLst/>
          </a:prstGeom>
          <a:solidFill>
            <a:srgbClr val="206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768240" y="1905120"/>
            <a:ext cx="47109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Отдельный вызов LLM под каждую задачу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3"/>
          <p:cNvSpPr/>
          <p:nvPr/>
        </p:nvSpPr>
        <p:spPr>
          <a:xfrm>
            <a:off x="768240" y="2991600"/>
            <a:ext cx="47109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Цепочка: план → урок → примеры → тест → вопрос → контрольное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768240" y="4077720"/>
            <a:ext cx="4710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У каждого шага своя инструкция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Image 0" descr="preencoded.png"/>
          <p:cNvPicPr/>
          <p:nvPr/>
        </p:nvPicPr>
        <p:blipFill>
          <a:blip r:embed="rId1"/>
          <a:stretch/>
        </p:blipFill>
        <p:spPr>
          <a:xfrm>
            <a:off x="5968800" y="2158920"/>
            <a:ext cx="5841000" cy="328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853200" y="380880"/>
            <a:ext cx="8740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Montserrat ExtraBold"/>
                <a:ea typeface="Montserrat ExtraBold"/>
              </a:rPr>
              <a:t>Промпты и контроль качества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"/>
          <p:cNvSpPr/>
          <p:nvPr/>
        </p:nvSpPr>
        <p:spPr>
          <a:xfrm rot="10800000">
            <a:off x="10458720" y="533520"/>
            <a:ext cx="1465560" cy="1465560"/>
          </a:xfrm>
          <a:custGeom>
            <a:avLst/>
            <a:gdLst>
              <a:gd name="textAreaLeft" fmla="*/ 0 w 1465560"/>
              <a:gd name="textAreaRight" fmla="*/ 1466280 w 1465560"/>
              <a:gd name="textAreaTop" fmla="*/ 0 h 1465560"/>
              <a:gd name="textAreaBottom" fmla="*/ 1466280 h 1465560"/>
            </a:gdLst>
            <a:ahLst/>
            <a:rect l="textAreaLeft" t="textAreaTop" r="textAreaRight" b="textAreaBottom"/>
            <a:pathLst>
              <a:path w="1466218" h="1466255">
                <a:moveTo>
                  <a:pt x="0" y="1466255"/>
                </a:moveTo>
                <a:lnTo>
                  <a:pt x="0" y="0"/>
                </a:lnTo>
                <a:lnTo>
                  <a:pt x="1466218" y="1466255"/>
                </a:lnTo>
                <a:close/>
              </a:path>
            </a:pathLst>
          </a:custGeom>
          <a:solidFill>
            <a:srgbClr val="c9c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2"/>
          <p:cNvSpPr/>
          <p:nvPr/>
        </p:nvSpPr>
        <p:spPr>
          <a:xfrm>
            <a:off x="10439280" y="0"/>
            <a:ext cx="1264320" cy="1237680"/>
          </a:xfrm>
          <a:custGeom>
            <a:avLst/>
            <a:gdLst>
              <a:gd name="textAreaLeft" fmla="*/ 0 w 1264320"/>
              <a:gd name="textAreaRight" fmla="*/ 1265040 w 1264320"/>
              <a:gd name="textAreaTop" fmla="*/ 0 h 1237680"/>
              <a:gd name="textAreaBottom" fmla="*/ 1238400 h 1237680"/>
            </a:gdLst>
            <a:ahLst/>
            <a:rect l="textAreaLeft" t="textAreaTop" r="textAreaRight" b="textAreaBottom"/>
            <a:pathLst>
              <a:path w="1265107" h="1238250">
                <a:moveTo>
                  <a:pt x="1238160" y="1238250"/>
                </a:moveTo>
                <a:lnTo>
                  <a:pt x="0" y="0"/>
                </a:lnTo>
                <a:lnTo>
                  <a:pt x="53894" y="0"/>
                </a:lnTo>
                <a:lnTo>
                  <a:pt x="1265107" y="12112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3"/>
          <p:cNvSpPr/>
          <p:nvPr/>
        </p:nvSpPr>
        <p:spPr>
          <a:xfrm>
            <a:off x="819000" y="2158920"/>
            <a:ext cx="3187080" cy="28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20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Сценарий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20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План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20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Примеры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20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Вопрос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Тест / контрольное задание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4"/>
          <p:cNvSpPr/>
          <p:nvPr/>
        </p:nvSpPr>
        <p:spPr>
          <a:xfrm>
            <a:off x="4375080" y="2158920"/>
            <a:ext cx="6996960" cy="28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20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Механизм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проверка JSON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синтаксис и правка ошибок, повтор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анализ текста урока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эталон / выполнение кода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 rot="5400000">
            <a:off x="18000" y="-17280"/>
            <a:ext cx="6805440" cy="6840000"/>
          </a:xfrm>
          <a:custGeom>
            <a:avLst/>
            <a:gdLst>
              <a:gd name="textAreaLeft" fmla="*/ 0 w 6805440"/>
              <a:gd name="textAreaRight" fmla="*/ 6806160 w 6805440"/>
              <a:gd name="textAreaTop" fmla="*/ 0 h 6840000"/>
              <a:gd name="textAreaBottom" fmla="*/ 6840720 h 6840000"/>
            </a:gdLst>
            <a:ahLst/>
            <a:rect l="textAreaLeft" t="textAreaTop" r="textAreaRight" b="textAreaBottom"/>
            <a:pathLst>
              <a:path w="6806236" h="6840835">
                <a:moveTo>
                  <a:pt x="0" y="6840835"/>
                </a:moveTo>
                <a:lnTo>
                  <a:pt x="0" y="0"/>
                </a:lnTo>
                <a:lnTo>
                  <a:pt x="6806236" y="6840835"/>
                </a:lnTo>
                <a:close/>
              </a:path>
            </a:pathLst>
          </a:custGeom>
          <a:solidFill>
            <a:srgbClr val="eef0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Image 0"/>
          <p:cNvSpPr/>
          <p:nvPr/>
        </p:nvSpPr>
        <p:spPr>
          <a:xfrm>
            <a:off x="0" y="4536360"/>
            <a:ext cx="1602720" cy="2320560"/>
          </a:xfrm>
          <a:custGeom>
            <a:avLst/>
            <a:gdLst>
              <a:gd name="textAreaLeft" fmla="*/ 0 w 1602720"/>
              <a:gd name="textAreaRight" fmla="*/ 36000000 w 1602720"/>
              <a:gd name="textAreaTop" fmla="*/ 0 h 2320560"/>
              <a:gd name="textAreaBottom" fmla="*/ 36000000 h 2320560"/>
            </a:gdLst>
            <a:ahLst/>
            <a:rect l="textAreaLeft" t="textAreaTop" r="textAreaRight" b="textAreaBottom"/>
            <a:pathLst>
              <a:path w="100000" h="100000">
                <a:moveTo>
                  <a:pt x="55220" y="100000"/>
                </a:moveTo>
                <a:lnTo>
                  <a:pt x="0" y="100000"/>
                </a:lnTo>
                <a:lnTo>
                  <a:pt x="0" y="0"/>
                </a:lnTo>
                <a:lnTo>
                  <a:pt x="100000" y="6907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"/>
          <p:cNvSpPr/>
          <p:nvPr/>
        </p:nvSpPr>
        <p:spPr>
          <a:xfrm>
            <a:off x="897480" y="576720"/>
            <a:ext cx="112363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100" spc="-1" strike="noStrike">
                <a:solidFill>
                  <a:srgbClr val="000000"/>
                </a:solidFill>
                <a:latin typeface="Montserrat ExtraBold"/>
                <a:ea typeface="Montserrat ExtraBold"/>
              </a:rPr>
              <a:t>Сценарий работы</a:t>
            </a:r>
            <a:endParaRPr b="0" lang="ru-RU" sz="5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2"/>
          <p:cNvSpPr/>
          <p:nvPr/>
        </p:nvSpPr>
        <p:spPr>
          <a:xfrm>
            <a:off x="806040" y="1515600"/>
            <a:ext cx="11362680" cy="374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3"/>
          <p:cNvSpPr/>
          <p:nvPr/>
        </p:nvSpPr>
        <p:spPr>
          <a:xfrm>
            <a:off x="11261520" y="5954760"/>
            <a:ext cx="929160" cy="902520"/>
          </a:xfrm>
          <a:custGeom>
            <a:avLst/>
            <a:gdLst>
              <a:gd name="textAreaLeft" fmla="*/ 0 w 929160"/>
              <a:gd name="textAreaRight" fmla="*/ 929880 w 929160"/>
              <a:gd name="textAreaTop" fmla="*/ 0 h 902520"/>
              <a:gd name="textAreaBottom" fmla="*/ 903240 h 902520"/>
            </a:gdLst>
            <a:ahLst/>
            <a:rect l="textAreaLeft" t="textAreaTop" r="textAreaRight" b="textAreaBottom"/>
            <a:pathLst>
              <a:path w="929954" h="903188">
                <a:moveTo>
                  <a:pt x="0" y="903188"/>
                </a:moveTo>
                <a:lnTo>
                  <a:pt x="903171" y="0"/>
                </a:lnTo>
                <a:lnTo>
                  <a:pt x="929954" y="26825"/>
                </a:lnTo>
                <a:lnTo>
                  <a:pt x="929954" y="903188"/>
                </a:lnTo>
                <a:close/>
              </a:path>
            </a:pathLst>
          </a:custGeom>
          <a:solidFill>
            <a:srgbClr val="206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7" name="Image 1" descr="preencoded.png"/>
          <p:cNvPicPr/>
          <p:nvPr/>
        </p:nvPicPr>
        <p:blipFill>
          <a:blip r:embed="rId2"/>
          <a:stretch/>
        </p:blipFill>
        <p:spPr>
          <a:xfrm>
            <a:off x="1905120" y="1778040"/>
            <a:ext cx="8381160" cy="471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0"/>
          <p:cNvSpPr/>
          <p:nvPr/>
        </p:nvSpPr>
        <p:spPr>
          <a:xfrm>
            <a:off x="0" y="0"/>
            <a:ext cx="1830240" cy="2652120"/>
          </a:xfrm>
          <a:custGeom>
            <a:avLst/>
            <a:gdLst>
              <a:gd name="textAreaLeft" fmla="*/ 0 w 1830240"/>
              <a:gd name="textAreaRight" fmla="*/ 1830960 w 1830240"/>
              <a:gd name="textAreaTop" fmla="*/ 0 h 2652120"/>
              <a:gd name="textAreaBottom" fmla="*/ 2652840 h 2652120"/>
            </a:gdLst>
            <a:ahLst/>
            <a:rect l="textAreaLeft" t="textAreaTop" r="textAreaRight" b="textAreaBottom"/>
            <a:pathLst>
              <a:path w="1831036" h="2653010">
                <a:moveTo>
                  <a:pt x="0" y="0"/>
                </a:moveTo>
                <a:lnTo>
                  <a:pt x="1009267" y="0"/>
                </a:lnTo>
                <a:lnTo>
                  <a:pt x="1831036" y="821903"/>
                </a:lnTo>
                <a:lnTo>
                  <a:pt x="0" y="265301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Image 0"/>
          <p:cNvSpPr/>
          <p:nvPr/>
        </p:nvSpPr>
        <p:spPr>
          <a:xfrm>
            <a:off x="0" y="0"/>
            <a:ext cx="2553480" cy="4800240"/>
          </a:xfrm>
          <a:custGeom>
            <a:avLst/>
            <a:gdLst>
              <a:gd name="textAreaLeft" fmla="*/ 0 w 2553480"/>
              <a:gd name="textAreaRight" fmla="*/ 36000000 w 2553480"/>
              <a:gd name="textAreaTop" fmla="*/ 0 h 4800240"/>
              <a:gd name="textAreaBottom" fmla="*/ 36000000 h 4800240"/>
            </a:gdLst>
            <a:ahLst/>
            <a:rect l="textAreaLeft" t="textAreaTop" r="textAreaRight" b="textAreaBottom"/>
            <a:pathLst>
              <a:path w="100000" h="100000">
                <a:moveTo>
                  <a:pt x="0" y="100000"/>
                </a:moveTo>
                <a:lnTo>
                  <a:pt x="0" y="0"/>
                </a:lnTo>
                <a:lnTo>
                  <a:pt x="12030" y="0"/>
                </a:lnTo>
                <a:lnTo>
                  <a:pt x="100000" y="4680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1"/>
          <p:cNvSpPr/>
          <p:nvPr/>
        </p:nvSpPr>
        <p:spPr>
          <a:xfrm>
            <a:off x="9128880" y="2868120"/>
            <a:ext cx="3061800" cy="3989160"/>
          </a:xfrm>
          <a:custGeom>
            <a:avLst/>
            <a:gdLst>
              <a:gd name="textAreaLeft" fmla="*/ 0 w 3061800"/>
              <a:gd name="textAreaRight" fmla="*/ 3062520 w 3061800"/>
              <a:gd name="textAreaTop" fmla="*/ 0 h 3989160"/>
              <a:gd name="textAreaBottom" fmla="*/ 3989880 h 3989160"/>
            </a:gdLst>
            <a:ahLst/>
            <a:rect l="textAreaLeft" t="textAreaTop" r="textAreaRight" b="textAreaBottom"/>
            <a:pathLst>
              <a:path w="3062608" h="3989784">
                <a:moveTo>
                  <a:pt x="3062608" y="3989784"/>
                </a:moveTo>
                <a:lnTo>
                  <a:pt x="927051" y="3989784"/>
                </a:lnTo>
                <a:lnTo>
                  <a:pt x="0" y="3062558"/>
                </a:lnTo>
                <a:lnTo>
                  <a:pt x="3062608" y="0"/>
                </a:lnTo>
                <a:close/>
              </a:path>
            </a:pathLst>
          </a:custGeom>
          <a:solidFill>
            <a:srgbClr val="206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2"/>
          <p:cNvSpPr/>
          <p:nvPr/>
        </p:nvSpPr>
        <p:spPr>
          <a:xfrm>
            <a:off x="9573840" y="5622480"/>
            <a:ext cx="20520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Интерактивный прототип в Jupyter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3"/>
          <p:cNvSpPr/>
          <p:nvPr/>
        </p:nvSpPr>
        <p:spPr>
          <a:xfrm>
            <a:off x="10616400" y="2214720"/>
            <a:ext cx="1574640" cy="1628280"/>
          </a:xfrm>
          <a:custGeom>
            <a:avLst/>
            <a:gdLst>
              <a:gd name="textAreaLeft" fmla="*/ 0 w 1574640"/>
              <a:gd name="textAreaRight" fmla="*/ 1575360 w 1574640"/>
              <a:gd name="textAreaTop" fmla="*/ 0 h 1628280"/>
              <a:gd name="textAreaBottom" fmla="*/ 1629000 h 1628280"/>
            </a:gdLst>
            <a:ahLst/>
            <a:rect l="textAreaLeft" t="textAreaTop" r="textAreaRight" b="textAreaBottom"/>
            <a:pathLst>
              <a:path w="1575257" h="1629073">
                <a:moveTo>
                  <a:pt x="1575257" y="107682"/>
                </a:moveTo>
                <a:lnTo>
                  <a:pt x="53874" y="1629073"/>
                </a:lnTo>
                <a:lnTo>
                  <a:pt x="0" y="1575150"/>
                </a:lnTo>
                <a:lnTo>
                  <a:pt x="1575257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2783520" y="345960"/>
            <a:ext cx="77587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Montserrat"/>
                <a:ea typeface="Montserrat"/>
              </a:rPr>
              <a:t>Запуск системы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819000" y="1905120"/>
            <a:ext cx="8012880" cy="10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Точка входа: ноутбук TeachAI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ОДНА стартовая ячейка запускает всю систему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Нужны файл .env с ключом OPENAI_API_KEY и Python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6"/>
          <p:cNvSpPr/>
          <p:nvPr/>
        </p:nvSpPr>
        <p:spPr>
          <a:xfrm>
            <a:off x="762120" y="3936960"/>
            <a:ext cx="7619040" cy="1142280"/>
          </a:xfrm>
          <a:prstGeom prst="roundRect">
            <a:avLst>
              <a:gd name="adj" fmla="val 3000"/>
            </a:avLst>
          </a:prstGeom>
          <a:solidFill>
            <a:srgbClr val="eef0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7"/>
          <p:cNvSpPr/>
          <p:nvPr/>
        </p:nvSpPr>
        <p:spPr>
          <a:xfrm>
            <a:off x="914400" y="3914280"/>
            <a:ext cx="7314120" cy="1188000"/>
          </a:xfrm>
          <a:prstGeom prst="roundRect">
            <a:avLst>
              <a:gd name="adj" fmla="val 8077"/>
            </a:avLst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8"/>
          <p:cNvSpPr/>
          <p:nvPr/>
        </p:nvSpPr>
        <p:spPr>
          <a:xfrm>
            <a:off x="1188720" y="4142880"/>
            <a:ext cx="67658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d73a49"/>
                </a:solidFill>
                <a:latin typeface="Consolas"/>
                <a:ea typeface="Consolas"/>
              </a:rPr>
              <a:t>from run_teachai import start_jupyter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d73a49"/>
                </a:solidFill>
                <a:latin typeface="Consolas"/>
                <a:ea typeface="Consolas"/>
              </a:rPr>
              <a:t>start_jupyter()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9"/>
          <p:cNvSpPr/>
          <p:nvPr/>
        </p:nvSpPr>
        <p:spPr>
          <a:xfrm>
            <a:off x="819000" y="5207040"/>
            <a:ext cx="811440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Montserrat"/>
                <a:ea typeface="Montserrat"/>
              </a:rPr>
              <a:t>Одна ячейка → весь интерфейс в Jupyter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0"/>
          <p:cNvSpPr/>
          <p:nvPr/>
        </p:nvSpPr>
        <p:spPr>
          <a:xfrm>
            <a:off x="0" y="0"/>
            <a:ext cx="1830240" cy="2652120"/>
          </a:xfrm>
          <a:custGeom>
            <a:avLst/>
            <a:gdLst>
              <a:gd name="textAreaLeft" fmla="*/ 0 w 1830240"/>
              <a:gd name="textAreaRight" fmla="*/ 1830960 w 1830240"/>
              <a:gd name="textAreaTop" fmla="*/ 0 h 2652120"/>
              <a:gd name="textAreaBottom" fmla="*/ 2652840 h 2652120"/>
            </a:gdLst>
            <a:ahLst/>
            <a:rect l="textAreaLeft" t="textAreaTop" r="textAreaRight" b="textAreaBottom"/>
            <a:pathLst>
              <a:path w="1831036" h="2653010">
                <a:moveTo>
                  <a:pt x="0" y="0"/>
                </a:moveTo>
                <a:lnTo>
                  <a:pt x="1009267" y="0"/>
                </a:lnTo>
                <a:lnTo>
                  <a:pt x="1831036" y="821903"/>
                </a:lnTo>
                <a:lnTo>
                  <a:pt x="0" y="265301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1"/>
          <p:cNvSpPr/>
          <p:nvPr/>
        </p:nvSpPr>
        <p:spPr>
          <a:xfrm>
            <a:off x="2783880" y="190440"/>
            <a:ext cx="9028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Montserrat"/>
                <a:ea typeface="Montserrat"/>
              </a:rPr>
              <a:t>Начало работы — профиль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Image 0" descr="preencoded.png"/>
          <p:cNvPicPr/>
          <p:nvPr/>
        </p:nvPicPr>
        <p:blipFill>
          <a:blip r:embed="rId1"/>
          <a:stretch/>
        </p:blipFill>
        <p:spPr>
          <a:xfrm>
            <a:off x="0" y="1117440"/>
            <a:ext cx="12191040" cy="5015880"/>
          </a:xfrm>
          <a:prstGeom prst="rect">
            <a:avLst/>
          </a:prstGeom>
          <a:ln w="0">
            <a:noFill/>
          </a:ln>
        </p:spPr>
      </p:pic>
      <p:sp>
        <p:nvSpPr>
          <p:cNvPr id="92" name="Text 2"/>
          <p:cNvSpPr/>
          <p:nvPr/>
        </p:nvSpPr>
        <p:spPr>
          <a:xfrm>
            <a:off x="819000" y="6172200"/>
            <a:ext cx="1116216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Студент вводит имя, общее время, длительность занятия, стиль общения → «Сохранить настройки»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3"/>
          <p:cNvSpPr/>
          <p:nvPr/>
        </p:nvSpPr>
        <p:spPr>
          <a:xfrm>
            <a:off x="819000" y="6527880"/>
            <a:ext cx="1116216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3333"/>
                </a:solidFill>
                <a:latin typeface="Montserrat"/>
                <a:ea typeface="Montserrat"/>
              </a:rPr>
              <a:t>Числа на экране (31 час, 30 мин) — пример одной сессии, не настройки по умолчанию.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0"/>
          <p:cNvSpPr/>
          <p:nvPr/>
        </p:nvSpPr>
        <p:spPr>
          <a:xfrm>
            <a:off x="0" y="0"/>
            <a:ext cx="1830240" cy="2652120"/>
          </a:xfrm>
          <a:custGeom>
            <a:avLst/>
            <a:gdLst>
              <a:gd name="textAreaLeft" fmla="*/ 0 w 1830240"/>
              <a:gd name="textAreaRight" fmla="*/ 1830960 w 1830240"/>
              <a:gd name="textAreaTop" fmla="*/ 0 h 2652120"/>
              <a:gd name="textAreaBottom" fmla="*/ 2652840 h 2652120"/>
            </a:gdLst>
            <a:ahLst/>
            <a:rect l="textAreaLeft" t="textAreaTop" r="textAreaRight" b="textAreaBottom"/>
            <a:pathLst>
              <a:path w="1831036" h="2653010">
                <a:moveTo>
                  <a:pt x="0" y="0"/>
                </a:moveTo>
                <a:lnTo>
                  <a:pt x="1009267" y="0"/>
                </a:lnTo>
                <a:lnTo>
                  <a:pt x="1831036" y="821903"/>
                </a:lnTo>
                <a:lnTo>
                  <a:pt x="0" y="265301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1"/>
          <p:cNvSpPr/>
          <p:nvPr/>
        </p:nvSpPr>
        <p:spPr>
          <a:xfrm>
            <a:off x="2783880" y="190440"/>
            <a:ext cx="9028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Montserrat"/>
                <a:ea typeface="Montserrat"/>
              </a:rPr>
              <a:t>Начало работы — выбор курса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Image 0" descr="preencoded.png"/>
          <p:cNvPicPr/>
          <p:nvPr/>
        </p:nvPicPr>
        <p:blipFill>
          <a:blip r:embed="rId1"/>
          <a:stretch/>
        </p:blipFill>
        <p:spPr>
          <a:xfrm>
            <a:off x="0" y="1117440"/>
            <a:ext cx="12191040" cy="5015880"/>
          </a:xfrm>
          <a:prstGeom prst="rect">
            <a:avLst/>
          </a:prstGeom>
          <a:ln w="0">
            <a:noFill/>
          </a:ln>
        </p:spPr>
      </p:pic>
      <p:sp>
        <p:nvSpPr>
          <p:cNvPr id="97" name="Text 2"/>
          <p:cNvSpPr/>
          <p:nvPr/>
        </p:nvSpPr>
        <p:spPr>
          <a:xfrm>
            <a:off x="819000" y="6172200"/>
            <a:ext cx="1116216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Курс выбирается из каталога; рядом показываются описание и требования курса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0"/>
          <p:cNvSpPr/>
          <p:nvPr/>
        </p:nvSpPr>
        <p:spPr>
          <a:xfrm>
            <a:off x="0" y="0"/>
            <a:ext cx="1830240" cy="2652120"/>
          </a:xfrm>
          <a:custGeom>
            <a:avLst/>
            <a:gdLst>
              <a:gd name="textAreaLeft" fmla="*/ 0 w 1830240"/>
              <a:gd name="textAreaRight" fmla="*/ 1830960 w 1830240"/>
              <a:gd name="textAreaTop" fmla="*/ 0 h 2652120"/>
              <a:gd name="textAreaBottom" fmla="*/ 2652840 h 2652120"/>
            </a:gdLst>
            <a:ahLst/>
            <a:rect l="textAreaLeft" t="textAreaTop" r="textAreaRight" b="textAreaBottom"/>
            <a:pathLst>
              <a:path w="1831036" h="2653010">
                <a:moveTo>
                  <a:pt x="0" y="0"/>
                </a:moveTo>
                <a:lnTo>
                  <a:pt x="1009267" y="0"/>
                </a:lnTo>
                <a:lnTo>
                  <a:pt x="1831036" y="821903"/>
                </a:lnTo>
                <a:lnTo>
                  <a:pt x="0" y="265301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1"/>
          <p:cNvSpPr/>
          <p:nvPr/>
        </p:nvSpPr>
        <p:spPr>
          <a:xfrm>
            <a:off x="2783880" y="190440"/>
            <a:ext cx="9028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Montserrat"/>
                <a:ea typeface="Montserrat"/>
              </a:rPr>
              <a:t>Начало работы — старт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Image 0" descr="preencoded.png"/>
          <p:cNvPicPr/>
          <p:nvPr/>
        </p:nvPicPr>
        <p:blipFill>
          <a:blip r:embed="rId1"/>
          <a:stretch/>
        </p:blipFill>
        <p:spPr>
          <a:xfrm>
            <a:off x="0" y="1117440"/>
            <a:ext cx="12191040" cy="5015880"/>
          </a:xfrm>
          <a:prstGeom prst="rect">
            <a:avLst/>
          </a:prstGeom>
          <a:ln w="0">
            <a:noFill/>
          </a:ln>
        </p:spPr>
      </p:pic>
      <p:sp>
        <p:nvSpPr>
          <p:cNvPr id="101" name="Text 2"/>
          <p:cNvSpPr/>
          <p:nvPr/>
        </p:nvSpPr>
        <p:spPr>
          <a:xfrm>
            <a:off x="819000" y="6172200"/>
            <a:ext cx="1116216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Сводка настроек обучения → кнопка «Начать курс»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0"/>
          <p:cNvSpPr/>
          <p:nvPr/>
        </p:nvSpPr>
        <p:spPr>
          <a:xfrm rot="16200000">
            <a:off x="8152920" y="2819880"/>
            <a:ext cx="4027680" cy="4048560"/>
          </a:xfrm>
          <a:custGeom>
            <a:avLst/>
            <a:gdLst>
              <a:gd name="textAreaLeft" fmla="*/ 0 w 4027680"/>
              <a:gd name="textAreaRight" fmla="*/ 4028400 w 4027680"/>
              <a:gd name="textAreaTop" fmla="*/ 0 h 4048560"/>
              <a:gd name="textAreaBottom" fmla="*/ 4049280 h 4048560"/>
            </a:gdLst>
            <a:ahLst/>
            <a:rect l="textAreaLeft" t="textAreaTop" r="textAreaRight" b="textAreaBottom"/>
            <a:pathLst>
              <a:path w="4028577" h="4049117">
                <a:moveTo>
                  <a:pt x="0" y="4049117"/>
                </a:moveTo>
                <a:lnTo>
                  <a:pt x="0" y="0"/>
                </a:lnTo>
                <a:lnTo>
                  <a:pt x="4028577" y="4049117"/>
                </a:lnTo>
                <a:close/>
              </a:path>
            </a:pathLst>
          </a:custGeom>
          <a:solidFill>
            <a:srgbClr val="eef0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"/>
          <p:cNvSpPr/>
          <p:nvPr/>
        </p:nvSpPr>
        <p:spPr>
          <a:xfrm>
            <a:off x="941400" y="451080"/>
            <a:ext cx="10307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500" spc="-1" strike="noStrike">
                <a:solidFill>
                  <a:srgbClr val="000000"/>
                </a:solidFill>
                <a:latin typeface="Montserrat ExtraBold"/>
                <a:ea typeface="Montserrat ExtraBold"/>
              </a:rPr>
              <a:t>Сравнение моделей (методика)</a:t>
            </a:r>
            <a:endParaRPr b="0" lang="ru-RU" sz="4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2"/>
          <p:cNvSpPr/>
          <p:nvPr/>
        </p:nvSpPr>
        <p:spPr>
          <a:xfrm>
            <a:off x="849960" y="1476360"/>
            <a:ext cx="10490760" cy="374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3"/>
          <p:cNvSpPr/>
          <p:nvPr/>
        </p:nvSpPr>
        <p:spPr>
          <a:xfrm>
            <a:off x="666720" y="1905120"/>
            <a:ext cx="5218920" cy="32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Объект: генерация урока по одному промпту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5 моделей, 5 тем «Основы Python», 13.09.2026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Автофильтр формы 25/25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3 судьи разных семейств, слепые метки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Рубрика 0–10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Image 0" descr="preencoded.png"/>
          <p:cNvPicPr/>
          <p:nvPr/>
        </p:nvPicPr>
        <p:blipFill>
          <a:blip r:embed="rId1"/>
          <a:stretch/>
        </p:blipFill>
        <p:spPr>
          <a:xfrm>
            <a:off x="6222960" y="2031840"/>
            <a:ext cx="5460120" cy="3072600"/>
          </a:xfrm>
          <a:prstGeom prst="rect">
            <a:avLst/>
          </a:prstGeom>
          <a:ln w="0">
            <a:noFill/>
          </a:ln>
        </p:spPr>
      </p:pic>
      <p:sp>
        <p:nvSpPr>
          <p:cNvPr id="107" name="Text 4"/>
          <p:cNvSpPr/>
          <p:nvPr/>
        </p:nvSpPr>
        <p:spPr>
          <a:xfrm>
            <a:off x="666720" y="5969160"/>
            <a:ext cx="1146708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Montserrat"/>
                <a:ea typeface="Montserrat"/>
              </a:rPr>
              <a:t>Судьям текст обрезали до ~3500 символов; цена и скорость — по полному ответу.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0"/>
          <p:cNvSpPr/>
          <p:nvPr/>
        </p:nvSpPr>
        <p:spPr>
          <a:xfrm rot="16200000">
            <a:off x="9536760" y="4204080"/>
            <a:ext cx="2647080" cy="2660400"/>
          </a:xfrm>
          <a:custGeom>
            <a:avLst/>
            <a:gdLst>
              <a:gd name="textAreaLeft" fmla="*/ 0 w 2647080"/>
              <a:gd name="textAreaRight" fmla="*/ 2647800 w 2647080"/>
              <a:gd name="textAreaTop" fmla="*/ 0 h 2660400"/>
              <a:gd name="textAreaBottom" fmla="*/ 2661120 h 2660400"/>
            </a:gdLst>
            <a:ahLst/>
            <a:rect l="textAreaLeft" t="textAreaTop" r="textAreaRight" b="textAreaBottom"/>
            <a:pathLst>
              <a:path w="2647685" h="2661245">
                <a:moveTo>
                  <a:pt x="0" y="2661245"/>
                </a:moveTo>
                <a:lnTo>
                  <a:pt x="0" y="0"/>
                </a:lnTo>
                <a:lnTo>
                  <a:pt x="2647685" y="2661245"/>
                </a:lnTo>
                <a:close/>
              </a:path>
            </a:pathLst>
          </a:custGeom>
          <a:solidFill>
            <a:srgbClr val="eef0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1"/>
          <p:cNvSpPr/>
          <p:nvPr/>
        </p:nvSpPr>
        <p:spPr>
          <a:xfrm rot="5400000">
            <a:off x="14400" y="-14040"/>
            <a:ext cx="5647680" cy="5675760"/>
          </a:xfrm>
          <a:custGeom>
            <a:avLst/>
            <a:gdLst>
              <a:gd name="textAreaLeft" fmla="*/ 0 w 5647680"/>
              <a:gd name="textAreaRight" fmla="*/ 5648400 w 5647680"/>
              <a:gd name="textAreaTop" fmla="*/ 0 h 5675760"/>
              <a:gd name="textAreaBottom" fmla="*/ 5676480 h 5675760"/>
            </a:gdLst>
            <a:ahLst/>
            <a:rect l="textAreaLeft" t="textAreaTop" r="textAreaRight" b="textAreaBottom"/>
            <a:pathLst>
              <a:path w="5648283" h="5676602">
                <a:moveTo>
                  <a:pt x="0" y="5676602"/>
                </a:moveTo>
                <a:lnTo>
                  <a:pt x="0" y="0"/>
                </a:lnTo>
                <a:lnTo>
                  <a:pt x="5648283" y="5676602"/>
                </a:lnTo>
                <a:close/>
              </a:path>
            </a:pathLst>
          </a:custGeom>
          <a:solidFill>
            <a:srgbClr val="eef0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2"/>
          <p:cNvSpPr/>
          <p:nvPr/>
        </p:nvSpPr>
        <p:spPr>
          <a:xfrm>
            <a:off x="91440" y="427320"/>
            <a:ext cx="120081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2763f9"/>
                </a:solidFill>
                <a:latin typeface="Montserrat ExtraBold"/>
                <a:ea typeface="Montserrat ExtraBold"/>
              </a:rPr>
              <a:t>Результаты и выбор модели</a:t>
            </a:r>
            <a:endParaRPr b="0" lang="ru-RU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3"/>
          <p:cNvSpPr/>
          <p:nvPr/>
        </p:nvSpPr>
        <p:spPr>
          <a:xfrm>
            <a:off x="247680" y="1306440"/>
            <a:ext cx="11704320" cy="374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4"/>
          <p:cNvSpPr/>
          <p:nvPr/>
        </p:nvSpPr>
        <p:spPr>
          <a:xfrm>
            <a:off x="565200" y="5334120"/>
            <a:ext cx="11060640" cy="89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800" spc="-1" strike="noStrike">
                <a:solidFill>
                  <a:srgbClr val="2064fb"/>
                </a:solidFill>
                <a:latin typeface="Montserrat"/>
                <a:ea typeface="Montserrat"/>
              </a:rPr>
              <a:t>Вердикт: в системе оставляем gpt-4o-mini (лучший балл/₽ и скорость).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2064fb"/>
                </a:solidFill>
                <a:latin typeface="Montserrat"/>
                <a:ea typeface="Montserrat"/>
              </a:rPr>
              <a:t>Апгрейд при бюджете — gpt-5.6-luna.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5"/>
          <p:cNvSpPr/>
          <p:nvPr/>
        </p:nvSpPr>
        <p:spPr>
          <a:xfrm>
            <a:off x="317520" y="3611880"/>
            <a:ext cx="11048040" cy="558000"/>
          </a:xfrm>
          <a:prstGeom prst="roundRect">
            <a:avLst>
              <a:gd name="adj" fmla="val 6136"/>
            </a:avLst>
          </a:prstGeom>
          <a:solidFill>
            <a:srgbClr val="eef0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6"/>
          <p:cNvSpPr/>
          <p:nvPr/>
        </p:nvSpPr>
        <p:spPr>
          <a:xfrm>
            <a:off x="565200" y="1625760"/>
            <a:ext cx="3060000" cy="310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17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Модель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gpt-5.6-luna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gemini-3.5-flash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gpt-5.6-terra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17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gpt-4o-mini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claude-5-sonnet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7"/>
          <p:cNvSpPr/>
          <p:nvPr/>
        </p:nvSpPr>
        <p:spPr>
          <a:xfrm>
            <a:off x="3867120" y="1625760"/>
            <a:ext cx="1536120" cy="310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17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Балл 0–10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8.40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8.33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8.27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17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7.73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7.67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8"/>
          <p:cNvSpPr/>
          <p:nvPr/>
        </p:nvSpPr>
        <p:spPr>
          <a:xfrm>
            <a:off x="5645160" y="1625760"/>
            <a:ext cx="1281960" cy="310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17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₽</a:t>
            </a:r>
            <a:r>
              <a:rPr b="1" lang="en-US" sz="17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/урок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0.88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6.53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8.78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17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0.53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7.57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9"/>
          <p:cNvSpPr/>
          <p:nvPr/>
        </p:nvSpPr>
        <p:spPr>
          <a:xfrm>
            <a:off x="7169040" y="1625760"/>
            <a:ext cx="1281960" cy="310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17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Балл/₽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9.57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1.28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0.94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17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14.72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1.01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10"/>
          <p:cNvSpPr/>
          <p:nvPr/>
        </p:nvSpPr>
        <p:spPr>
          <a:xfrm>
            <a:off x="8692920" y="1625760"/>
            <a:ext cx="2678760" cy="310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17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Latency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~84 с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~21 с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~82 с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17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~12 с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~37 с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Image 0"/>
          <p:cNvSpPr/>
          <p:nvPr/>
        </p:nvSpPr>
        <p:spPr>
          <a:xfrm>
            <a:off x="419760" y="5483880"/>
            <a:ext cx="2720520" cy="1373400"/>
          </a:xfrm>
          <a:custGeom>
            <a:avLst/>
            <a:gdLst>
              <a:gd name="textAreaLeft" fmla="*/ 0 w 2720520"/>
              <a:gd name="textAreaRight" fmla="*/ 36000000 w 2720520"/>
              <a:gd name="textAreaTop" fmla="*/ 0 h 1373400"/>
              <a:gd name="textAreaBottom" fmla="*/ 36000000 h 1373400"/>
            </a:gdLst>
            <a:ahLst/>
            <a:rect l="textAreaLeft" t="textAreaTop" r="textAreaRight" b="textAreaBottom"/>
            <a:pathLst>
              <a:path w="100000" h="100000">
                <a:moveTo>
                  <a:pt x="0" y="100000"/>
                </a:moveTo>
                <a:lnTo>
                  <a:pt x="50000" y="0"/>
                </a:lnTo>
                <a:lnTo>
                  <a:pt x="100000" y="10000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Image 1"/>
          <p:cNvSpPr/>
          <p:nvPr/>
        </p:nvSpPr>
        <p:spPr>
          <a:xfrm>
            <a:off x="9715320" y="0"/>
            <a:ext cx="2475720" cy="2500200"/>
          </a:xfrm>
          <a:custGeom>
            <a:avLst/>
            <a:gdLst>
              <a:gd name="textAreaLeft" fmla="*/ 0 w 2475720"/>
              <a:gd name="textAreaRight" fmla="*/ 36000000 w 2475720"/>
              <a:gd name="textAreaTop" fmla="*/ 0 h 2500200"/>
              <a:gd name="textAreaBottom" fmla="*/ 36000000 h 2500200"/>
            </a:gdLst>
            <a:ahLst/>
            <a:rect l="textAreaLeft" t="textAreaTop" r="textAreaRight" b="textAreaBottom"/>
            <a:pathLst>
              <a:path w="100000" h="100000">
                <a:moveTo>
                  <a:pt x="100000" y="100000"/>
                </a:moveTo>
                <a:lnTo>
                  <a:pt x="100000" y="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Image 2"/>
          <p:cNvSpPr/>
          <p:nvPr/>
        </p:nvSpPr>
        <p:spPr>
          <a:xfrm>
            <a:off x="0" y="5164560"/>
            <a:ext cx="2481840" cy="1692720"/>
          </a:xfrm>
          <a:custGeom>
            <a:avLst/>
            <a:gdLst>
              <a:gd name="textAreaLeft" fmla="*/ 0 w 2481840"/>
              <a:gd name="textAreaRight" fmla="*/ 36000000 w 2481840"/>
              <a:gd name="textAreaTop" fmla="*/ 0 h 1692720"/>
              <a:gd name="textAreaBottom" fmla="*/ 36000000 h 1692720"/>
            </a:gdLst>
            <a:ahLst/>
            <a:rect l="textAreaLeft" t="textAreaTop" r="textAreaRight" b="textAreaBottom"/>
            <a:pathLst>
              <a:path w="100000" h="100000">
                <a:moveTo>
                  <a:pt x="100000" y="100000"/>
                </a:moveTo>
                <a:lnTo>
                  <a:pt x="0" y="100000"/>
                </a:lnTo>
                <a:lnTo>
                  <a:pt x="0" y="46600"/>
                </a:lnTo>
                <a:lnTo>
                  <a:pt x="3179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0"/>
          <p:cNvSpPr/>
          <p:nvPr/>
        </p:nvSpPr>
        <p:spPr>
          <a:xfrm>
            <a:off x="668520" y="424080"/>
            <a:ext cx="11179440" cy="87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5000" spc="-1" strike="noStrike">
                <a:solidFill>
                  <a:srgbClr val="000000"/>
                </a:solidFill>
                <a:latin typeface="Montserrat ExtraBold"/>
                <a:ea typeface="Montserrat ExtraBold"/>
              </a:rPr>
              <a:t>Технологический стек</a:t>
            </a:r>
            <a:endParaRPr b="0" lang="ru-RU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1"/>
          <p:cNvSpPr/>
          <p:nvPr/>
        </p:nvSpPr>
        <p:spPr>
          <a:xfrm>
            <a:off x="667080" y="1352520"/>
            <a:ext cx="11523600" cy="374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2"/>
          <p:cNvSpPr/>
          <p:nvPr/>
        </p:nvSpPr>
        <p:spPr>
          <a:xfrm>
            <a:off x="717480" y="1714680"/>
            <a:ext cx="10679760" cy="186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Python, Jupyter, ipywidgets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LLM через API, в продукте gpt-4o-mini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Конфигурация через .env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JSON для состояния сессии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Отдельный ноутбук сравнения моделей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0"/>
          <p:cNvSpPr/>
          <p:nvPr/>
        </p:nvSpPr>
        <p:spPr>
          <a:xfrm rot="5400000">
            <a:off x="18000" y="-17280"/>
            <a:ext cx="6805440" cy="6840000"/>
          </a:xfrm>
          <a:custGeom>
            <a:avLst/>
            <a:gdLst>
              <a:gd name="textAreaLeft" fmla="*/ 0 w 6805440"/>
              <a:gd name="textAreaRight" fmla="*/ 6806160 w 6805440"/>
              <a:gd name="textAreaTop" fmla="*/ 0 h 6840000"/>
              <a:gd name="textAreaBottom" fmla="*/ 6840720 h 6840000"/>
            </a:gdLst>
            <a:ahLst/>
            <a:rect l="textAreaLeft" t="textAreaTop" r="textAreaRight" b="textAreaBottom"/>
            <a:pathLst>
              <a:path w="6806236" h="6840835">
                <a:moveTo>
                  <a:pt x="0" y="6840835"/>
                </a:moveTo>
                <a:lnTo>
                  <a:pt x="0" y="0"/>
                </a:lnTo>
                <a:lnTo>
                  <a:pt x="6806236" y="6840835"/>
                </a:lnTo>
                <a:close/>
              </a:path>
            </a:pathLst>
          </a:custGeom>
          <a:solidFill>
            <a:srgbClr val="eef0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Image 0"/>
          <p:cNvSpPr/>
          <p:nvPr/>
        </p:nvSpPr>
        <p:spPr>
          <a:xfrm>
            <a:off x="0" y="4114080"/>
            <a:ext cx="1776600" cy="2743200"/>
          </a:xfrm>
          <a:custGeom>
            <a:avLst/>
            <a:gdLst>
              <a:gd name="textAreaLeft" fmla="*/ 0 w 1776600"/>
              <a:gd name="textAreaRight" fmla="*/ 36000000 w 1776600"/>
              <a:gd name="textAreaTop" fmla="*/ 0 h 2743200"/>
              <a:gd name="textAreaBottom" fmla="*/ 36000000 h 2743200"/>
            </a:gdLst>
            <a:ahLst/>
            <a:rect l="textAreaLeft" t="textAreaTop" r="textAreaRight" b="textAreaBottom"/>
            <a:pathLst>
              <a:path w="100000" h="100000">
                <a:moveTo>
                  <a:pt x="45610" y="100000"/>
                </a:moveTo>
                <a:lnTo>
                  <a:pt x="0" y="100000"/>
                </a:lnTo>
                <a:lnTo>
                  <a:pt x="0" y="0"/>
                </a:lnTo>
                <a:lnTo>
                  <a:pt x="100000" y="6477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1"/>
          <p:cNvSpPr/>
          <p:nvPr/>
        </p:nvSpPr>
        <p:spPr>
          <a:xfrm>
            <a:off x="668520" y="424080"/>
            <a:ext cx="11179440" cy="73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4200" spc="-1" strike="noStrike">
                <a:solidFill>
                  <a:srgbClr val="000000"/>
                </a:solidFill>
                <a:latin typeface="Montserrat ExtraBold"/>
                <a:ea typeface="Montserrat ExtraBold"/>
              </a:rPr>
              <a:t>Предобученная LLM без дообучения</a:t>
            </a:r>
            <a:endParaRPr b="0" lang="ru-RU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2"/>
          <p:cNvSpPr/>
          <p:nvPr/>
        </p:nvSpPr>
        <p:spPr>
          <a:xfrm>
            <a:off x="667080" y="1352520"/>
            <a:ext cx="11523600" cy="374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3"/>
          <p:cNvSpPr/>
          <p:nvPr/>
        </p:nvSpPr>
        <p:spPr>
          <a:xfrm>
            <a:off x="1326960" y="1650960"/>
            <a:ext cx="10298880" cy="14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Задача — система обучения, не тренировка нейросети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Промпты + валидация + сравнение готовых моделей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Без GPU и размеченного корпуса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Согласовано с куратором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4"/>
          <p:cNvSpPr/>
          <p:nvPr/>
        </p:nvSpPr>
        <p:spPr>
          <a:xfrm>
            <a:off x="1260000" y="5128200"/>
            <a:ext cx="2666160" cy="314640"/>
          </a:xfrm>
          <a:prstGeom prst="roundRect">
            <a:avLst>
              <a:gd name="adj" fmla="val 10871"/>
            </a:avLst>
          </a:prstGeom>
          <a:solidFill>
            <a:srgbClr val="206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5"/>
          <p:cNvSpPr/>
          <p:nvPr/>
        </p:nvSpPr>
        <p:spPr>
          <a:xfrm>
            <a:off x="1022400" y="5128200"/>
            <a:ext cx="3161520" cy="31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Montserrat"/>
                <a:ea typeface="Montserrat"/>
              </a:rPr>
              <a:t>Готовая LLM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6"/>
          <p:cNvSpPr/>
          <p:nvPr/>
        </p:nvSpPr>
        <p:spPr>
          <a:xfrm>
            <a:off x="4762440" y="4952880"/>
            <a:ext cx="2666160" cy="630000"/>
          </a:xfrm>
          <a:prstGeom prst="roundRect">
            <a:avLst>
              <a:gd name="adj" fmla="val 5436"/>
            </a:avLst>
          </a:prstGeom>
          <a:solidFill>
            <a:srgbClr val="206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7"/>
          <p:cNvSpPr/>
          <p:nvPr/>
        </p:nvSpPr>
        <p:spPr>
          <a:xfrm>
            <a:off x="4819680" y="4952880"/>
            <a:ext cx="2552040" cy="63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Montserrat"/>
                <a:ea typeface="Montserrat"/>
              </a:rPr>
              <a:t>Промпты и код TeachAI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8"/>
          <p:cNvSpPr/>
          <p:nvPr/>
        </p:nvSpPr>
        <p:spPr>
          <a:xfrm>
            <a:off x="8254800" y="5128200"/>
            <a:ext cx="2666160" cy="314640"/>
          </a:xfrm>
          <a:prstGeom prst="roundRect">
            <a:avLst>
              <a:gd name="adj" fmla="val 10871"/>
            </a:avLst>
          </a:prstGeom>
          <a:solidFill>
            <a:srgbClr val="206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9"/>
          <p:cNvSpPr/>
          <p:nvPr/>
        </p:nvSpPr>
        <p:spPr>
          <a:xfrm>
            <a:off x="7998120" y="5085000"/>
            <a:ext cx="3161520" cy="31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Montserrat"/>
                <a:ea typeface="Montserrat"/>
              </a:rPr>
              <a:t>Контент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10"/>
          <p:cNvSpPr/>
          <p:nvPr/>
        </p:nvSpPr>
        <p:spPr>
          <a:xfrm>
            <a:off x="3752640" y="4952880"/>
            <a:ext cx="125640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→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1"/>
          <p:cNvSpPr/>
          <p:nvPr/>
        </p:nvSpPr>
        <p:spPr>
          <a:xfrm>
            <a:off x="7245000" y="4952880"/>
            <a:ext cx="125640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→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0"/>
          <p:cNvSpPr/>
          <p:nvPr/>
        </p:nvSpPr>
        <p:spPr>
          <a:xfrm>
            <a:off x="0" y="0"/>
            <a:ext cx="3028320" cy="3012840"/>
          </a:xfrm>
          <a:custGeom>
            <a:avLst/>
            <a:gdLst>
              <a:gd name="textAreaLeft" fmla="*/ 0 w 3028320"/>
              <a:gd name="textAreaRight" fmla="*/ 3029040 w 3028320"/>
              <a:gd name="textAreaTop" fmla="*/ 0 h 3012840"/>
              <a:gd name="textAreaBottom" fmla="*/ 3013560 h 3012840"/>
            </a:gdLst>
            <a:ahLst/>
            <a:rect l="textAreaLeft" t="textAreaTop" r="textAreaRight" b="textAreaBottom"/>
            <a:pathLst>
              <a:path w="3028874" h="3013670">
                <a:moveTo>
                  <a:pt x="0" y="0"/>
                </a:moveTo>
                <a:lnTo>
                  <a:pt x="1514437" y="0"/>
                </a:lnTo>
                <a:lnTo>
                  <a:pt x="3028874" y="0"/>
                </a:lnTo>
                <a:lnTo>
                  <a:pt x="0" y="3013670"/>
                </a:lnTo>
                <a:close/>
              </a:path>
            </a:pathLst>
          </a:custGeom>
          <a:solidFill>
            <a:srgbClr val="eef0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"/>
          <p:cNvSpPr/>
          <p:nvPr/>
        </p:nvSpPr>
        <p:spPr>
          <a:xfrm rot="16200000">
            <a:off x="8305920" y="2965320"/>
            <a:ext cx="3885120" cy="3885120"/>
          </a:xfrm>
          <a:custGeom>
            <a:avLst/>
            <a:gdLst>
              <a:gd name="textAreaLeft" fmla="*/ 0 w 3885120"/>
              <a:gd name="textAreaRight" fmla="*/ 3885840 w 3885120"/>
              <a:gd name="textAreaTop" fmla="*/ 0 h 3885120"/>
              <a:gd name="textAreaBottom" fmla="*/ 3885840 h 3885120"/>
            </a:gdLst>
            <a:ahLst/>
            <a:rect l="textAreaLeft" t="textAreaTop" r="textAreaRight" b="textAreaBottom"/>
            <a:pathLst>
              <a:path w="3885805" h="3885902">
                <a:moveTo>
                  <a:pt x="0" y="3885902"/>
                </a:moveTo>
                <a:lnTo>
                  <a:pt x="0" y="0"/>
                </a:lnTo>
                <a:lnTo>
                  <a:pt x="3885805" y="3885902"/>
                </a:lnTo>
                <a:close/>
              </a:path>
            </a:pathLst>
          </a:custGeom>
          <a:solidFill>
            <a:srgbClr val="eef0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2"/>
          <p:cNvSpPr/>
          <p:nvPr/>
        </p:nvSpPr>
        <p:spPr>
          <a:xfrm>
            <a:off x="9109440" y="5302440"/>
            <a:ext cx="1608480" cy="1554840"/>
          </a:xfrm>
          <a:custGeom>
            <a:avLst/>
            <a:gdLst>
              <a:gd name="textAreaLeft" fmla="*/ 0 w 1608480"/>
              <a:gd name="textAreaRight" fmla="*/ 1609200 w 1608480"/>
              <a:gd name="textAreaTop" fmla="*/ 0 h 1554840"/>
              <a:gd name="textAreaBottom" fmla="*/ 1555560 h 1554840"/>
            </a:gdLst>
            <a:ahLst/>
            <a:rect l="textAreaLeft" t="textAreaTop" r="textAreaRight" b="textAreaBottom"/>
            <a:pathLst>
              <a:path w="1609288" h="1555452">
                <a:moveTo>
                  <a:pt x="1501466" y="1555452"/>
                </a:moveTo>
                <a:lnTo>
                  <a:pt x="0" y="53819"/>
                </a:lnTo>
                <a:lnTo>
                  <a:pt x="53911" y="0"/>
                </a:lnTo>
                <a:lnTo>
                  <a:pt x="1609288" y="1555452"/>
                </a:lnTo>
                <a:close/>
              </a:path>
            </a:pathLst>
          </a:custGeom>
          <a:solidFill>
            <a:srgbClr val="c9c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3"/>
          <p:cNvSpPr/>
          <p:nvPr/>
        </p:nvSpPr>
        <p:spPr>
          <a:xfrm>
            <a:off x="7553880" y="5302440"/>
            <a:ext cx="1608480" cy="1554840"/>
          </a:xfrm>
          <a:custGeom>
            <a:avLst/>
            <a:gdLst>
              <a:gd name="textAreaLeft" fmla="*/ 0 w 1608480"/>
              <a:gd name="textAreaRight" fmla="*/ 1609200 w 1608480"/>
              <a:gd name="textAreaTop" fmla="*/ 0 h 1554840"/>
              <a:gd name="textAreaBottom" fmla="*/ 1555560 h 1554840"/>
            </a:gdLst>
            <a:ahLst/>
            <a:rect l="textAreaLeft" t="textAreaTop" r="textAreaRight" b="textAreaBottom"/>
            <a:pathLst>
              <a:path w="1609288" h="1555452">
                <a:moveTo>
                  <a:pt x="1609288" y="53819"/>
                </a:moveTo>
                <a:lnTo>
                  <a:pt x="107822" y="1555452"/>
                </a:lnTo>
                <a:lnTo>
                  <a:pt x="0" y="1555452"/>
                </a:lnTo>
                <a:lnTo>
                  <a:pt x="1555377" y="0"/>
                </a:lnTo>
                <a:close/>
              </a:path>
            </a:pathLst>
          </a:custGeom>
          <a:solidFill>
            <a:srgbClr val="c9c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4"/>
          <p:cNvSpPr/>
          <p:nvPr/>
        </p:nvSpPr>
        <p:spPr>
          <a:xfrm>
            <a:off x="668520" y="424080"/>
            <a:ext cx="11179440" cy="87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5000" spc="-1" strike="noStrike">
                <a:solidFill>
                  <a:srgbClr val="000000"/>
                </a:solidFill>
                <a:latin typeface="Montserrat ExtraBold"/>
                <a:ea typeface="Montserrat ExtraBold"/>
              </a:rPr>
              <a:t>Обеспечение качества</a:t>
            </a:r>
            <a:endParaRPr b="0" lang="ru-RU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5"/>
          <p:cNvSpPr/>
          <p:nvPr/>
        </p:nvSpPr>
        <p:spPr>
          <a:xfrm>
            <a:off x="667080" y="1352520"/>
            <a:ext cx="11523600" cy="374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6"/>
          <p:cNvSpPr/>
          <p:nvPr/>
        </p:nvSpPr>
        <p:spPr>
          <a:xfrm>
            <a:off x="717480" y="1714680"/>
            <a:ext cx="52189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2064fb"/>
                </a:solidFill>
                <a:latin typeface="Montserrat"/>
                <a:ea typeface="Montserrat"/>
              </a:rPr>
              <a:t>В системе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7"/>
          <p:cNvSpPr/>
          <p:nvPr/>
        </p:nvSpPr>
        <p:spPr>
          <a:xfrm>
            <a:off x="717480" y="2476440"/>
            <a:ext cx="5218920" cy="186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JSON-план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Синтаксис примеров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Фильтр вопросов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Кэш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Retry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8"/>
          <p:cNvSpPr/>
          <p:nvPr/>
        </p:nvSpPr>
        <p:spPr>
          <a:xfrm>
            <a:off x="6406920" y="1714680"/>
            <a:ext cx="52189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2064fb"/>
                </a:solidFill>
                <a:latin typeface="Montserrat"/>
                <a:ea typeface="Montserrat"/>
              </a:rPr>
              <a:t>В эксперименте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9"/>
          <p:cNvSpPr/>
          <p:nvPr/>
        </p:nvSpPr>
        <p:spPr>
          <a:xfrm>
            <a:off x="6406920" y="2476440"/>
            <a:ext cx="5218920" cy="10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Рубрика судей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Format gate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Цена и скорость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0"/>
          <p:cNvSpPr/>
          <p:nvPr/>
        </p:nvSpPr>
        <p:spPr>
          <a:xfrm>
            <a:off x="0" y="74520"/>
            <a:ext cx="8676360" cy="6782760"/>
          </a:xfrm>
          <a:custGeom>
            <a:avLst/>
            <a:gdLst>
              <a:gd name="textAreaLeft" fmla="*/ 0 w 8676360"/>
              <a:gd name="textAreaRight" fmla="*/ 8677080 w 8676360"/>
              <a:gd name="textAreaTop" fmla="*/ 0 h 6782760"/>
              <a:gd name="textAreaBottom" fmla="*/ 6783480 h 6782760"/>
            </a:gdLst>
            <a:ahLst/>
            <a:rect l="textAreaLeft" t="textAreaTop" r="textAreaRight" b="textAreaBottom"/>
            <a:pathLst>
              <a:path w="8677256" h="6783487">
                <a:moveTo>
                  <a:pt x="1894245" y="6783487"/>
                </a:moveTo>
                <a:lnTo>
                  <a:pt x="232550" y="6783487"/>
                </a:lnTo>
                <a:lnTo>
                  <a:pt x="0" y="6550813"/>
                </a:lnTo>
                <a:lnTo>
                  <a:pt x="0" y="0"/>
                </a:lnTo>
                <a:lnTo>
                  <a:pt x="867725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1"/>
          <p:cNvSpPr/>
          <p:nvPr/>
        </p:nvSpPr>
        <p:spPr>
          <a:xfrm>
            <a:off x="4911120" y="0"/>
            <a:ext cx="7279560" cy="6857280"/>
          </a:xfrm>
          <a:custGeom>
            <a:avLst/>
            <a:gdLst>
              <a:gd name="textAreaLeft" fmla="*/ 0 w 7279560"/>
              <a:gd name="textAreaRight" fmla="*/ 7280280 w 7279560"/>
              <a:gd name="textAreaTop" fmla="*/ 0 h 6857280"/>
              <a:gd name="textAreaBottom" fmla="*/ 6858000 h 6857280"/>
            </a:gdLst>
            <a:ahLst/>
            <a:rect l="textAreaLeft" t="textAreaTop" r="textAreaRight" b="textAreaBottom"/>
            <a:pathLst>
              <a:path w="7280391" h="6858000">
                <a:moveTo>
                  <a:pt x="7280391" y="0"/>
                </a:moveTo>
                <a:lnTo>
                  <a:pt x="7280391" y="6858000"/>
                </a:lnTo>
                <a:lnTo>
                  <a:pt x="685740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Image 0"/>
          <p:cNvSpPr/>
          <p:nvPr/>
        </p:nvSpPr>
        <p:spPr>
          <a:xfrm>
            <a:off x="3116880" y="2819520"/>
            <a:ext cx="8067600" cy="4037400"/>
          </a:xfrm>
          <a:custGeom>
            <a:avLst/>
            <a:gdLst>
              <a:gd name="textAreaLeft" fmla="*/ 0 w 8067600"/>
              <a:gd name="textAreaRight" fmla="*/ 36000000 w 8067600"/>
              <a:gd name="textAreaTop" fmla="*/ 0 h 4037400"/>
              <a:gd name="textAreaBottom" fmla="*/ 36000000 h 4037400"/>
            </a:gdLst>
            <a:ahLst/>
            <a:rect l="textAreaLeft" t="textAreaTop" r="textAreaRight" b="textAreaBottom"/>
            <a:pathLst>
              <a:path w="100000" h="100000">
                <a:moveTo>
                  <a:pt x="0" y="100000"/>
                </a:moveTo>
                <a:lnTo>
                  <a:pt x="50000" y="0"/>
                </a:lnTo>
                <a:lnTo>
                  <a:pt x="100000" y="10000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Image 1"/>
          <p:cNvSpPr/>
          <p:nvPr/>
        </p:nvSpPr>
        <p:spPr>
          <a:xfrm>
            <a:off x="3112920" y="2819520"/>
            <a:ext cx="8075520" cy="4037400"/>
          </a:xfrm>
          <a:custGeom>
            <a:avLst/>
            <a:gdLst>
              <a:gd name="textAreaLeft" fmla="*/ 0 w 8075520"/>
              <a:gd name="textAreaRight" fmla="*/ 36000000 w 8075520"/>
              <a:gd name="textAreaTop" fmla="*/ 0 h 4037400"/>
              <a:gd name="textAreaBottom" fmla="*/ 36000000 h 4037400"/>
            </a:gdLst>
            <a:ahLst/>
            <a:rect l="textAreaLeft" t="textAreaTop" r="textAreaRight" b="textAreaBottom"/>
            <a:pathLst>
              <a:path w="100000" h="100000">
                <a:moveTo>
                  <a:pt x="0" y="100000"/>
                </a:moveTo>
                <a:lnTo>
                  <a:pt x="50000" y="0"/>
                </a:lnTo>
                <a:lnTo>
                  <a:pt x="100000" y="10000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2"/>
          <p:cNvSpPr/>
          <p:nvPr/>
        </p:nvSpPr>
        <p:spPr>
          <a:xfrm>
            <a:off x="5589360" y="0"/>
            <a:ext cx="6601320" cy="6601680"/>
          </a:xfrm>
          <a:custGeom>
            <a:avLst/>
            <a:gdLst>
              <a:gd name="textAreaLeft" fmla="*/ 0 w 6601320"/>
              <a:gd name="textAreaRight" fmla="*/ 6602040 w 6601320"/>
              <a:gd name="textAreaTop" fmla="*/ 0 h 6601680"/>
              <a:gd name="textAreaBottom" fmla="*/ 6602400 h 6601680"/>
            </a:gdLst>
            <a:ahLst/>
            <a:rect l="textAreaLeft" t="textAreaTop" r="textAreaRight" b="textAreaBottom"/>
            <a:pathLst>
              <a:path w="6602148" h="6602313">
                <a:moveTo>
                  <a:pt x="6602148" y="0"/>
                </a:moveTo>
                <a:lnTo>
                  <a:pt x="6602148" y="66023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Image 2"/>
          <p:cNvSpPr/>
          <p:nvPr/>
        </p:nvSpPr>
        <p:spPr>
          <a:xfrm>
            <a:off x="0" y="0"/>
            <a:ext cx="8858880" cy="6368040"/>
          </a:xfrm>
          <a:custGeom>
            <a:avLst/>
            <a:gdLst>
              <a:gd name="textAreaLeft" fmla="*/ 0 w 8858880"/>
              <a:gd name="textAreaRight" fmla="*/ 36000000 w 8858880"/>
              <a:gd name="textAreaTop" fmla="*/ 0 h 6368040"/>
              <a:gd name="textAreaBottom" fmla="*/ 36000000 h 6368040"/>
            </a:gdLst>
            <a:ahLst/>
            <a:rect l="textAreaLeft" t="textAreaTop" r="textAreaRight" b="textAreaBottom"/>
            <a:pathLst>
              <a:path w="100000" h="100000">
                <a:moveTo>
                  <a:pt x="0" y="60880"/>
                </a:moveTo>
                <a:lnTo>
                  <a:pt x="0" y="0"/>
                </a:lnTo>
                <a:lnTo>
                  <a:pt x="100000" y="0"/>
                </a:lnTo>
                <a:lnTo>
                  <a:pt x="28120" y="10000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3"/>
          <p:cNvSpPr/>
          <p:nvPr/>
        </p:nvSpPr>
        <p:spPr>
          <a:xfrm>
            <a:off x="9643680" y="0"/>
            <a:ext cx="2547000" cy="2547360"/>
          </a:xfrm>
          <a:custGeom>
            <a:avLst/>
            <a:gdLst>
              <a:gd name="textAreaLeft" fmla="*/ 0 w 2547000"/>
              <a:gd name="textAreaRight" fmla="*/ 2547720 w 2547000"/>
              <a:gd name="textAreaTop" fmla="*/ 0 h 2547360"/>
              <a:gd name="textAreaBottom" fmla="*/ 2548080 h 2547360"/>
            </a:gdLst>
            <a:ahLst/>
            <a:rect l="textAreaLeft" t="textAreaTop" r="textAreaRight" b="textAreaBottom"/>
            <a:pathLst>
              <a:path w="2547874" h="2547938">
                <a:moveTo>
                  <a:pt x="107775" y="0"/>
                </a:moveTo>
                <a:lnTo>
                  <a:pt x="2547874" y="2440160"/>
                </a:lnTo>
                <a:lnTo>
                  <a:pt x="2547874" y="2547938"/>
                </a:lnTo>
                <a:lnTo>
                  <a:pt x="0" y="0"/>
                </a:lnTo>
                <a:close/>
              </a:path>
            </a:pathLst>
          </a:custGeom>
          <a:solidFill>
            <a:srgbClr val="c9c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4"/>
          <p:cNvSpPr/>
          <p:nvPr/>
        </p:nvSpPr>
        <p:spPr>
          <a:xfrm>
            <a:off x="651600" y="518760"/>
            <a:ext cx="5309640" cy="87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5000" spc="-1" strike="noStrike">
                <a:solidFill>
                  <a:srgbClr val="000000"/>
                </a:solidFill>
                <a:latin typeface="Montserrat ExtraBold"/>
                <a:ea typeface="Montserrat ExtraBold"/>
              </a:rPr>
              <a:t>Выводы</a:t>
            </a:r>
            <a:endParaRPr b="0" lang="ru-RU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5"/>
          <p:cNvSpPr/>
          <p:nvPr/>
        </p:nvSpPr>
        <p:spPr>
          <a:xfrm>
            <a:off x="615960" y="1905120"/>
            <a:ext cx="6234840" cy="186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Модульная система TeachAI в Jupyter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Многошаговый пайплайн LLM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Персонализация и прогресс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gpt-4o-mini выбрана по эксперименту (балл/₽)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Inference-only согласован с куратором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Image 0" descr="preencoded.png"/>
          <p:cNvPicPr/>
          <p:nvPr/>
        </p:nvPicPr>
        <p:blipFill>
          <a:blip r:embed="rId1"/>
          <a:stretch/>
        </p:blipFill>
        <p:spPr>
          <a:xfrm>
            <a:off x="6095880" y="0"/>
            <a:ext cx="6095160" cy="6095160"/>
          </a:xfrm>
          <a:prstGeom prst="rect">
            <a:avLst/>
          </a:prstGeom>
          <a:ln w="0">
            <a:noFill/>
          </a:ln>
        </p:spPr>
      </p:pic>
      <p:pic>
        <p:nvPicPr>
          <p:cNvPr id="158" name="Image 1" descr="preencoded.png"/>
          <p:cNvPicPr/>
          <p:nvPr/>
        </p:nvPicPr>
        <p:blipFill>
          <a:blip r:embed="rId2"/>
          <a:stretch/>
        </p:blipFill>
        <p:spPr>
          <a:xfrm>
            <a:off x="6095880" y="0"/>
            <a:ext cx="6095160" cy="6095160"/>
          </a:xfrm>
          <a:prstGeom prst="rect">
            <a:avLst/>
          </a:prstGeom>
          <a:ln w="0">
            <a:noFill/>
          </a:ln>
        </p:spPr>
      </p:pic>
      <p:sp>
        <p:nvSpPr>
          <p:cNvPr id="159" name="Shape 0"/>
          <p:cNvSpPr/>
          <p:nvPr/>
        </p:nvSpPr>
        <p:spPr>
          <a:xfrm>
            <a:off x="6026760" y="0"/>
            <a:ext cx="6163920" cy="6164640"/>
          </a:xfrm>
          <a:custGeom>
            <a:avLst/>
            <a:gdLst>
              <a:gd name="textAreaLeft" fmla="*/ 0 w 6163920"/>
              <a:gd name="textAreaRight" fmla="*/ 6164640 w 6163920"/>
              <a:gd name="textAreaTop" fmla="*/ 0 h 6164640"/>
              <a:gd name="textAreaBottom" fmla="*/ 6165360 h 6164640"/>
            </a:gdLst>
            <a:ahLst/>
            <a:rect l="textAreaLeft" t="textAreaTop" r="textAreaRight" b="textAreaBottom"/>
            <a:pathLst>
              <a:path w="6164803" h="6165255">
                <a:moveTo>
                  <a:pt x="0" y="0"/>
                </a:moveTo>
                <a:lnTo>
                  <a:pt x="0" y="6165255"/>
                </a:lnTo>
                <a:lnTo>
                  <a:pt x="6164803" y="6165255"/>
                </a:lnTo>
                <a:lnTo>
                  <a:pt x="6164803" y="6096204"/>
                </a:lnTo>
                <a:lnTo>
                  <a:pt x="6904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1"/>
          <p:cNvSpPr/>
          <p:nvPr/>
        </p:nvSpPr>
        <p:spPr>
          <a:xfrm rot="5400000">
            <a:off x="720" y="0"/>
            <a:ext cx="6095160" cy="6095160"/>
          </a:xfrm>
          <a:custGeom>
            <a:avLst/>
            <a:gdLst>
              <a:gd name="textAreaLeft" fmla="*/ 0 w 6095160"/>
              <a:gd name="textAreaRight" fmla="*/ 6095880 w 6095160"/>
              <a:gd name="textAreaTop" fmla="*/ 0 h 6095160"/>
              <a:gd name="textAreaBottom" fmla="*/ 6095880 h 6095160"/>
            </a:gdLst>
            <a:ahLst/>
            <a:rect l="textAreaLeft" t="textAreaTop" r="textAreaRight" b="textAreaBottom"/>
            <a:pathLst>
              <a:path w="6095848" h="6096000">
                <a:moveTo>
                  <a:pt x="0" y="6096000"/>
                </a:moveTo>
                <a:lnTo>
                  <a:pt x="0" y="0"/>
                </a:lnTo>
                <a:lnTo>
                  <a:pt x="6095848" y="609600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2"/>
          <p:cNvSpPr/>
          <p:nvPr/>
        </p:nvSpPr>
        <p:spPr>
          <a:xfrm>
            <a:off x="700920" y="3374280"/>
            <a:ext cx="10789200" cy="83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500" spc="-1" strike="noStrike">
                <a:solidFill>
                  <a:srgbClr val="000000"/>
                </a:solidFill>
                <a:latin typeface="Montserrat ExtraBold"/>
                <a:ea typeface="Montserrat ExtraBold"/>
              </a:rPr>
              <a:t>Спасибо за внимание</a:t>
            </a:r>
            <a:endParaRPr b="0" lang="ru-RU" sz="5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3"/>
          <p:cNvSpPr/>
          <p:nvPr/>
        </p:nvSpPr>
        <p:spPr>
          <a:xfrm>
            <a:off x="1453680" y="4916520"/>
            <a:ext cx="92840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Вопросы?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Image 2"/>
          <p:cNvSpPr/>
          <p:nvPr/>
        </p:nvSpPr>
        <p:spPr>
          <a:xfrm>
            <a:off x="0" y="0"/>
            <a:ext cx="6789600" cy="4321800"/>
          </a:xfrm>
          <a:custGeom>
            <a:avLst/>
            <a:gdLst>
              <a:gd name="textAreaLeft" fmla="*/ 0 w 6789600"/>
              <a:gd name="textAreaRight" fmla="*/ 36000000 w 6789600"/>
              <a:gd name="textAreaTop" fmla="*/ 0 h 4321800"/>
              <a:gd name="textAreaBottom" fmla="*/ 36000000 h 4321800"/>
            </a:gdLst>
            <a:ahLst/>
            <a:rect l="textAreaLeft" t="textAreaTop" r="textAreaRight" b="textAreaBottom"/>
            <a:pathLst>
              <a:path w="100000" h="100000">
                <a:moveTo>
                  <a:pt x="0" y="42900"/>
                </a:moveTo>
                <a:lnTo>
                  <a:pt x="0" y="0"/>
                </a:lnTo>
                <a:lnTo>
                  <a:pt x="100000" y="0"/>
                </a:lnTo>
                <a:lnTo>
                  <a:pt x="36340" y="10000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4" name="Image 3" descr="preencoded.png"/>
          <p:cNvPicPr/>
          <p:nvPr/>
        </p:nvPicPr>
        <p:blipFill>
          <a:blip r:embed="rId4"/>
          <a:stretch/>
        </p:blipFill>
        <p:spPr>
          <a:xfrm>
            <a:off x="497520" y="367920"/>
            <a:ext cx="2936520" cy="401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358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2026-10-06T11:46:15Z</dcterms:created>
  <dc:creator/>
  <dc:description/>
  <dc:language>ru-RU</dc:language>
  <cp:lastModifiedBy/>
  <dcterms:modified xsi:type="dcterms:W3CDTF">2026-10-14T16:47:14Z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20</vt:i4>
  </property>
  <property fmtid="{D5CDD505-2E9C-101B-9397-08002B2CF9AE}" pid="3" name="PresentationFormat">
    <vt:lpwstr>On-screen Show (16:9)</vt:lpwstr>
  </property>
  <property fmtid="{D5CDD505-2E9C-101B-9397-08002B2CF9AE}" pid="4" name="Slides">
    <vt:i4>20</vt:i4>
  </property>
</Properties>
</file>