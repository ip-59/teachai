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1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4F1C3A-8FE7-44BD-A01A-DE659DCECF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70EC4D-BD5F-4BE1-A820-33FF3ED89E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428C92A-D870-4B07-A4BC-5305CBF01E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16C9CBC-FBB3-4267-BDD9-449279C845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F6F7E95-09C4-4E9D-850D-1B162389AF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CFD1E40-2463-435A-926C-C0D1AF5991F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9D95339-40EF-4E14-85A5-747341E805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6D0777B-539A-4D2C-90AA-1549D7836F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E8B8981-E51C-4AF9-A6C8-04EADBBB1F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C43EDC5-C4E3-43E0-A613-F0919E4644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FC5C67F-5CEC-498C-B878-04A260749B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577FBF-C92D-4AC6-A905-1B65AB4739D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659DA1-3562-4C27-AC30-45C4A070F40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783669-E37A-44E7-9D13-4B3A59A15E2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601F32-6ADC-4201-8A51-846894471D5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to edit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Master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title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C6D45D-7468-47EF-9D75-7F836BC58D7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4405E2-8FD1-4AA3-BBD3-8A5CAA786A5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2A6E3B-5F18-4834-83D6-935E2F8940B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5A889CC-4615-41D7-85FE-1397FEAA9DF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410642-8AB4-4F60-A023-013B4C93F87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Для правки текста заглавия щёлкните мышью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C7F76A-BE9E-41BC-B42E-FC6A16C5B54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7545A9-C6E4-49EF-A760-D83DD358652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640080" y="1188720"/>
            <a:ext cx="10972440" cy="39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ru-RU" sz="4000" spc="-1" strike="noStrike">
                <a:solidFill>
                  <a:srgbClr val="ffffff"/>
                </a:solidFill>
                <a:latin typeface="Calibri"/>
              </a:rPr>
              <a:t>TeachAI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ru-RU" sz="2400" spc="-1" strike="noStrike">
                <a:solidFill>
                  <a:srgbClr val="ffffff"/>
                </a:solidFill>
                <a:latin typeface="Calibri"/>
              </a:rPr>
              <a:t>Интеллектуальная система персонализированного обучения на основе LLM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ru-RU" sz="2000" spc="-1" strike="noStrike">
                <a:solidFill>
                  <a:srgbClr val="ffffff"/>
                </a:solidFill>
                <a:latin typeface="Calibri"/>
              </a:rPr>
              <a:t>Дипломный проект  ·  курс «AI/ML - разработчик»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ru-RU" sz="2000" spc="-1" strike="noStrike">
                <a:solidFill>
                  <a:srgbClr val="ffffff"/>
                </a:solidFill>
                <a:latin typeface="Calibri"/>
              </a:rPr>
              <a:t>Игорь Пучкин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ru-RU" sz="2000" spc="-1" strike="noStrike">
                <a:solidFill>
                  <a:srgbClr val="ffffff"/>
                </a:solidFill>
                <a:latin typeface="Calibri"/>
              </a:rPr>
              <a:t>Университет искусственного интеллекта, Пермь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2026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ru-RU" sz="1600" spc="-1" strike="noStrike">
                <a:solidFill>
                  <a:srgbClr val="ffffff"/>
                </a:solidFill>
                <a:latin typeface="Calibri"/>
              </a:rPr>
              <a:t>Заочная версия: читается без устного доклада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ru-RU" sz="1400" spc="-1" strike="noStrike">
                <a:solidFill>
                  <a:srgbClr val="ffffff"/>
                </a:solidFill>
                <a:latin typeface="Calibri"/>
              </a:rPr>
              <a:t>Старт обучения и дата защиты — подставить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3081240" y="6537960"/>
            <a:ext cx="5998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1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Как читать эту версию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502920" y="1051560"/>
            <a:ext cx="11155320" cy="24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Это подробная презентация для заочной защиты: файл читается без устного доклада.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Короткая версия для очного выступления будет сокращена из этих же материалов.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Факты взяты из кода и отчёта бенчмарка. Процентов 95 / 90 / 85 в проекте не было.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Скриншоты — реальные экраны сессии студента в Jupyter. Часы и баллы на них пример одной сессии, не норматив и не точность модели.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Порог зачёта теста в системе: оценка больше 40%. На скрине теста 80% — результат конкретного прохождения.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3081240" y="6537960"/>
            <a:ext cx="5998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2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Назначение проекта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502920" y="1051560"/>
            <a:ext cx="11155320" cy="24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TeachAI — прикладная система обучения в Jupyter Notebook.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Она генерирует персонализированный курс: план, уроки, примеры, ответы на вопросы, тесты и контрольные задания по коду.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Знания даёт готовая языковая модель через API. Своя нейросеть не обучается.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Нет fine-tuning, нет своего обучающего датасета, нет RAG и нет парсинга для выборки. Это согласовано с куратором.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Базовая модель в дипломе: gpt-4o-mini. Выбор обоснован экспериментом этапа 5.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3081240" y="6537960"/>
            <a:ext cx="5998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3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Проблема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502920" y="1051560"/>
            <a:ext cx="11155320" cy="193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Собрать качественный персональный курс вручную долго: структура, тексты, примеры, проверка.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Готовый типовой курс не знает, сколько часов есть у человека, какой длины занятие и какой стиль объяснения ему нужен.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Нужна программа, которая ведёт обучение через уже обученную модель, а не тренирует веса с нуля.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4"/>
          <p:cNvSpPr/>
          <p:nvPr/>
        </p:nvSpPr>
        <p:spPr>
          <a:xfrm>
            <a:off x="3081240" y="6537960"/>
            <a:ext cx="5998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4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Решение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502920" y="1051560"/>
            <a:ext cx="11155320" cy="17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TeachAI оркестрирует цепочку: профиль → выбор курса → план → урок → материалы по кнопкам → проверка → прогресс.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Персонализация: имя, объём курса в часах, длительность урока, стиль общения.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Интерфейс — виджеты внутри ноутбука. Отдельный сайт не требуется.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Каждый тип материала — свой запрос к модели со своей инструкцией, не один общий промпт.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4"/>
          <p:cNvSpPr/>
          <p:nvPr/>
        </p:nvSpPr>
        <p:spPr>
          <a:xfrm>
            <a:off x="3081240" y="6537960"/>
            <a:ext cx="5998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5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Цель и задачи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502920" y="1051560"/>
            <a:ext cx="11155320" cy="277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700" spc="-1" strike="noStrike">
                <a:solidFill>
                  <a:srgbClr val="1a202c"/>
                </a:solidFill>
                <a:latin typeface="Calibri"/>
              </a:rPr>
              <a:t>Цель: система автоматической генерации персонального учебного контента на готовой LLM, с прогрессом и обоснованным выбором модели.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700" spc="-1" strike="noStrike">
                <a:solidFill>
                  <a:srgbClr val="1a202c"/>
                </a:solidFill>
                <a:latin typeface="Calibri"/>
              </a:rPr>
              <a:t>1. Генерация: план, уроки, примеры, тесты, ответы, контрольные.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700" spc="-1" strike="noStrike">
                <a:solidFill>
                  <a:srgbClr val="1a202c"/>
                </a:solidFill>
                <a:latin typeface="Calibri"/>
              </a:rPr>
              <a:t>2. Персонализация профиля и стиля.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700" spc="-1" strike="noStrike">
                <a:solidFill>
                  <a:srgbClr val="1a202c"/>
                </a:solidFill>
                <a:latin typeface="Calibri"/>
              </a:rPr>
              <a:t>3. Интерактивный сценарий в Jupyter.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700" spc="-1" strike="noStrike">
                <a:solidFill>
                  <a:srgbClr val="1a202c"/>
                </a:solidFill>
                <a:latin typeface="Calibri"/>
              </a:rPr>
              <a:t>4. Контроль ответов модели: структура, код, тема вопроса.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700" spc="-1" strike="noStrike">
                <a:solidFill>
                  <a:srgbClr val="1a202c"/>
                </a:solidFill>
                <a:latin typeface="Calibri"/>
              </a:rPr>
              <a:t>5. Локальное сохранение прогресса.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700" spc="-1" strike="noStrike">
                <a:solidFill>
                  <a:srgbClr val="1a202c"/>
                </a:solidFill>
                <a:latin typeface="Calibri"/>
              </a:rPr>
              <a:t>6. Эксперимент сравнения готовых моделей (этап 5, принят).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4"/>
          <p:cNvSpPr/>
          <p:nvPr/>
        </p:nvSpPr>
        <p:spPr>
          <a:xfrm>
            <a:off x="3081240" y="6537960"/>
            <a:ext cx="5998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6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Что проект намеренно не делает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2" name="Table 3"/>
          <p:cNvGraphicFramePr/>
          <p:nvPr/>
        </p:nvGraphicFramePr>
        <p:xfrm>
          <a:off x="411480" y="1097280"/>
          <a:ext cx="11338200" cy="2633040"/>
        </p:xfrm>
        <a:graphic>
          <a:graphicData uri="http://schemas.openxmlformats.org/drawingml/2006/table">
            <a:tbl>
              <a:tblPr/>
              <a:tblGrid>
                <a:gridCol w="5669280"/>
                <a:gridCol w="5669280"/>
              </a:tblGrid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ru-RU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Подход</a:t>
                      </a:r>
                      <a:endParaRPr b="0" lang="ru-RU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Статус</a:t>
                      </a:r>
                      <a:endParaRPr b="0" lang="ru-RU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65d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Сбор обучающей базы для своей НС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Не применяется, этап закрыт пояснением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Парсинг сайтов ради датасета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Не применяется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Обучение и fine-tuning своей модели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Не применяется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RAG: чанки, эмбеддинги, поиск по базе знаний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Не применяется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Классификация изображений и другие CV-задачи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Не относятся к проекту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sp>
        <p:nvSpPr>
          <p:cNvPr id="93" name="TextBox 4"/>
          <p:cNvSpPr/>
          <p:nvPr/>
        </p:nvSpPr>
        <p:spPr>
          <a:xfrm>
            <a:off x="411480" y="5806440"/>
            <a:ext cx="1133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400" spc="-1" strike="noStrike">
                <a:solidFill>
                  <a:srgbClr val="4a5568"/>
                </a:solidFill>
                <a:latin typeface="Calibri"/>
              </a:rPr>
              <a:t>Качество здесь — промпты, проверка ответа программой и сравнение готовых моделей, а не обучение весов.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5"/>
          <p:cNvSpPr/>
          <p:nvPr/>
        </p:nvSpPr>
        <p:spPr>
          <a:xfrm>
            <a:off x="3081240" y="6537960"/>
            <a:ext cx="5998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7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Стек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502920" y="1051560"/>
            <a:ext cx="11155320" cy="21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Python 3, Jupyter / IPython, интерфейс ipywidgets.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Языковая модель продукта: API, в дипломе gpt-4o-mini (переменная LLM_MODEL).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Настройки в .env: ключ, имя модели, режим подключения. Прокси не обязателен.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Состояние ученика — локальный JSON: профиль, план, кэш уроков, оценки, контрольные.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pandas, scikit-learn, Flask, TensorFlow и другие библиотеки нужны, чтобы выполнять сгенерированный код курса. Ядро учителя на них не построено.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4"/>
          <p:cNvSpPr/>
          <p:nvPr/>
        </p:nvSpPr>
        <p:spPr>
          <a:xfrm>
            <a:off x="3081240" y="6537960"/>
            <a:ext cx="5998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8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Архитектура: кто кем управляет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640080" y="1188720"/>
            <a:ext cx="10972440" cy="28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ru-RU" sz="2000" spc="-1" strike="noStrike">
                <a:solidFill>
                  <a:srgbClr val="1a365d"/>
                </a:solidFill>
                <a:latin typeface="Consolas"/>
              </a:rPr>
              <a:t>Ноутбук TeachAI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2000" spc="-1" strike="noStrike">
                <a:solidFill>
                  <a:srgbClr val="1a365d"/>
                </a:solidFill>
                <a:latin typeface="Consolas"/>
              </a:rPr>
              <a:t>    → </a:t>
            </a:r>
            <a:r>
              <a:rPr b="0" lang="ru-RU" sz="2000" spc="-1" strike="noStrike">
                <a:solidFill>
                  <a:srgbClr val="1a365d"/>
                </a:solidFill>
                <a:latin typeface="Consolas"/>
              </a:rPr>
              <a:t>start_jupyter()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2000" spc="-1" strike="noStrike">
                <a:solidFill>
                  <a:srgbClr val="1a365d"/>
                </a:solidFill>
                <a:latin typeface="Consolas"/>
              </a:rPr>
              <a:t>        → </a:t>
            </a:r>
            <a:r>
              <a:rPr b="0" lang="ru-RU" sz="2000" spc="-1" strike="noStrike">
                <a:solidFill>
                  <a:srgbClr val="1a365d"/>
                </a:solidFill>
                <a:latin typeface="Consolas"/>
              </a:rPr>
              <a:t>Движок TeachAIEngine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2000" spc="-1" strike="noStrike">
                <a:solidFill>
                  <a:srgbClr val="1a365d"/>
                </a:solidFill>
                <a:latin typeface="Consolas"/>
              </a:rPr>
              <a:t>            → </a:t>
            </a:r>
            <a:r>
              <a:rPr b="0" lang="ru-RU" sz="2000" spc="-1" strike="noStrike">
                <a:solidFill>
                  <a:srgbClr val="1a365d"/>
                </a:solidFill>
                <a:latin typeface="Consolas"/>
              </a:rPr>
              <a:t>Конфигурация          .env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2000" spc="-1" strike="noStrike">
                <a:solidFill>
                  <a:srgbClr val="1a365d"/>
                </a:solidFill>
                <a:latin typeface="Consolas"/>
              </a:rPr>
              <a:t>            → </a:t>
            </a:r>
            <a:r>
              <a:rPr b="0" lang="ru-RU" sz="2000" spc="-1" strike="noStrike">
                <a:solidFill>
                  <a:srgbClr val="1a365d"/>
                </a:solidFill>
                <a:latin typeface="Consolas"/>
              </a:rPr>
              <a:t>Состояние             data/state.json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2000" spc="-1" strike="noStrike">
                <a:solidFill>
                  <a:srgbClr val="1a365d"/>
                </a:solidFill>
                <a:latin typeface="Consolas"/>
              </a:rPr>
              <a:t>            → </a:t>
            </a:r>
            <a:r>
              <a:rPr b="0" lang="ru-RU" sz="2000" spc="-1" strike="noStrike">
                <a:solidFill>
                  <a:srgbClr val="1a365d"/>
                </a:solidFill>
                <a:latin typeface="Consolas"/>
              </a:rPr>
              <a:t>Фасад генерации       → LLM API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2000" spc="-1" strike="noStrike">
                <a:solidFill>
                  <a:srgbClr val="1a365d"/>
                </a:solidFill>
                <a:latin typeface="Consolas"/>
              </a:rPr>
              <a:t>            → </a:t>
            </a:r>
            <a:r>
              <a:rPr b="0" lang="ru-RU" sz="2000" spc="-1" strike="noStrike">
                <a:solidFill>
                  <a:srgbClr val="1a365d"/>
                </a:solidFill>
                <a:latin typeface="Consolas"/>
              </a:rPr>
              <a:t>Тесты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2000" spc="-1" strike="noStrike">
                <a:solidFill>
                  <a:srgbClr val="1a365d"/>
                </a:solidFill>
                <a:latin typeface="Consolas"/>
              </a:rPr>
              <a:t>            → </a:t>
            </a:r>
            <a:r>
              <a:rPr b="0" lang="ru-RU" sz="2000" spc="-1" strike="noStrike">
                <a:solidFill>
                  <a:srgbClr val="1a365d"/>
                </a:solidFill>
                <a:latin typeface="Consolas"/>
              </a:rPr>
              <a:t>Интерфейс виджетов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ru-RU" sz="2000" spc="-1" strike="noStrike">
                <a:solidFill>
                  <a:srgbClr val="1a365d"/>
                </a:solidFill>
                <a:latin typeface="Consolas"/>
              </a:rPr>
              <a:t>            → </a:t>
            </a:r>
            <a:r>
              <a:rPr b="0" lang="ru-RU" sz="2000" spc="-1" strike="noStrike">
                <a:solidFill>
                  <a:srgbClr val="1a365d"/>
                </a:solidFill>
                <a:latin typeface="Consolas"/>
              </a:rPr>
              <a:t>Дашборд повторного входа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3081240" y="6537960"/>
            <a:ext cx="5998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9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Четыре слоя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502920" y="1051560"/>
            <a:ext cx="11155320" cy="24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Ядро: запуск, конфигурация, состояние, профиль, прогресс, каталог курсов.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LLM: отдельные генераторы плана, урока, примеров, теста, ответа, понятий, проверки темы вопроса, контрольного.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Интерфейс: настройка, выбор курса, урок, кнопки, тест, завершение, дашборд.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Сервис: журналы, индикатор ожидания, оформление HTML и формул, правка типичных ошибок в коде примеров.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На защите достаточно этих четырёх слоёв. Полный список из 60 файлов на слайд не нужен.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4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10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Модули ядра и состояния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9" name="Table 3"/>
          <p:cNvGraphicFramePr/>
          <p:nvPr/>
        </p:nvGraphicFramePr>
        <p:xfrm>
          <a:off x="411480" y="1097280"/>
          <a:ext cx="11338200" cy="3511080"/>
        </p:xfrm>
        <a:graphic>
          <a:graphicData uri="http://schemas.openxmlformats.org/drawingml/2006/table">
            <a:tbl>
              <a:tblPr/>
              <a:tblGrid>
                <a:gridCol w="5669280"/>
                <a:gridCol w="5669280"/>
              </a:tblGrid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ru-RU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Модуль</a:t>
                      </a:r>
                      <a:endParaRPr b="0" lang="ru-RU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За что отвечает</a:t>
                      </a:r>
                      <a:endParaRPr b="0" lang="ru-RU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65d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run_teachai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Точка входа: одна ячейка ноутбука или командная строка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TeachAIEngine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Собирает конфиг, состояние, генерацию, тесты и интерфейс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ConfigManager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Ключ API, имя модели, режим сети, папки logs и data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StateManager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Фасад файла state.json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UserProfileManager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Имя, часы, длина урока, стиль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LearningProgressManager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Текущий урок, оценки, зачёт урока, счётчик вопросов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CourseDataManager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Каталог курсов, план, следующий урок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sp>
        <p:nvSpPr>
          <p:cNvPr id="110" name="TextBox 4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11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Модули генерации и проверки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3" name="Table 3"/>
          <p:cNvGraphicFramePr/>
          <p:nvPr/>
        </p:nvGraphicFramePr>
        <p:xfrm>
          <a:off x="411480" y="1097280"/>
          <a:ext cx="11338200" cy="3949920"/>
        </p:xfrm>
        <a:graphic>
          <a:graphicData uri="http://schemas.openxmlformats.org/drawingml/2006/table">
            <a:tbl>
              <a:tblPr/>
              <a:tblGrid>
                <a:gridCol w="5669280"/>
                <a:gridCol w="5669280"/>
              </a:tblGrid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ru-RU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Модуль</a:t>
                      </a:r>
                      <a:endParaRPr b="0" lang="ru-RU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За что отвечает</a:t>
                      </a:r>
                      <a:endParaRPr b="0" lang="ru-RU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65d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ContentGenerator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Единый фасад всех учебных запросов к модели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CoursePlanGenerator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План курса в JSON и проверка структуры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LessonGenerator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Текст урока: HTML для экрана и сырой текст для анализа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ExamplesGenerator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Примеры кода и их проверка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RelevanceChecker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Относится ли вопрос к тексту урока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QAGenerator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Ответ на вопрос, если тема совпала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Assessment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Вопросы теста и сверка с эталонным вариантом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ControlTasksGenerator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Задание и проверка кода студента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14" name="TextBox 4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12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Как связаны подсистемы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502920" y="1051560"/>
            <a:ext cx="11155320" cy="20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Интерфейс → движок → фасад генерации → языковая модель.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Движок → состояние → файл прогресса. Интерфейс сам файл не пишет.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Вопрос ученика → экран урока → проверка темы → либо отказ, либо генератор ответа.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План, урок, примеры, тест и контрольное не делят один промпт: у каждого свой генератор.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Бенчмарк моделей — отдельный ноутбук. Он не стоит в контуре урока ученика.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Дашборд при повторном входе показывает прогресс и только по кнопке поднимает тяжёлые части.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13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Путь ученика: от профиля до оценки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502920" y="1051560"/>
            <a:ext cx="11155320" cy="24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1. Одна ячейка запускает систему.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2. Первый вход: имя, часы курса, длина урока, стиль. Запись в состояние.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3. Выбор курса из каталога. Текст карточки курса — из каталога, не из модели.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4. Модель строит план (JSON). Программа проверяет структуру и сохраняет план.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5. Урок берётся из кэша или генерируется заново. На экране HTML, для вопросов хранится сырой текст.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6. Примеры, объяснение, понятия, вопрос, тест и контрольное — отдельные действия и отдельные запросы.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7. Тест зачтён при оценке больше 40%. Урок завершён, если тест зачтён и контрольное принято.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14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Как собирается запрос к модели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502920" y="1051560"/>
            <a:ext cx="11155320" cy="29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Модель одна на все учебные генераторы: gpt-4o-mini. Меняются инструкция и параметры, не веса.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В запрос попадают стиль общения, имя, курс, раздел, тема и урок.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Для урока и для ответа на вопрос в контекст кладётся текст этого урока, а не «вся память модели».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План, проверка темы и часть заданий ждут структурированный JSON. Урок и ответ — связный текст.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При сбое сети запрос повторяется. Для части контрольных можно указать отдельную модель проверки.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15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Вопрос ученика: два разных запроса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3"/>
          <p:cNvSpPr/>
          <p:nvPr/>
        </p:nvSpPr>
        <p:spPr>
          <a:xfrm>
            <a:off x="502920" y="1051560"/>
            <a:ext cx="1115532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1. Ученик отправляет вопрос с экрана урока. Счётчик вопросов урока увеличивается.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2. Из текста урока убирается оформленный HTML и «шапка» курса, раздела и темы.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3. Сначала локальные правила и эвристика. Если их мало — модель отвечает JSON: по теме или нет, причина.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4. Не по теме: жёлтое предупреждение с причиной. Ответ по существу не запрашивается.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5. По теме: второй запрос, уже генератор ответа, со стилем и текстом урока.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6. Напоминание «больше трёх вопросов» в этом экране не показывается, хотя счётчик пишется.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4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16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Отдельные виды генерации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3" name="Table 3"/>
          <p:cNvGraphicFramePr/>
          <p:nvPr/>
        </p:nvGraphicFramePr>
        <p:xfrm>
          <a:off x="411480" y="1097280"/>
          <a:ext cx="11338200" cy="3071880"/>
        </p:xfrm>
        <a:graphic>
          <a:graphicData uri="http://schemas.openxmlformats.org/drawingml/2006/table">
            <a:tbl>
              <a:tblPr/>
              <a:tblGrid>
                <a:gridCol w="5669280"/>
                <a:gridCol w="5669280"/>
              </a:tblGrid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ru-RU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Что просит ученик</a:t>
                      </a:r>
                      <a:endParaRPr b="0" lang="ru-RU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Что делает система</a:t>
                      </a:r>
                      <a:endParaRPr b="0" lang="ru-RU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65d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План курса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JSON: разделы → темы → уроки, затем проверка структуры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Урок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Текст под стиль и имя; кэш при повторном открытии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Примеры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Блоки с заголовком, пояснением и кодом на Python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Вопрос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Сначала фильтр темы, потом ответ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Тест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Вопросы с вариантами и эталонным индексом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Контрольное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Условие, код ученика, проверка результата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34" name="TextBox 4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17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Персонализация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502920" y="1051560"/>
            <a:ext cx="11155320" cy="21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Стили: формальный, дружелюбный, разговорный, краткий.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На скрине профиля выбран краткий стиль, 31 час и уроки по 30 минут. Это пример сессии, не фиксированные настройки продукта.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Имя попадает в текст урока: на скрине урока обращение «Игорь».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Для курсов программирования в инструкции жёстко задано: примеры кода на Python.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План строится под заявленные часы и длину занятия, а не как один и тот же курс для всех.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4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18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Контроль качества: план и примеры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3"/>
          <p:cNvSpPr/>
          <p:nvPr/>
        </p:nvSpPr>
        <p:spPr>
          <a:xfrm>
            <a:off x="502920" y="1051560"/>
            <a:ext cx="11155320" cy="20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План: ответ в JSON, программа проверяет обязательные поля и при необходимости поправляет структуру.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Примеры хранятся как данные {заголовок, пояснение, код}. HTML — только показ.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Цепочка примера: генерация → проверка, что это Python и не чужой язык → синтаксис → правка типичных шаблонов модели → повтор, если проверка не прошла.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Это механизмы, не проценты качества. Отдельного журнала версий промптов нет.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4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19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Контроль качества: вопрос, тест, контрольное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502920" y="1051560"/>
            <a:ext cx="11155320" cy="23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700" spc="-1" strike="noStrike">
                <a:solidFill>
                  <a:srgbClr val="1a202c"/>
                </a:solidFill>
                <a:latin typeface="Calibri"/>
              </a:rPr>
              <a:t>Вопрос судят по содержанию урока, не только по заголовку. Иначе вопрос по телу урока ошибочно отклонялся.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700" spc="-1" strike="noStrike">
                <a:solidFill>
                  <a:srgbClr val="1a202c"/>
                </a:solidFill>
                <a:latin typeface="Calibri"/>
              </a:rPr>
              <a:t>Тест: выбор варианта сравнивается с эталоном. Порог прохождения — больше 40%.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700" spc="-1" strike="noStrike">
                <a:solidFill>
                  <a:srgbClr val="1a202c"/>
                </a:solidFill>
                <a:latin typeface="Calibri"/>
              </a:rPr>
              <a:t>Сам по себе тест урок не закрывает.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700" spc="-1" strike="noStrike">
                <a:solidFill>
                  <a:srgbClr val="1a202c"/>
                </a:solidFill>
                <a:latin typeface="Calibri"/>
              </a:rPr>
              <a:t>Контрольное: ученик выполняет код, система проверяет результат. На скрине верное решение принято с комментарием.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700" spc="-1" strike="noStrike">
                <a:solidFill>
                  <a:srgbClr val="1a202c"/>
                </a:solidFill>
                <a:latin typeface="Calibri"/>
              </a:rPr>
              <a:t>Урок завершён, когда тест выше порога и контрольное принято, либо стоит ручная отметка.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4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20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Прогресс и кэш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3"/>
          <p:cNvSpPr/>
          <p:nvPr/>
        </p:nvSpPr>
        <p:spPr>
          <a:xfrm>
            <a:off x="502920" y="1051560"/>
            <a:ext cx="11155320" cy="21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Всё состояние локально: профиль, план, кэш уроков, оценки, результаты контрольных.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В кэше два вида текста урока: красивый HTML для экрана и сырой текст для проверки вопросов.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Повторное открытие урока не тратит новый запрос, если кэш есть.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Дашборд показывает название курса, полосу прогресса и текущий урок. Цифры на скрине — одна сессия, не обещание «62% качества».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Синхронизации между компьютерами нет.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4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21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Зачем сравнивали модели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3"/>
          <p:cNvSpPr/>
          <p:nvPr/>
        </p:nvSpPr>
        <p:spPr>
          <a:xfrm>
            <a:off x="502920" y="1051560"/>
            <a:ext cx="11155320" cy="24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gpt-4o-mini сначала стояла как практический выбор. Для диплома нужно было проверить его, а не подогнать отчёт.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Свою сеть обучать не на чем и не зачем: архитектура другая. Вместо эпох сравнивались готовые модели.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Объект эксперимента — генерация текста урока TeachAI одним и тем же промптом.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Это не таблица версий промптов. Журнала A/B по формулировкам нет.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Прогон 13 сентября 2026. Этап 5 с этим экспериментом принят.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4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22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Протокол эксперимента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3"/>
          <p:cNvSpPr/>
          <p:nvPr/>
        </p:nvSpPr>
        <p:spPr>
          <a:xfrm>
            <a:off x="502920" y="1051560"/>
            <a:ext cx="11155320" cy="254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Курс «Основы Python», стиль дружелюбный, 5 тем: переменные, условия, циклы, списки и словари, функции.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Участники: gpt-4o-mini, gpt-5.6-luna, gpt-5.6-terra, claude-5-sonnet, gemini-3.5-flash.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Судьи трёх семейств оценивали слепые тексты A–E по рубрике 0–10: тема, полнота, плотность, педагогика, соответствие заданию.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Форма проверялась автоматом: объём, заголовки, блок кода Python. Прошли 25 из 25 генераций.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Судьям текст резали примерно до 3500 символов с начала, иначе их ответ ломался. Цена и скорость считались по полному ответу.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600" spc="-1" strike="noStrike">
                <a:solidFill>
                  <a:srgbClr val="1a202c"/>
                </a:solidFill>
                <a:latin typeface="Calibri"/>
              </a:rPr>
              <a:t>Оценён тип «урок», не план, не вопросы и не примеры.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4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23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Результаты полного прогона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61" name="Table 3"/>
          <p:cNvGraphicFramePr/>
          <p:nvPr/>
        </p:nvGraphicFramePr>
        <p:xfrm>
          <a:off x="411480" y="1097280"/>
          <a:ext cx="11338200" cy="2633040"/>
        </p:xfrm>
        <a:graphic>
          <a:graphicData uri="http://schemas.openxmlformats.org/drawingml/2006/table">
            <a:tbl>
              <a:tblPr/>
              <a:tblGrid>
                <a:gridCol w="2267640"/>
                <a:gridCol w="2267640"/>
                <a:gridCol w="2267640"/>
                <a:gridCol w="2267640"/>
                <a:gridCol w="2267640"/>
              </a:tblGrid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ru-RU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Модель</a:t>
                      </a:r>
                      <a:endParaRPr b="0" lang="ru-RU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Балл 0–10</a:t>
                      </a:r>
                      <a:endParaRPr b="0" lang="ru-RU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₽ </a:t>
                      </a: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за урок</a:t>
                      </a:r>
                      <a:endParaRPr b="0" lang="ru-RU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Балл / ₽</a:t>
                      </a:r>
                      <a:endParaRPr b="0" lang="ru-RU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Секунды</a:t>
                      </a:r>
                      <a:endParaRPr b="0" lang="ru-RU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65d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gpt-5.6-luna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8.40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0.88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9.57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~84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gemini-3.5-flash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8.33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6.53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1.28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~21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gpt-5.6-terra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8.27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8.78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0.94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~82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gpt-4o-mini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7.73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0.53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14.72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~12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claude-5-sonnet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7.67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7.57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1.01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~37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sp>
        <p:nvSpPr>
          <p:cNvPr id="162" name="TextBox 4"/>
          <p:cNvSpPr/>
          <p:nvPr/>
        </p:nvSpPr>
        <p:spPr>
          <a:xfrm>
            <a:off x="411480" y="580644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400" spc="-1" strike="noStrike">
                <a:solidFill>
                  <a:srgbClr val="4a5568"/>
                </a:solidFill>
                <a:latin typeface="Calibri"/>
              </a:rPr>
              <a:t>Стоимость всего прогона около 322 ₽, включая судей. Один пробный урок дал другую картину: лидер был Claude. Поэтому решение принято по пяти темам, не по одному.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5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24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Вердикт: какую модель оставили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3"/>
          <p:cNvSpPr/>
          <p:nvPr/>
        </p:nvSpPr>
        <p:spPr>
          <a:xfrm>
            <a:off x="502920" y="1051560"/>
            <a:ext cx="11155320" cy="269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Приоритеты учебного проекта зафиксированы до чтения таблицы: балл на рубль, приемлемое качество, низкая цена и скорость, прохождение фильтра формы.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В системе остаётся gpt-4o-mini: лучший балл на рубль и самый быстрый ответ при качестве около 7.7 из 10.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Это не «лучшая модель вообще». По абсолютному баллу выше Luna.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Если появится бюджет на качество: gpt-5.6-luna, около 1 ₽ за урок и балл 8.40.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Terra, Claude Sonnet 5 и Gemini Flash для массовых уроков не берём: заметно дороже при близком качестве.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4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25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Ограничения, о которых нужно сказать честно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3"/>
          <p:cNvSpPr/>
          <p:nvPr/>
        </p:nvSpPr>
        <p:spPr>
          <a:xfrm>
            <a:off x="502920" y="1051560"/>
            <a:ext cx="11155320" cy="241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700" spc="-1" strike="noStrike">
                <a:solidFill>
                  <a:srgbClr val="1a202c"/>
                </a:solidFill>
                <a:latin typeface="Calibri"/>
              </a:rPr>
              <a:t>Бенчмарк покрывает уроки, не весь конвейер учителя.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700" spc="-1" strike="noStrike">
                <a:solidFill>
                  <a:srgbClr val="1a202c"/>
                </a:solidFill>
                <a:latin typeface="Calibri"/>
              </a:rPr>
              <a:t>Обрезка текста для судей занижает оценку длинных ответов в хвосте урока.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700" spc="-1" strike="noStrike">
                <a:solidFill>
                  <a:srgbClr val="1a202c"/>
                </a:solidFill>
                <a:latin typeface="Calibri"/>
              </a:rPr>
              <a:t>Модель-судья не заменяет живого методиста. Зато протокол можно повторить по сохранённому JSON.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700" spc="-1" strike="noStrike">
                <a:solidFill>
                  <a:srgbClr val="1a202c"/>
                </a:solidFill>
                <a:latin typeface="Calibri"/>
              </a:rPr>
              <a:t>Цены — тарифы шлюза на дату прогона.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700" spc="-1" strike="noStrike">
                <a:solidFill>
                  <a:srgbClr val="1a202c"/>
                </a:solidFill>
                <a:latin typeface="Calibri"/>
              </a:rPr>
              <a:t>Нет журнала экспериментов с формулировками промптов.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700" spc="-1" strike="noStrike">
                <a:solidFill>
                  <a:srgbClr val="1a202c"/>
                </a:solidFill>
                <a:latin typeface="Calibri"/>
              </a:rPr>
              <a:t>Система зависит от внешнего API. Полностью убрать ошибки модели нельзя.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4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26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Выводы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3"/>
          <p:cNvSpPr/>
          <p:nvPr/>
        </p:nvSpPr>
        <p:spPr>
          <a:xfrm>
            <a:off x="502920" y="1051560"/>
            <a:ext cx="11155320" cy="30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Собрана модульная система TeachAI в Jupyter с интерфейсом, который проходит ученик без правки кода.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Запросы к модели многошаговые: план, урок, примеры, фильтр вопроса, ответ, тест, контрольное.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Есть персонализация, кэш уроков и локальный прогресс.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Качество держат инструкции, проверки и правки после ручных прогонов, не выдуманные проценты.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gpt-4o-mini оставлена по эксперименту (балл на рубль и скорость). Luna — описанный апгрейд.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Отказ от своей базы, дообучения и RAG согласован с куратором. Этап 5 принят.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4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27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Словарь терминов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78" name="Table 3"/>
          <p:cNvGraphicFramePr/>
          <p:nvPr/>
        </p:nvGraphicFramePr>
        <p:xfrm>
          <a:off x="411480" y="1097280"/>
          <a:ext cx="11338200" cy="3511080"/>
        </p:xfrm>
        <a:graphic>
          <a:graphicData uri="http://schemas.openxmlformats.org/drawingml/2006/table">
            <a:tbl>
              <a:tblPr/>
              <a:tblGrid>
                <a:gridCol w="5669280"/>
                <a:gridCol w="5669280"/>
              </a:tblGrid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ru-RU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Термин</a:t>
                      </a:r>
                      <a:endParaRPr b="0" lang="ru-RU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В этом проекте</a:t>
                      </a:r>
                      <a:endParaRPr b="0" lang="ru-RU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65d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Inference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Готовая модель отвечает, веса не обучаются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Fine-tuning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Дообучение на своих данных — не используется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RAG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Подмешивание внешней базы знаний — не используется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Фасад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Одна точка входа, внутри отдельные генераторы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Format gate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Автопроверка формы урока до оценки судьями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LLM-as-judge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Старшие модели ставят балл по рубрике, без имён участников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Балл/₽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a202c"/>
                          </a:solidFill>
                          <a:latin typeface="Calibri"/>
                        </a:rPr>
                        <a:t>Средний балл судей, делённый на цену одного урока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sp>
        <p:nvSpPr>
          <p:cNvPr id="179" name="TextBox 4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28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Сессия: профиль и выбор курса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Picture 3" descr="Начальный диалог 1.png"/>
          <p:cNvPicPr/>
          <p:nvPr/>
        </p:nvPicPr>
        <p:blipFill>
          <a:blip r:embed="rId1"/>
          <a:stretch/>
        </p:blipFill>
        <p:spPr>
          <a:xfrm>
            <a:off x="320040" y="1051560"/>
            <a:ext cx="5668920" cy="1883160"/>
          </a:xfrm>
          <a:prstGeom prst="rect">
            <a:avLst/>
          </a:prstGeom>
          <a:ln w="0">
            <a:noFill/>
          </a:ln>
        </p:spPr>
      </p:pic>
      <p:pic>
        <p:nvPicPr>
          <p:cNvPr id="183" name="Picture 4" descr="Начальный диалог 2.png"/>
          <p:cNvPicPr/>
          <p:nvPr/>
        </p:nvPicPr>
        <p:blipFill>
          <a:blip r:embed="rId2"/>
          <a:stretch/>
        </p:blipFill>
        <p:spPr>
          <a:xfrm>
            <a:off x="6172200" y="1051560"/>
            <a:ext cx="5668920" cy="2315160"/>
          </a:xfrm>
          <a:prstGeom prst="rect">
            <a:avLst/>
          </a:prstGeom>
          <a:ln w="0">
            <a:noFill/>
          </a:ln>
        </p:spPr>
      </p:pic>
      <p:sp>
        <p:nvSpPr>
          <p:cNvPr id="184" name="TextBox 5"/>
          <p:cNvSpPr/>
          <p:nvPr/>
        </p:nvSpPr>
        <p:spPr>
          <a:xfrm>
            <a:off x="411480" y="580644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400" spc="-1" strike="noStrike">
                <a:solidFill>
                  <a:srgbClr val="4a5568"/>
                </a:solidFill>
                <a:latin typeface="Calibri"/>
              </a:rPr>
              <a:t>Слева профиль (имя, часы, длина урока, стиль «краткий»). Справа выбор курса из каталога. Числа на форме — эта сессия, не константы системы.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6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29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Повторный вход: дашборд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Picture 3" descr="Дашборд 1.png"/>
          <p:cNvPicPr/>
          <p:nvPr/>
        </p:nvPicPr>
        <p:blipFill>
          <a:blip r:embed="rId1"/>
          <a:stretch/>
        </p:blipFill>
        <p:spPr>
          <a:xfrm>
            <a:off x="914040" y="1051560"/>
            <a:ext cx="10333080" cy="4708800"/>
          </a:xfrm>
          <a:prstGeom prst="rect">
            <a:avLst/>
          </a:prstGeom>
          <a:ln w="0">
            <a:noFill/>
          </a:ln>
        </p:spPr>
      </p:pic>
      <p:sp>
        <p:nvSpPr>
          <p:cNvPr id="189" name="TextBox 4"/>
          <p:cNvSpPr/>
          <p:nvPr/>
        </p:nvSpPr>
        <p:spPr>
          <a:xfrm>
            <a:off x="411480" y="58521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400" spc="-1" strike="noStrike">
                <a:solidFill>
                  <a:srgbClr val="4a5568"/>
                </a:solidFill>
                <a:latin typeface="Calibri"/>
              </a:rPr>
              <a:t>Курс, описание из каталога, полоса прогресса и текущий урок. 62,5% здесь — доля пройденных уроков сессии, не точность нейросети.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Box 5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30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Урок, сгенерированный для ученика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3" name="Picture 3" descr="Урок 1.png"/>
          <p:cNvPicPr/>
          <p:nvPr/>
        </p:nvPicPr>
        <p:blipFill>
          <a:blip r:embed="rId1"/>
          <a:stretch/>
        </p:blipFill>
        <p:spPr>
          <a:xfrm>
            <a:off x="2837880" y="1051560"/>
            <a:ext cx="6485400" cy="4708800"/>
          </a:xfrm>
          <a:prstGeom prst="rect">
            <a:avLst/>
          </a:prstGeom>
          <a:ln w="0">
            <a:noFill/>
          </a:ln>
        </p:spPr>
      </p:pic>
      <p:sp>
        <p:nvSpPr>
          <p:cNvPr id="194" name="TextBox 4"/>
          <p:cNvSpPr/>
          <p:nvPr/>
        </p:nvSpPr>
        <p:spPr>
          <a:xfrm>
            <a:off x="411480" y="58521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400" spc="-1" strike="noStrike">
                <a:solidFill>
                  <a:srgbClr val="4a5568"/>
                </a:solidFill>
                <a:latin typeface="Calibri"/>
              </a:rPr>
              <a:t>Шапка показывает курс → раздел → урок. Текст обращается по имени и учитывает стиль. Это уже оформленный HTML, не сырой ответ модели.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5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31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Практические примеры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8" name="Picture 3" descr="Примеры.png"/>
          <p:cNvPicPr/>
          <p:nvPr/>
        </p:nvPicPr>
        <p:blipFill>
          <a:blip r:embed="rId1"/>
          <a:stretch/>
        </p:blipFill>
        <p:spPr>
          <a:xfrm>
            <a:off x="2832480" y="1051560"/>
            <a:ext cx="6496560" cy="4708800"/>
          </a:xfrm>
          <a:prstGeom prst="rect">
            <a:avLst/>
          </a:prstGeom>
          <a:ln w="0">
            <a:noFill/>
          </a:ln>
        </p:spPr>
      </p:pic>
      <p:sp>
        <p:nvSpPr>
          <p:cNvPr id="199" name="TextBox 4"/>
          <p:cNvSpPr/>
          <p:nvPr/>
        </p:nvSpPr>
        <p:spPr>
          <a:xfrm>
            <a:off x="411480" y="58521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400" spc="-1" strike="noStrike">
                <a:solidFill>
                  <a:srgbClr val="4a5568"/>
                </a:solidFill>
                <a:latin typeface="Calibri"/>
              </a:rPr>
              <a:t>Отдельное действие на уроке: пояснение и код на Python, который можно запустить. Генерация примеров не смешана с ответом на вопрос.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Box 5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32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Вопрос по теме и вопрос не по теме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3" name="Picture 3" descr="Задать вопрос релевантный.png"/>
          <p:cNvPicPr/>
          <p:nvPr/>
        </p:nvPicPr>
        <p:blipFill>
          <a:blip r:embed="rId1"/>
          <a:stretch/>
        </p:blipFill>
        <p:spPr>
          <a:xfrm>
            <a:off x="320040" y="1051560"/>
            <a:ext cx="5668920" cy="4072680"/>
          </a:xfrm>
          <a:prstGeom prst="rect">
            <a:avLst/>
          </a:prstGeom>
          <a:ln w="0">
            <a:noFill/>
          </a:ln>
        </p:spPr>
      </p:pic>
      <p:pic>
        <p:nvPicPr>
          <p:cNvPr id="204" name="Picture 4" descr="Задать вопрос нерелевантный.png"/>
          <p:cNvPicPr/>
          <p:nvPr/>
        </p:nvPicPr>
        <p:blipFill>
          <a:blip r:embed="rId2"/>
          <a:stretch/>
        </p:blipFill>
        <p:spPr>
          <a:xfrm>
            <a:off x="6172200" y="1051560"/>
            <a:ext cx="5668920" cy="3769920"/>
          </a:xfrm>
          <a:prstGeom prst="rect">
            <a:avLst/>
          </a:prstGeom>
          <a:ln w="0">
            <a:noFill/>
          </a:ln>
        </p:spPr>
      </p:pic>
      <p:sp>
        <p:nvSpPr>
          <p:cNvPr id="205" name="TextBox 5"/>
          <p:cNvSpPr/>
          <p:nvPr/>
        </p:nvSpPr>
        <p:spPr>
          <a:xfrm>
            <a:off x="411480" y="580644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400" spc="-1" strike="noStrike">
                <a:solidFill>
                  <a:srgbClr val="4a5568"/>
                </a:solidFill>
                <a:latin typeface="Calibri"/>
              </a:rPr>
              <a:t>Слева вопрос про регрессию получил ответ. Справа вопрос не из урока остановлен предупреждением: второй запрос на ответ не делается.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6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33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Тест: сверка с эталоном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9" name="Picture 3" descr="Тест по уроку - Результаты 1.png"/>
          <p:cNvPicPr/>
          <p:nvPr/>
        </p:nvPicPr>
        <p:blipFill>
          <a:blip r:embed="rId1"/>
          <a:stretch/>
        </p:blipFill>
        <p:spPr>
          <a:xfrm>
            <a:off x="2825280" y="1051560"/>
            <a:ext cx="6510240" cy="4708800"/>
          </a:xfrm>
          <a:prstGeom prst="rect">
            <a:avLst/>
          </a:prstGeom>
          <a:ln w="0">
            <a:noFill/>
          </a:ln>
        </p:spPr>
      </p:pic>
      <p:sp>
        <p:nvSpPr>
          <p:cNvPr id="210" name="TextBox 4"/>
          <p:cNvSpPr/>
          <p:nvPr/>
        </p:nvSpPr>
        <p:spPr>
          <a:xfrm>
            <a:off x="411480" y="58521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400" spc="-1" strike="noStrike">
                <a:solidFill>
                  <a:srgbClr val="4a5568"/>
                </a:solidFill>
                <a:latin typeface="Calibri"/>
              </a:rPr>
              <a:t>80% на экране — балл этой попытки. Порог системы ниже: тест пройден при оценке больше 40%. Средний балл курса на скрине тоже из этой сессии.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Box 5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34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Контрольное задание: код принят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4" name="Picture 3" descr="Контрольные задания правильное решение.png"/>
          <p:cNvPicPr/>
          <p:nvPr/>
        </p:nvPicPr>
        <p:blipFill>
          <a:blip r:embed="rId1"/>
          <a:stretch/>
        </p:blipFill>
        <p:spPr>
          <a:xfrm>
            <a:off x="2763360" y="1051560"/>
            <a:ext cx="6634080" cy="4708800"/>
          </a:xfrm>
          <a:prstGeom prst="rect">
            <a:avLst/>
          </a:prstGeom>
          <a:ln w="0">
            <a:noFill/>
          </a:ln>
        </p:spPr>
      </p:pic>
      <p:sp>
        <p:nvSpPr>
          <p:cNvPr id="215" name="TextBox 4"/>
          <p:cNvSpPr/>
          <p:nvPr/>
        </p:nvSpPr>
        <p:spPr>
          <a:xfrm>
            <a:off x="411480" y="58521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400" spc="-1" strike="noStrike">
                <a:solidFill>
                  <a:srgbClr val="4a5568"/>
                </a:solidFill>
                <a:latin typeface="Calibri"/>
              </a:rPr>
              <a:t>Ученик запускает код и просит проверку. Верное решение закрывает практическую часть. Урок целиком завершается вместе с зачтённым тестом.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5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35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TextBox 2"/>
          <p:cNvSpPr/>
          <p:nvPr/>
        </p:nvSpPr>
        <p:spPr>
          <a:xfrm>
            <a:off x="411480" y="255960"/>
            <a:ext cx="11338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pc="-1" strike="noStrike">
                <a:solidFill>
                  <a:srgbClr val="1a365d"/>
                </a:solidFill>
                <a:latin typeface="Calibri"/>
              </a:rPr>
              <a:t>Что осталось за кадром этой версии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Box 3"/>
          <p:cNvSpPr/>
          <p:nvPr/>
        </p:nvSpPr>
        <p:spPr>
          <a:xfrm>
            <a:off x="502920" y="1051560"/>
            <a:ext cx="11155320" cy="20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Старт обучения и дата защиты на титул ещё не подставлены.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Короткая презентация на 12–14 слайдов для очной защиты будет собрана из этого файла, без нового описания проекта.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Планы «на будущее» (сайт, другие сценарии бенчмарка, переход на Luna) в заочную версию не включены: они не входят в сданный проект, пока автор их отдельно не подтвердит.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ru-RU" sz="1800" spc="-1" strike="noStrike">
                <a:solidFill>
                  <a:srgbClr val="1a202c"/>
                </a:solidFill>
                <a:latin typeface="Calibri"/>
              </a:rPr>
              <a:t>Репозиторий: https://github.com/Ip-59/TeachAI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4"/>
          <p:cNvSpPr/>
          <p:nvPr/>
        </p:nvSpPr>
        <p:spPr>
          <a:xfrm>
            <a:off x="3041640" y="6537960"/>
            <a:ext cx="60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100" spc="-1" strike="noStrike">
                <a:solidFill>
                  <a:srgbClr val="4a5568"/>
                </a:solidFill>
                <a:latin typeface="Calibri"/>
              </a:rPr>
              <a:t>TeachAI  ·  заочная версия  ·  Университет искусственного интеллекта, Пермь    36 / 36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Игорь Пучкин</dc:creator>
  <dc:description>generated using python-pptx</dc:description>
  <dc:language>ru-RU</dc:language>
  <cp:lastModifiedBy/>
  <dcterms:modified xsi:type="dcterms:W3CDTF">2026-09-27T18:10:02Z</dcterms:modified>
  <cp:revision>2</cp:revision>
  <dc:subject>Университет искусственного интеллекта, Пермь</dc:subject>
  <dc:title>TeachAI — заочная презентация дипломного проекта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