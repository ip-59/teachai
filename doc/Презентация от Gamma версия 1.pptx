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embeddedFontLst>
    <p:embeddedFont>
      <p:font typeface="Montserrat"/>
      <p:regular r:id="rId201314"/>
    </p:embeddedFont>
    <p:embeddedFont>
      <p:font typeface="Montserrat SemiBold"/>
      <p:regular r:id="rId201315"/>
    </p:embeddedFont>
    <p:embeddedFont>
      <p:font typeface="Montserrat Bold"/>
      <p:regular r:id="rId201316"/>
    </p:embeddedFont>
    <p:embeddedFont>
      <p:font typeface="Montserrat Medium"/>
      <p:regular r:id="rId201317"/>
    </p:embeddedFont>
    <p:embeddedFont>
      <p:font typeface="Montserrat Extra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3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9316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9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-6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665800">
            <a:off x="7138317" y="4542232"/>
            <a:ext cx="6380896" cy="651966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665800">
            <a:off x="7138317" y="4542232"/>
            <a:ext cx="6380896" cy="651966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500000">
            <a:off x="7657715" y="4961445"/>
            <a:ext cx="6742341" cy="674250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705400">
            <a:off x="-1674871" y="-5041008"/>
            <a:ext cx="9872416" cy="9872762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894600">
            <a:off x="-2380399" y="-4691161"/>
            <a:ext cx="9173338" cy="9173369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940173" y="1110952"/>
            <a:ext cx="5324243" cy="182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TeachAI — интеллектуальная система персонализированного обучения на основе LLM</a:t>
            </a:r>
            <a:endParaRPr lang="en-US" sz="2600" dirty="0"/>
          </a:p>
        </p:txBody>
      </p:sp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062" y="444103"/>
            <a:ext cx="2937099" cy="401935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970633" y="505023"/>
            <a:ext cx="4744125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Игорь Пучкин</a:t>
            </a:r>
            <a:endParaRPr lang="en-US" sz="2400" dirty="0"/>
          </a:p>
        </p:txBody>
      </p:sp>
      <p:sp>
        <p:nvSpPr>
          <p:cNvPr id="10" name="Text 2"/>
          <p:cNvSpPr/>
          <p:nvPr/>
        </p:nvSpPr>
        <p:spPr>
          <a:xfrm>
            <a:off x="970633" y="3526532"/>
            <a:ext cx="4744125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Старт: [дата] · Защита: [дата]</a:t>
            </a:r>
            <a:endParaRPr lang="en-US" sz="2400" dirty="0"/>
          </a:p>
        </p:txBody>
      </p:sp>
      <p:sp>
        <p:nvSpPr>
          <p:cNvPr id="11" name="Text 3"/>
          <p:cNvSpPr/>
          <p:nvPr/>
        </p:nvSpPr>
        <p:spPr>
          <a:xfrm>
            <a:off x="7112318" y="4883249"/>
            <a:ext cx="4679436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Курс: AI/ML - разработчик</a:t>
            </a:r>
            <a:endParaRPr lang="en-US" sz="1600" dirty="0"/>
          </a:p>
        </p:txBody>
      </p:sp>
      <p:sp>
        <p:nvSpPr>
          <p:cNvPr id="12" name="Text 4"/>
          <p:cNvSpPr/>
          <p:nvPr/>
        </p:nvSpPr>
        <p:spPr>
          <a:xfrm>
            <a:off x="7112318" y="5280620"/>
            <a:ext cx="467943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Университет искусственного интеллекта, Пермь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-909420" y="6241351"/>
            <a:ext cx="4448262" cy="1828105"/>
          </a:xfrm>
          <a:custGeom>
            <a:avLst/>
            <a:gdLst/>
            <a:ahLst/>
            <a:cxnLst/>
            <a:rect l="l" t="t" r="r" b="b"/>
            <a:pathLst>
              <a:path w="4448262" h="1828105">
                <a:moveTo>
                  <a:pt x="4448262" y="1828105"/>
                </a:moveTo>
                <a:lnTo>
                  <a:pt x="2224131" y="0"/>
                </a:lnTo>
                <a:lnTo>
                  <a:pt x="0" y="1828105"/>
                </a:lnTo>
                <a:close/>
              </a:path>
            </a:pathLst>
          </a:custGeom>
          <a:solidFill>
            <a:srgbClr val="2064FB"/>
          </a:solidFill>
          <a:ln/>
        </p:spPr>
      </p:sp>
      <p:pic>
        <p:nvPicPr>
          <p:cNvPr id="3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801669" y="-95250"/>
            <a:ext cx="9107160" cy="694174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45400" y="0"/>
                </a:lnTo>
                <a:lnTo>
                  <a:pt x="100000" y="100000"/>
                </a:lnTo>
                <a:lnTo>
                  <a:pt x="45400" y="100000"/>
                </a:lnTo>
                <a:lnTo>
                  <a:pt x="0" y="100000"/>
                </a:lnTo>
                <a:lnTo>
                  <a:pt x="54600" y="100000"/>
                </a:lnTo>
                <a:close/>
              </a:path>
            </a:pathLst>
          </a:custGeom>
        </p:spPr>
      </p:pic>
      <p:sp>
        <p:nvSpPr>
          <p:cNvPr id="4" name="Shape 1"/>
          <p:cNvSpPr/>
          <p:nvPr/>
        </p:nvSpPr>
        <p:spPr>
          <a:xfrm rot="16200000">
            <a:off x="7857628" y="-1374373"/>
            <a:ext cx="6037211" cy="2630587"/>
          </a:xfrm>
          <a:custGeom>
            <a:avLst/>
            <a:gdLst/>
            <a:ahLst/>
            <a:cxnLst/>
            <a:rect l="l" t="t" r="r" b="b"/>
            <a:pathLst>
              <a:path w="6037211" h="2630587">
                <a:moveTo>
                  <a:pt x="6037211" y="2630587"/>
                </a:moveTo>
                <a:lnTo>
                  <a:pt x="3018605" y="0"/>
                </a:lnTo>
                <a:lnTo>
                  <a:pt x="0" y="2630587"/>
                </a:lnTo>
                <a:close/>
              </a:path>
            </a:pathLst>
          </a:custGeom>
          <a:solidFill>
            <a:srgbClr val="EEF0F2"/>
          </a:solidFill>
          <a:ln/>
        </p:spPr>
      </p:sp>
      <p:sp>
        <p:nvSpPr>
          <p:cNvPr id="5" name="Text 2"/>
          <p:cNvSpPr/>
          <p:nvPr/>
        </p:nvSpPr>
        <p:spPr>
          <a:xfrm>
            <a:off x="3904259" y="784820"/>
            <a:ext cx="7164307" cy="7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0" dirty="0">
                <a:solidFill>
                  <a:srgbClr val="2763F9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Постановка задачи</a:t>
            </a:r>
            <a:endParaRPr lang="en-US" sz="5100" dirty="0"/>
          </a:p>
        </p:txBody>
      </p:sp>
      <p:sp>
        <p:nvSpPr>
          <p:cNvPr id="6" name="Shape 3"/>
          <p:cNvSpPr/>
          <p:nvPr/>
        </p:nvSpPr>
        <p:spPr>
          <a:xfrm>
            <a:off x="4028577" y="1778298"/>
            <a:ext cx="8547382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4"/>
          <p:cNvSpPr/>
          <p:nvPr/>
        </p:nvSpPr>
        <p:spPr>
          <a:xfrm>
            <a:off x="6396870" y="2559745"/>
            <a:ext cx="5399746" cy="391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06400" indent="-406400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Подготовка курса (план → уроки → примеры → проверка) требует много ручной работы</a:t>
            </a:r>
            <a:endParaRPr lang="en-US" sz="2000" dirty="0"/>
          </a:p>
          <a:p>
            <a:pPr algn="l" marL="406400" indent="-406400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Типовой курс не учитывает темп и стиль общения обучающегося</a:t>
            </a:r>
            <a:endParaRPr lang="en-US" sz="2000" dirty="0"/>
          </a:p>
          <a:p>
            <a:pPr algn="l" marL="406400" indent="-406400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Нужна система, которая ведёт обучение через готовую LLM, а не обучает свою модель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61981" y="2921000"/>
            <a:ext cx="4825879" cy="1578372"/>
          </a:xfrm>
          <a:prstGeom prst="roundRect">
            <a:avLst>
              <a:gd name="adj" fmla="val 2172"/>
            </a:avLst>
          </a:prstGeom>
          <a:solidFill>
            <a:srgbClr val="2064FB"/>
          </a:solidFill>
          <a:ln/>
        </p:spPr>
      </p:sp>
      <p:sp>
        <p:nvSpPr>
          <p:cNvPr id="9" name="Text 6"/>
          <p:cNvSpPr/>
          <p:nvPr/>
        </p:nvSpPr>
        <p:spPr>
          <a:xfrm>
            <a:off x="819130" y="2921000"/>
            <a:ext cx="4711582" cy="157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Профиль + тема</a:t>
            </a:r>
            <a:endParaRPr lang="en-US" sz="20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↓</a:t>
            </a:r>
            <a:endParaRPr lang="en-US" sz="2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Интерактивный курс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15727"/>
            <a:ext cx="6364525" cy="133677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0859"/>
            <a:ext cx="6364525" cy="522704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rot="2700000">
            <a:off x="-60821" y="-497683"/>
            <a:ext cx="10081861" cy="5008860"/>
          </a:xfrm>
          <a:custGeom>
            <a:avLst/>
            <a:gdLst/>
            <a:ahLst/>
            <a:cxnLst/>
            <a:rect l="l" t="t" r="r" b="b"/>
            <a:pathLst>
              <a:path w="10081861" h="5008860">
                <a:moveTo>
                  <a:pt x="0" y="5008860"/>
                </a:moveTo>
                <a:lnTo>
                  <a:pt x="5040931" y="0"/>
                </a:lnTo>
                <a:lnTo>
                  <a:pt x="10081861" y="500886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1"/>
          <p:cNvSpPr/>
          <p:nvPr/>
        </p:nvSpPr>
        <p:spPr>
          <a:xfrm rot="10800000">
            <a:off x="1635273" y="-1314450"/>
            <a:ext cx="6901880" cy="3429000"/>
          </a:xfrm>
          <a:custGeom>
            <a:avLst/>
            <a:gdLst/>
            <a:ahLst/>
            <a:cxnLst/>
            <a:rect l="l" t="t" r="r" b="b"/>
            <a:pathLst>
              <a:path w="6901880" h="3429000">
                <a:moveTo>
                  <a:pt x="0" y="3429000"/>
                </a:moveTo>
                <a:lnTo>
                  <a:pt x="3450940" y="0"/>
                </a:lnTo>
                <a:lnTo>
                  <a:pt x="6901880" y="3429000"/>
                </a:lnTo>
                <a:close/>
              </a:path>
            </a:pathLst>
          </a:custGeom>
          <a:solidFill>
            <a:srgbClr val="EEF0F2"/>
          </a:solidFill>
          <a:ln/>
        </p:spPr>
      </p:sp>
      <p:sp>
        <p:nvSpPr>
          <p:cNvPr id="6" name="Shape 2"/>
          <p:cNvSpPr/>
          <p:nvPr/>
        </p:nvSpPr>
        <p:spPr>
          <a:xfrm rot="2700000">
            <a:off x="-1126203" y="2847080"/>
            <a:ext cx="8106366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Shape 3"/>
          <p:cNvSpPr/>
          <p:nvPr/>
        </p:nvSpPr>
        <p:spPr>
          <a:xfrm rot="8100000">
            <a:off x="4739359" y="1338264"/>
            <a:ext cx="4593416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4"/>
          <p:cNvSpPr/>
          <p:nvPr/>
        </p:nvSpPr>
        <p:spPr>
          <a:xfrm>
            <a:off x="7181174" y="1962150"/>
            <a:ext cx="4953273" cy="1927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500" dirty="0">
                <a:solidFill>
                  <a:srgbClr val="2064F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Цель проекта</a:t>
            </a:r>
            <a:endParaRPr lang="en-US" sz="5500" dirty="0"/>
          </a:p>
        </p:txBody>
      </p:sp>
      <p:sp>
        <p:nvSpPr>
          <p:cNvPr id="9" name="Text 5"/>
          <p:cNvSpPr/>
          <p:nvPr/>
        </p:nvSpPr>
        <p:spPr>
          <a:xfrm>
            <a:off x="6910512" y="3720505"/>
            <a:ext cx="5159444" cy="2925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200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Разработать TeachAI: генерация персонализированного учебного контента на предобученной LLM через API, без датасета и fine-tuning; курс в Jupyter с UI, прогрессом и обоснованным выбором модели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7588" y="0"/>
            <a:ext cx="7734107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777" y="0"/>
            <a:ext cx="7162819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335057" y="0"/>
            <a:ext cx="6856638" cy="6856809"/>
          </a:xfrm>
          <a:custGeom>
            <a:avLst/>
            <a:gdLst/>
            <a:ahLst/>
            <a:cxnLst/>
            <a:rect l="l" t="t" r="r" b="b"/>
            <a:pathLst>
              <a:path w="6856638" h="6856809">
                <a:moveTo>
                  <a:pt x="0" y="6856809"/>
                </a:moveTo>
                <a:lnTo>
                  <a:pt x="0" y="0"/>
                </a:lnTo>
                <a:lnTo>
                  <a:pt x="6856638" y="685680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1"/>
          <p:cNvSpPr/>
          <p:nvPr/>
        </p:nvSpPr>
        <p:spPr>
          <a:xfrm>
            <a:off x="0" y="0"/>
            <a:ext cx="5371966" cy="68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 rot="5400000">
            <a:off x="-4" y="96"/>
            <a:ext cx="5029074" cy="5028902"/>
          </a:xfrm>
          <a:custGeom>
            <a:avLst/>
            <a:gdLst/>
            <a:ahLst/>
            <a:cxnLst/>
            <a:rect l="l" t="t" r="r" b="b"/>
            <a:pathLst>
              <a:path w="5029074" h="5028902">
                <a:moveTo>
                  <a:pt x="0" y="5028902"/>
                </a:moveTo>
                <a:lnTo>
                  <a:pt x="0" y="0"/>
                </a:lnTo>
                <a:lnTo>
                  <a:pt x="5029074" y="5028902"/>
                </a:lnTo>
                <a:close/>
              </a:path>
            </a:pathLst>
          </a:custGeom>
          <a:solidFill>
            <a:srgbClr val="EEF0F2"/>
          </a:solidFill>
          <a:ln/>
        </p:spPr>
      </p:sp>
      <p:sp>
        <p:nvSpPr>
          <p:cNvPr id="7" name="Shape 3"/>
          <p:cNvSpPr/>
          <p:nvPr/>
        </p:nvSpPr>
        <p:spPr>
          <a:xfrm rot="13500000">
            <a:off x="3320966" y="2018605"/>
            <a:ext cx="6086819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4"/>
          <p:cNvSpPr/>
          <p:nvPr/>
        </p:nvSpPr>
        <p:spPr>
          <a:xfrm>
            <a:off x="1146940" y="1047155"/>
            <a:ext cx="7164307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0" dirty="0">
                <a:solidFill>
                  <a:srgbClr val="2064F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Задачи проекта</a:t>
            </a:r>
            <a:endParaRPr lang="en-US" sz="5500" dirty="0"/>
          </a:p>
        </p:txBody>
      </p:sp>
      <p:sp>
        <p:nvSpPr>
          <p:cNvPr id="9" name="Text 5"/>
          <p:cNvSpPr/>
          <p:nvPr/>
        </p:nvSpPr>
        <p:spPr>
          <a:xfrm>
            <a:off x="700963" y="2568674"/>
            <a:ext cx="6673881" cy="4108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Генерация: план, уроки, примеры, тесты, ответы, практика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Персонализация: профиль, стиль, длительность и объём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Интерактив в Jupyter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Контроль ответов LLM: валидация, фильтр вопросов, проверка кода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Сохранение прогресса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Экспериментальный выбор модели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3867" y="0"/>
            <a:ext cx="6857828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867" y="0"/>
            <a:ext cx="6857828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rot="10800000">
            <a:off x="5010021" y="-103"/>
            <a:ext cx="7181770" cy="7181949"/>
          </a:xfrm>
          <a:custGeom>
            <a:avLst/>
            <a:gdLst/>
            <a:ahLst/>
            <a:cxnLst/>
            <a:rect l="l" t="t" r="r" b="b"/>
            <a:pathLst>
              <a:path w="7181770" h="7181949">
                <a:moveTo>
                  <a:pt x="7181770" y="7181949"/>
                </a:moveTo>
                <a:lnTo>
                  <a:pt x="7181770" y="0"/>
                </a:lnTo>
                <a:lnTo>
                  <a:pt x="0" y="718194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1"/>
          <p:cNvSpPr/>
          <p:nvPr/>
        </p:nvSpPr>
        <p:spPr>
          <a:xfrm rot="18900000">
            <a:off x="6657910" y="-1459016"/>
            <a:ext cx="2877669" cy="2877741"/>
          </a:xfrm>
          <a:custGeom>
            <a:avLst/>
            <a:gdLst/>
            <a:ahLst/>
            <a:cxnLst/>
            <a:rect l="l" t="t" r="r" b="b"/>
            <a:pathLst>
              <a:path w="2877669" h="2877741">
                <a:moveTo>
                  <a:pt x="0" y="2877741"/>
                </a:moveTo>
                <a:lnTo>
                  <a:pt x="0" y="0"/>
                </a:lnTo>
                <a:lnTo>
                  <a:pt x="2877669" y="2877741"/>
                </a:lnTo>
                <a:close/>
              </a:path>
            </a:pathLst>
          </a:custGeom>
          <a:solidFill>
            <a:srgbClr val="EEF0F2"/>
          </a:solidFill>
          <a:ln/>
        </p:spPr>
      </p:sp>
      <p:sp>
        <p:nvSpPr>
          <p:cNvPr id="6" name="Shape 2"/>
          <p:cNvSpPr/>
          <p:nvPr/>
        </p:nvSpPr>
        <p:spPr>
          <a:xfrm rot="2700000">
            <a:off x="4838580" y="1338954"/>
            <a:ext cx="3894933" cy="76200"/>
          </a:xfrm>
          <a:prstGeom prst="rect">
            <a:avLst/>
          </a:prstGeom>
          <a:solidFill>
            <a:srgbClr val="C9CFD4"/>
          </a:solidFill>
          <a:ln/>
        </p:spPr>
      </p:sp>
      <p:sp>
        <p:nvSpPr>
          <p:cNvPr id="7" name="Text 3"/>
          <p:cNvSpPr/>
          <p:nvPr/>
        </p:nvSpPr>
        <p:spPr>
          <a:xfrm>
            <a:off x="920231" y="805259"/>
            <a:ext cx="7033243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2064F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Данные и модель</a:t>
            </a:r>
            <a:endParaRPr lang="en-US" sz="4400" dirty="0"/>
          </a:p>
        </p:txBody>
      </p:sp>
      <p:sp>
        <p:nvSpPr>
          <p:cNvPr id="8" name="Shape 4"/>
          <p:cNvSpPr/>
          <p:nvPr/>
        </p:nvSpPr>
        <p:spPr>
          <a:xfrm rot="8100000">
            <a:off x="4709804" y="2857795"/>
            <a:ext cx="8190601" cy="76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5"/>
          <p:cNvSpPr/>
          <p:nvPr/>
        </p:nvSpPr>
        <p:spPr>
          <a:xfrm>
            <a:off x="920231" y="2770088"/>
            <a:ext cx="6550853" cy="9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Есть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Предобученная LLM по API; модель gpt-4o-mini (вердикт эксперимента)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20231" y="3844330"/>
            <a:ext cx="6550853" cy="9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Есть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Параметры: temperature, max_tokens, JSON; данные сессии: профиль, план, прогресс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920231" y="4918571"/>
            <a:ext cx="6550853" cy="630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Нет (согласовано)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Свой датасет для обучения; fine-tuning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920231" y="5677396"/>
            <a:ext cx="6550853" cy="630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Нет (согласовано)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RAG, парсинг; «объём базы» в смысле ML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 rot="8100000">
            <a:off x="-726163" y="6236494"/>
            <a:ext cx="1360553" cy="1360587"/>
          </a:xfrm>
          <a:custGeom>
            <a:avLst/>
            <a:gdLst/>
            <a:ahLst/>
            <a:cxnLst/>
            <a:rect l="l" t="t" r="r" b="b"/>
            <a:pathLst>
              <a:path w="1360553" h="1360587">
                <a:moveTo>
                  <a:pt x="0" y="1360587"/>
                </a:moveTo>
                <a:lnTo>
                  <a:pt x="0" y="0"/>
                </a:lnTo>
                <a:lnTo>
                  <a:pt x="1360553" y="1360587"/>
                </a:lnTo>
                <a:close/>
              </a:path>
            </a:pathLst>
          </a:custGeom>
          <a:solidFill>
            <a:srgbClr val="00000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5312" y="0"/>
            <a:ext cx="6686383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6806" y="2673945"/>
            <a:ext cx="5772998" cy="1401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Архитектура системы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 rot="18900000">
            <a:off x="80367" y="-1459016"/>
            <a:ext cx="2877669" cy="2877741"/>
          </a:xfrm>
          <a:custGeom>
            <a:avLst/>
            <a:gdLst/>
            <a:ahLst/>
            <a:cxnLst/>
            <a:rect l="l" t="t" r="r" b="b"/>
            <a:pathLst>
              <a:path w="2877669" h="2877741">
                <a:moveTo>
                  <a:pt x="0" y="2877741"/>
                </a:moveTo>
                <a:lnTo>
                  <a:pt x="0" y="0"/>
                </a:lnTo>
                <a:lnTo>
                  <a:pt x="2877669" y="2877741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2"/>
          <p:cNvSpPr/>
          <p:nvPr/>
        </p:nvSpPr>
        <p:spPr>
          <a:xfrm rot="8099400">
            <a:off x="-1499944" y="1995484"/>
            <a:ext cx="3654433" cy="76200"/>
          </a:xfrm>
          <a:prstGeom prst="rect">
            <a:avLst/>
          </a:prstGeom>
          <a:solidFill>
            <a:srgbClr val="2763F9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100000">
            <a:off x="3015869" y="5637705"/>
            <a:ext cx="3821017" cy="382111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92813" y="2921000"/>
            <a:ext cx="2158946" cy="262830"/>
          </a:xfrm>
          <a:prstGeom prst="roundRect">
            <a:avLst>
              <a:gd name="adj" fmla="val 13046"/>
            </a:avLst>
          </a:prstGeom>
          <a:solidFill>
            <a:srgbClr val="2064FB"/>
          </a:solidFill>
          <a:ln/>
        </p:spPr>
      </p:sp>
      <p:sp>
        <p:nvSpPr>
          <p:cNvPr id="8" name="Text 4"/>
          <p:cNvSpPr/>
          <p:nvPr/>
        </p:nvSpPr>
        <p:spPr>
          <a:xfrm>
            <a:off x="7245169" y="2921000"/>
            <a:ext cx="2654234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Движок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333867" y="889000"/>
            <a:ext cx="2412940" cy="262830"/>
          </a:xfrm>
          <a:prstGeom prst="roundRect">
            <a:avLst>
              <a:gd name="adj" fmla="val 13046"/>
            </a:avLst>
          </a:prstGeom>
          <a:solidFill>
            <a:srgbClr val="EEF0F2"/>
          </a:solidFill>
          <a:ln/>
        </p:spPr>
      </p:sp>
      <p:sp>
        <p:nvSpPr>
          <p:cNvPr id="10" name="Text 6"/>
          <p:cNvSpPr/>
          <p:nvPr/>
        </p:nvSpPr>
        <p:spPr>
          <a:xfrm>
            <a:off x="5086223" y="889000"/>
            <a:ext cx="2908227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Конфиг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762781" y="889000"/>
            <a:ext cx="2666933" cy="262830"/>
          </a:xfrm>
          <a:prstGeom prst="roundRect">
            <a:avLst>
              <a:gd name="adj" fmla="val 13046"/>
            </a:avLst>
          </a:prstGeom>
          <a:solidFill>
            <a:srgbClr val="EEF0F2"/>
          </a:solidFill>
          <a:ln/>
        </p:spPr>
      </p:sp>
      <p:sp>
        <p:nvSpPr>
          <p:cNvPr id="12" name="Text 8"/>
          <p:cNvSpPr/>
          <p:nvPr/>
        </p:nvSpPr>
        <p:spPr>
          <a:xfrm>
            <a:off x="8515137" y="889000"/>
            <a:ext cx="3162221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Состояние (JSON)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698882" y="2921000"/>
            <a:ext cx="2412940" cy="262830"/>
          </a:xfrm>
          <a:prstGeom prst="roundRect">
            <a:avLst>
              <a:gd name="adj" fmla="val 13046"/>
            </a:avLst>
          </a:prstGeom>
          <a:solidFill>
            <a:srgbClr val="EEF0F2"/>
          </a:solidFill>
          <a:ln/>
        </p:spPr>
      </p:sp>
      <p:sp>
        <p:nvSpPr>
          <p:cNvPr id="14" name="Text 10"/>
          <p:cNvSpPr/>
          <p:nvPr/>
        </p:nvSpPr>
        <p:spPr>
          <a:xfrm>
            <a:off x="4451239" y="2921000"/>
            <a:ext cx="2908227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Генератор → LLM API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10032749" y="2921000"/>
            <a:ext cx="1777956" cy="262830"/>
          </a:xfrm>
          <a:prstGeom prst="roundRect">
            <a:avLst>
              <a:gd name="adj" fmla="val 13046"/>
            </a:avLst>
          </a:prstGeom>
          <a:solidFill>
            <a:srgbClr val="EEF0F2"/>
          </a:solidFill>
          <a:ln/>
        </p:spPr>
      </p:sp>
      <p:sp>
        <p:nvSpPr>
          <p:cNvPr id="16" name="Text 12"/>
          <p:cNvSpPr/>
          <p:nvPr/>
        </p:nvSpPr>
        <p:spPr>
          <a:xfrm>
            <a:off x="9785105" y="2921000"/>
            <a:ext cx="2273243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UI Jupyter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603835" y="4953000"/>
            <a:ext cx="2412940" cy="262830"/>
          </a:xfrm>
          <a:prstGeom prst="roundRect">
            <a:avLst>
              <a:gd name="adj" fmla="val 13046"/>
            </a:avLst>
          </a:prstGeom>
          <a:solidFill>
            <a:srgbClr val="EEF0F2"/>
          </a:solidFill>
          <a:ln/>
        </p:spPr>
      </p:sp>
      <p:sp>
        <p:nvSpPr>
          <p:cNvPr id="18" name="Text 14"/>
          <p:cNvSpPr/>
          <p:nvPr/>
        </p:nvSpPr>
        <p:spPr>
          <a:xfrm>
            <a:off x="6356191" y="4953000"/>
            <a:ext cx="2908227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Оценивание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943251" y="5905500"/>
            <a:ext cx="811509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Четыре слоя: Ядро / LLM / UI / Сервис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0948" y="467916"/>
            <a:ext cx="5434670" cy="58792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6727" y="361752"/>
            <a:ext cx="5015779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Генерация контента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480604" y="0"/>
            <a:ext cx="76198" cy="2495649"/>
          </a:xfrm>
          <a:prstGeom prst="rect">
            <a:avLst/>
          </a:prstGeom>
          <a:solidFill>
            <a:srgbClr val="2064FB"/>
          </a:solidFill>
          <a:ln/>
        </p:spPr>
      </p:sp>
      <p:sp>
        <p:nvSpPr>
          <p:cNvPr id="5" name="Text 2"/>
          <p:cNvSpPr/>
          <p:nvPr/>
        </p:nvSpPr>
        <p:spPr>
          <a:xfrm>
            <a:off x="837187" y="3109714"/>
            <a:ext cx="5099815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Отдельный вызов LLM под каждую задачу: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37187" y="3685679"/>
            <a:ext cx="509981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→ урок → примеры → тест → вопрос студента → релевантность → контрольное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37187" y="4673104"/>
            <a:ext cx="509981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 каждого шага своя инструкция и параметры.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0" y="533400"/>
            <a:ext cx="6204589" cy="5810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82553" y="653256"/>
            <a:ext cx="40804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Промпты и контроль качества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 rot="10800000">
            <a:off x="10457991" y="533401"/>
            <a:ext cx="1466218" cy="1466255"/>
          </a:xfrm>
          <a:custGeom>
            <a:avLst/>
            <a:gdLst/>
            <a:ahLst/>
            <a:cxnLst/>
            <a:rect l="l" t="t" r="r" b="b"/>
            <a:pathLst>
              <a:path w="1466218" h="1466255">
                <a:moveTo>
                  <a:pt x="0" y="1466255"/>
                </a:moveTo>
                <a:lnTo>
                  <a:pt x="0" y="0"/>
                </a:lnTo>
                <a:lnTo>
                  <a:pt x="1466218" y="1466255"/>
                </a:lnTo>
                <a:close/>
              </a:path>
            </a:pathLst>
          </a:custGeom>
          <a:solidFill>
            <a:srgbClr val="C9CFD4"/>
          </a:solidFill>
          <a:ln/>
        </p:spPr>
      </p:sp>
      <p:sp>
        <p:nvSpPr>
          <p:cNvPr id="5" name="Shape 2"/>
          <p:cNvSpPr/>
          <p:nvPr/>
        </p:nvSpPr>
        <p:spPr>
          <a:xfrm rot="13500000">
            <a:off x="9049521" y="111623"/>
            <a:ext cx="3094456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7048324" y="2730500"/>
            <a:ext cx="4965576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План</a:t>
            </a:r>
            <a:endParaRPr lang="en-US" sz="16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структуры JSON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048324" y="3725466"/>
            <a:ext cx="4965576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Примеры</a:t>
            </a:r>
            <a:endParaRPr lang="en-US" sz="16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синтаксиса, правка типичных ошибок LLM, повтор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048324" y="5086152"/>
            <a:ext cx="4965576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Вопрос</a:t>
            </a:r>
            <a:endParaRPr lang="en-US" sz="16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 текста урока, не только заголовка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048324" y="6081117"/>
            <a:ext cx="4965576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 и контрольное</a:t>
            </a:r>
            <a:endParaRPr lang="en-US" sz="16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Эталон / выполнение кода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17069" y="-17267"/>
            <a:ext cx="6806236" cy="6840835"/>
          </a:xfrm>
          <a:custGeom>
            <a:avLst/>
            <a:gdLst/>
            <a:ahLst/>
            <a:cxnLst/>
            <a:rect l="l" t="t" r="r" b="b"/>
            <a:pathLst>
              <a:path w="6806236" h="6840835">
                <a:moveTo>
                  <a:pt x="0" y="6840835"/>
                </a:moveTo>
                <a:lnTo>
                  <a:pt x="0" y="0"/>
                </a:lnTo>
                <a:lnTo>
                  <a:pt x="6806236" y="6840835"/>
                </a:lnTo>
                <a:close/>
              </a:path>
            </a:pathLst>
          </a:custGeom>
          <a:solidFill>
            <a:srgbClr val="EEF0F2"/>
          </a:solidFill>
          <a:ln/>
        </p:spPr>
      </p:sp>
      <p:sp>
        <p:nvSpPr>
          <p:cNvPr id="3" name="Shape 1"/>
          <p:cNvSpPr/>
          <p:nvPr/>
        </p:nvSpPr>
        <p:spPr>
          <a:xfrm>
            <a:off x="806132" y="1942306"/>
            <a:ext cx="5116682" cy="4169569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06132" y="1942306"/>
            <a:ext cx="5116682" cy="416947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500000">
            <a:off x="-2077979" y="4614968"/>
            <a:ext cx="3049610" cy="305028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97510" y="576560"/>
            <a:ext cx="11289521" cy="7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Сценарий работы</a:t>
            </a:r>
            <a:endParaRPr lang="en-US" sz="5100" dirty="0"/>
          </a:p>
        </p:txBody>
      </p:sp>
      <p:sp>
        <p:nvSpPr>
          <p:cNvPr id="7" name="Text 3"/>
          <p:cNvSpPr/>
          <p:nvPr/>
        </p:nvSpPr>
        <p:spPr>
          <a:xfrm>
            <a:off x="6579328" y="2086173"/>
            <a:ext cx="4933926" cy="1894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9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Профиль</a:t>
            </a:r>
            <a:endParaRPr lang="en-US" sz="1800" dirty="0"/>
          </a:p>
          <a:p>
            <a:pPr algn="l" marL="365760" indent="-365760">
              <a:lnSpc>
                <a:spcPct val="9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курса</a:t>
            </a:r>
            <a:endParaRPr lang="en-US" sz="1800" dirty="0"/>
          </a:p>
          <a:p>
            <a:pPr algn="l" marL="365760" indent="-365760">
              <a:lnSpc>
                <a:spcPct val="9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Урок (генерация или кэш)</a:t>
            </a:r>
            <a:endParaRPr lang="en-US" sz="1800" dirty="0"/>
          </a:p>
          <a:p>
            <a:pPr algn="l" marL="365760" indent="-365760">
              <a:lnSpc>
                <a:spcPct val="9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Примеры / вопрос / тест / практика</a:t>
            </a:r>
            <a:endParaRPr lang="en-US" sz="1800" dirty="0"/>
          </a:p>
          <a:p>
            <a:pPr algn="l" marL="365760" indent="-365760">
              <a:lnSpc>
                <a:spcPct val="9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Прогресс сохраняется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806033" y="1515566"/>
            <a:ext cx="11363338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Shape 5"/>
          <p:cNvSpPr/>
          <p:nvPr/>
        </p:nvSpPr>
        <p:spPr>
          <a:xfrm rot="8100000">
            <a:off x="11484482" y="6236494"/>
            <a:ext cx="1360553" cy="1360587"/>
          </a:xfrm>
          <a:custGeom>
            <a:avLst/>
            <a:gdLst/>
            <a:ahLst/>
            <a:cxnLst/>
            <a:rect l="l" t="t" r="r" b="b"/>
            <a:pathLst>
              <a:path w="1360553" h="1360587">
                <a:moveTo>
                  <a:pt x="0" y="1360587"/>
                </a:moveTo>
                <a:lnTo>
                  <a:pt x="0" y="0"/>
                </a:lnTo>
                <a:lnTo>
                  <a:pt x="1360553" y="1360587"/>
                </a:lnTo>
                <a:close/>
              </a:path>
            </a:pathLst>
          </a:custGeom>
          <a:solidFill>
            <a:srgbClr val="2064FB"/>
          </a:solidFill>
          <a:ln/>
        </p:spPr>
      </p:sp>
      <p:sp>
        <p:nvSpPr>
          <p:cNvPr id="10" name="Text 6"/>
          <p:cNvSpPr/>
          <p:nvPr/>
        </p:nvSpPr>
        <p:spPr>
          <a:xfrm>
            <a:off x="1073123" y="2921000"/>
            <a:ext cx="4584585" cy="700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Цепочка из 5 блоков: от профиля до сохранённого прогресса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2204387" y="510381"/>
            <a:ext cx="7782822" cy="583723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13500000">
            <a:off x="-2220759" y="-856459"/>
            <a:ext cx="3356586" cy="3356670"/>
          </a:xfrm>
          <a:custGeom>
            <a:avLst/>
            <a:gdLst/>
            <a:ahLst/>
            <a:cxnLst/>
            <a:rect l="l" t="t" r="r" b="b"/>
            <a:pathLst>
              <a:path w="3356586" h="3356670">
                <a:moveTo>
                  <a:pt x="0" y="3356670"/>
                </a:moveTo>
                <a:lnTo>
                  <a:pt x="0" y="0"/>
                </a:lnTo>
                <a:lnTo>
                  <a:pt x="3356586" y="3356670"/>
                </a:lnTo>
                <a:close/>
              </a:path>
            </a:pathLst>
          </a:custGeom>
          <a:solidFill>
            <a:srgbClr val="00000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500000">
            <a:off x="-2476142" y="163111"/>
            <a:ext cx="4167182" cy="416728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 rot="2700000">
            <a:off x="10039595" y="3732514"/>
            <a:ext cx="4358769" cy="4380905"/>
          </a:xfrm>
          <a:custGeom>
            <a:avLst/>
            <a:gdLst/>
            <a:ahLst/>
            <a:cxnLst/>
            <a:rect l="l" t="t" r="r" b="b"/>
            <a:pathLst>
              <a:path w="4358769" h="4380905">
                <a:moveTo>
                  <a:pt x="0" y="4380905"/>
                </a:moveTo>
                <a:lnTo>
                  <a:pt x="0" y="0"/>
                </a:lnTo>
                <a:lnTo>
                  <a:pt x="4358769" y="4380905"/>
                </a:lnTo>
                <a:close/>
              </a:path>
            </a:pathLst>
          </a:custGeom>
          <a:solidFill>
            <a:srgbClr val="2064FB"/>
          </a:solidFill>
          <a:ln/>
        </p:spPr>
      </p:sp>
      <p:sp>
        <p:nvSpPr>
          <p:cNvPr id="6" name="Text 2"/>
          <p:cNvSpPr/>
          <p:nvPr/>
        </p:nvSpPr>
        <p:spPr>
          <a:xfrm>
            <a:off x="9573675" y="5622528"/>
            <a:ext cx="205268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Интерактивный прототип в Jupyter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 rot="8100000">
            <a:off x="10266504" y="2869306"/>
            <a:ext cx="2573075" cy="7620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8" name="Text 4"/>
          <p:cNvSpPr/>
          <p:nvPr/>
        </p:nvSpPr>
        <p:spPr>
          <a:xfrm>
            <a:off x="819130" y="889000"/>
            <a:ext cx="7759506" cy="100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Запуск системы</a:t>
            </a:r>
            <a:endParaRPr lang="en-US" sz="4400" dirty="0"/>
          </a:p>
        </p:txBody>
      </p:sp>
      <p:sp>
        <p:nvSpPr>
          <p:cNvPr id="9" name="Text 5"/>
          <p:cNvSpPr/>
          <p:nvPr/>
        </p:nvSpPr>
        <p:spPr>
          <a:xfrm>
            <a:off x="819130" y="2540000"/>
            <a:ext cx="7505512" cy="1092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Точка входа — ноутбук TeachAI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Одна стартовая ячейка → интерфейс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Нужны Python и ключ API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8152898" y="2819100"/>
            <a:ext cx="4028577" cy="4049117"/>
          </a:xfrm>
          <a:custGeom>
            <a:avLst/>
            <a:gdLst/>
            <a:ahLst/>
            <a:cxnLst/>
            <a:rect l="l" t="t" r="r" b="b"/>
            <a:pathLst>
              <a:path w="4028577" h="4049117">
                <a:moveTo>
                  <a:pt x="0" y="4049117"/>
                </a:moveTo>
                <a:lnTo>
                  <a:pt x="0" y="0"/>
                </a:lnTo>
                <a:lnTo>
                  <a:pt x="4028577" y="4049117"/>
                </a:lnTo>
                <a:close/>
              </a:path>
            </a:pathLst>
          </a:custGeom>
          <a:solidFill>
            <a:srgbClr val="EEF0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57550"/>
            <a:ext cx="12191695" cy="2827139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0" y="3257550"/>
            <a:ext cx="3985220" cy="2827139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4103089" y="3257550"/>
            <a:ext cx="3985220" cy="2827139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8206376" y="3257550"/>
            <a:ext cx="3985220" cy="282713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297754" y="6249392"/>
            <a:ext cx="3802563" cy="455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Промпт → 5 моделей → фильтр формы → 3 судьи → рейтинг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700963" y="1759049"/>
            <a:ext cx="10789769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Один и тот же промпт на генерацию урока · 5 тем «Основы Python» (13.09.2026)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941463" y="346273"/>
            <a:ext cx="10308570" cy="146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Сравнение моделей (методика)</a:t>
            </a:r>
            <a:endParaRPr lang="en-US" sz="4800" dirty="0"/>
          </a:p>
        </p:txBody>
      </p:sp>
      <p:sp>
        <p:nvSpPr>
          <p:cNvPr id="10" name="Shape 5"/>
          <p:cNvSpPr/>
          <p:nvPr/>
        </p:nvSpPr>
        <p:spPr>
          <a:xfrm>
            <a:off x="850085" y="1476375"/>
            <a:ext cx="10491327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6"/>
          <p:cNvSpPr/>
          <p:nvPr/>
        </p:nvSpPr>
        <p:spPr>
          <a:xfrm>
            <a:off x="4194467" y="6249392"/>
            <a:ext cx="3802563" cy="455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Автофильтр формы 25/25; 3 судьи разных семейств, слепые метки, рубрика 0–10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91378" y="6249392"/>
            <a:ext cx="3802563" cy="455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участников: gpt-4o-mini, Luna, Terra, Claude Sonnet 5, Gemini Flash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9537167" y="4203407"/>
            <a:ext cx="2647685" cy="2661245"/>
          </a:xfrm>
          <a:custGeom>
            <a:avLst/>
            <a:gdLst/>
            <a:ahLst/>
            <a:cxnLst/>
            <a:rect l="l" t="t" r="r" b="b"/>
            <a:pathLst>
              <a:path w="2647685" h="2661245">
                <a:moveTo>
                  <a:pt x="0" y="2661245"/>
                </a:moveTo>
                <a:lnTo>
                  <a:pt x="0" y="0"/>
                </a:lnTo>
                <a:lnTo>
                  <a:pt x="2647685" y="2661245"/>
                </a:lnTo>
                <a:close/>
              </a:path>
            </a:pathLst>
          </a:custGeom>
          <a:solidFill>
            <a:srgbClr val="EEF0F2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14282" y="-14091"/>
            <a:ext cx="5648283" cy="5676602"/>
          </a:xfrm>
          <a:custGeom>
            <a:avLst/>
            <a:gdLst/>
            <a:ahLst/>
            <a:cxnLst/>
            <a:rect l="l" t="t" r="r" b="b"/>
            <a:pathLst>
              <a:path w="5648283" h="5676602">
                <a:moveTo>
                  <a:pt x="0" y="5676602"/>
                </a:moveTo>
                <a:lnTo>
                  <a:pt x="0" y="0"/>
                </a:lnTo>
                <a:lnTo>
                  <a:pt x="5648283" y="5676602"/>
                </a:lnTo>
                <a:close/>
              </a:path>
            </a:pathLst>
          </a:custGeom>
          <a:solidFill>
            <a:srgbClr val="EEF0F2"/>
          </a:solidFill>
          <a:ln/>
        </p:spPr>
      </p:sp>
      <p:sp>
        <p:nvSpPr>
          <p:cNvPr id="4" name="Text 2"/>
          <p:cNvSpPr/>
          <p:nvPr/>
        </p:nvSpPr>
        <p:spPr>
          <a:xfrm>
            <a:off x="91378" y="427335"/>
            <a:ext cx="12008939" cy="73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2763F9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Результаты и выбор модели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247743" y="1306612"/>
            <a:ext cx="11705138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565136" y="5143500"/>
            <a:ext cx="11061423" cy="700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064F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Вердикт: оставляем gpt-4o-mini (лучший балл/₽ и скорость); апгрейд при бюджете — Luna.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7987" y="3492500"/>
            <a:ext cx="11175720" cy="431800"/>
          </a:xfrm>
          <a:prstGeom prst="roundRect">
            <a:avLst>
              <a:gd name="adj" fmla="val 7941"/>
            </a:avLst>
          </a:prstGeom>
          <a:solidFill>
            <a:srgbClr val="EEF0F2"/>
          </a:solidFill>
          <a:ln/>
        </p:spPr>
      </p:sp>
      <p:sp>
        <p:nvSpPr>
          <p:cNvPr id="8" name="Text 6"/>
          <p:cNvSpPr/>
          <p:nvPr/>
        </p:nvSpPr>
        <p:spPr>
          <a:xfrm>
            <a:off x="565136" y="1651000"/>
            <a:ext cx="3314617" cy="321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Модель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Luna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Gemini Flash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Terra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gpt-4o-mini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Claude Sonnet 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48044" y="1651000"/>
            <a:ext cx="1409665" cy="321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Балл</a:t>
            </a:r>
            <a:endParaRPr lang="en-US" sz="18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8.40</a:t>
            </a:r>
            <a:endParaRPr lang="en-US" sz="18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8.33</a:t>
            </a:r>
            <a:endParaRPr lang="en-US" sz="18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8.27</a:t>
            </a:r>
            <a:endParaRPr lang="en-US" sz="18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7.73</a:t>
            </a:r>
            <a:endParaRPr lang="en-US" sz="1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7.67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899002" y="1651000"/>
            <a:ext cx="1409665" cy="321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₽/урок</a:t>
            </a:r>
            <a:endParaRPr lang="en-US" sz="18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0.88</a:t>
            </a:r>
            <a:endParaRPr lang="en-US" sz="18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6.53</a:t>
            </a:r>
            <a:endParaRPr lang="en-US" sz="18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8.78</a:t>
            </a:r>
            <a:endParaRPr lang="en-US" sz="18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0.53</a:t>
            </a:r>
            <a:endParaRPr lang="en-US" sz="1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7.57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549961" y="1651000"/>
            <a:ext cx="1409665" cy="321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Балл/₽</a:t>
            </a:r>
            <a:endParaRPr lang="en-US" sz="18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9.57</a:t>
            </a:r>
            <a:endParaRPr lang="en-US" sz="18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1.28</a:t>
            </a:r>
            <a:endParaRPr lang="en-US" sz="18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0.94</a:t>
            </a:r>
            <a:endParaRPr lang="en-US" sz="18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14.72</a:t>
            </a:r>
            <a:endParaRPr lang="en-US" sz="1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200920" y="1651000"/>
            <a:ext cx="2425639" cy="321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Latency</a:t>
            </a:r>
            <a:endParaRPr lang="en-US" sz="18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~84 с</a:t>
            </a:r>
            <a:endParaRPr lang="en-US" sz="18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~21 с</a:t>
            </a:r>
            <a:endParaRPr lang="en-US" sz="18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~82 с</a:t>
            </a:r>
            <a:endParaRPr lang="en-US" sz="18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~12 с</a:t>
            </a:r>
            <a:endParaRPr lang="en-US" sz="1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~37 с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04197" y="5483920"/>
            <a:ext cx="4169266" cy="210522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9715250" y="0"/>
            <a:ext cx="5093069" cy="25717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lnTo>
                  <a:pt x="0" y="100000"/>
                </a:lnTo>
                <a:lnTo>
                  <a:pt x="100000" y="100000"/>
                </a:lnTo>
                <a:close/>
              </a:path>
            </a:pathLst>
          </a:cu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100000">
            <a:off x="-735481" y="5796062"/>
            <a:ext cx="3049610" cy="305028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8420" y="423962"/>
            <a:ext cx="11180284" cy="876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0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Технологический стек</a:t>
            </a:r>
            <a:endParaRPr lang="en-US" sz="5000" dirty="0"/>
          </a:p>
        </p:txBody>
      </p:sp>
      <p:sp>
        <p:nvSpPr>
          <p:cNvPr id="6" name="Shape 1"/>
          <p:cNvSpPr/>
          <p:nvPr/>
        </p:nvSpPr>
        <p:spPr>
          <a:xfrm>
            <a:off x="667229" y="1352550"/>
            <a:ext cx="11752961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2"/>
          <p:cNvSpPr/>
          <p:nvPr/>
        </p:nvSpPr>
        <p:spPr>
          <a:xfrm>
            <a:off x="717532" y="1714500"/>
            <a:ext cx="10680433" cy="1869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Python, Jupyter, ipywidgets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API (gpt-4o-mini)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Конфигурация через .env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JSON для состояния сессии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Отдельный ноутбук сравнения моделей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17267" y="-17267"/>
            <a:ext cx="6806236" cy="6840835"/>
          </a:xfrm>
          <a:custGeom>
            <a:avLst/>
            <a:gdLst/>
            <a:ahLst/>
            <a:cxnLst/>
            <a:rect l="l" t="t" r="r" b="b"/>
            <a:pathLst>
              <a:path w="6806236" h="6840835">
                <a:moveTo>
                  <a:pt x="0" y="6840835"/>
                </a:moveTo>
                <a:lnTo>
                  <a:pt x="0" y="0"/>
                </a:lnTo>
                <a:lnTo>
                  <a:pt x="6806236" y="6840835"/>
                </a:lnTo>
                <a:close/>
              </a:path>
            </a:pathLst>
          </a:custGeom>
          <a:solidFill>
            <a:srgbClr val="EEF0F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3500000">
            <a:off x="-1904653" y="4366225"/>
            <a:ext cx="3050206" cy="30502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8420" y="423962"/>
            <a:ext cx="11180284" cy="736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Предобученная LLM без дообучения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667229" y="1352550"/>
            <a:ext cx="11562465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1327117" y="1651000"/>
            <a:ext cx="10299442" cy="148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Задача — система обучения, не тренировка нейросети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Промпты + валидация + сравнение готовых моделей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 GPU и размеченного корпуса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Согласовано с куратором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269968" y="4953000"/>
            <a:ext cx="2666933" cy="315416"/>
          </a:xfrm>
          <a:prstGeom prst="roundRect">
            <a:avLst>
              <a:gd name="adj" fmla="val 10871"/>
            </a:avLst>
          </a:prstGeom>
          <a:solidFill>
            <a:srgbClr val="2064FB"/>
          </a:solidFill>
          <a:ln/>
        </p:spPr>
      </p:sp>
      <p:sp>
        <p:nvSpPr>
          <p:cNvPr id="8" name="Text 5"/>
          <p:cNvSpPr/>
          <p:nvPr/>
        </p:nvSpPr>
        <p:spPr>
          <a:xfrm>
            <a:off x="1022324" y="4953000"/>
            <a:ext cx="3162221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Готовая LLM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762381" y="4953000"/>
            <a:ext cx="2666933" cy="630833"/>
          </a:xfrm>
          <a:prstGeom prst="roundRect">
            <a:avLst>
              <a:gd name="adj" fmla="val 5436"/>
            </a:avLst>
          </a:prstGeom>
          <a:solidFill>
            <a:srgbClr val="2064FB"/>
          </a:solidFill>
          <a:ln/>
        </p:spPr>
      </p:sp>
      <p:sp>
        <p:nvSpPr>
          <p:cNvPr id="10" name="Text 7"/>
          <p:cNvSpPr/>
          <p:nvPr/>
        </p:nvSpPr>
        <p:spPr>
          <a:xfrm>
            <a:off x="4819529" y="4953000"/>
            <a:ext cx="2552636" cy="630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Промпты и код TeachAI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254793" y="4953000"/>
            <a:ext cx="2666933" cy="315416"/>
          </a:xfrm>
          <a:prstGeom prst="roundRect">
            <a:avLst>
              <a:gd name="adj" fmla="val 10871"/>
            </a:avLst>
          </a:prstGeom>
          <a:solidFill>
            <a:srgbClr val="2064FB"/>
          </a:solidFill>
          <a:ln/>
        </p:spPr>
      </p:sp>
      <p:sp>
        <p:nvSpPr>
          <p:cNvPr id="12" name="Text 9"/>
          <p:cNvSpPr/>
          <p:nvPr/>
        </p:nvSpPr>
        <p:spPr>
          <a:xfrm>
            <a:off x="8007150" y="4953000"/>
            <a:ext cx="3162221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Контент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752756" y="4953000"/>
            <a:ext cx="1257269" cy="49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7245169" y="4953000"/>
            <a:ext cx="1257269" cy="49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7438" y="-7541"/>
            <a:ext cx="3013694" cy="3029049"/>
          </a:xfrm>
          <a:custGeom>
            <a:avLst/>
            <a:gdLst/>
            <a:ahLst/>
            <a:cxnLst/>
            <a:rect l="l" t="t" r="r" b="b"/>
            <a:pathLst>
              <a:path w="3013694" h="3029049">
                <a:moveTo>
                  <a:pt x="0" y="3029049"/>
                </a:moveTo>
                <a:lnTo>
                  <a:pt x="0" y="0"/>
                </a:lnTo>
                <a:lnTo>
                  <a:pt x="3013694" y="3029049"/>
                </a:lnTo>
                <a:close/>
              </a:path>
            </a:pathLst>
          </a:custGeom>
          <a:solidFill>
            <a:srgbClr val="EEF0F2"/>
          </a:solidFill>
          <a:ln/>
        </p:spPr>
      </p:sp>
      <p:sp>
        <p:nvSpPr>
          <p:cNvPr id="3" name="Shape 1"/>
          <p:cNvSpPr/>
          <p:nvPr/>
        </p:nvSpPr>
        <p:spPr>
          <a:xfrm rot="16200000">
            <a:off x="8305791" y="2964649"/>
            <a:ext cx="3885805" cy="3885902"/>
          </a:xfrm>
          <a:custGeom>
            <a:avLst/>
            <a:gdLst/>
            <a:ahLst/>
            <a:cxnLst/>
            <a:rect l="l" t="t" r="r" b="b"/>
            <a:pathLst>
              <a:path w="3885805" h="3885902">
                <a:moveTo>
                  <a:pt x="0" y="3885902"/>
                </a:moveTo>
                <a:lnTo>
                  <a:pt x="0" y="0"/>
                </a:lnTo>
                <a:lnTo>
                  <a:pt x="3885805" y="3885902"/>
                </a:lnTo>
                <a:close/>
              </a:path>
            </a:pathLst>
          </a:custGeom>
          <a:solidFill>
            <a:srgbClr val="EEF0F2"/>
          </a:solidFill>
          <a:ln/>
        </p:spPr>
      </p:sp>
      <p:sp>
        <p:nvSpPr>
          <p:cNvPr id="4" name="Shape 2"/>
          <p:cNvSpPr/>
          <p:nvPr/>
        </p:nvSpPr>
        <p:spPr>
          <a:xfrm rot="13500000">
            <a:off x="8659697" y="6441679"/>
            <a:ext cx="3253599" cy="76200"/>
          </a:xfrm>
          <a:prstGeom prst="rect">
            <a:avLst/>
          </a:prstGeom>
          <a:solidFill>
            <a:srgbClr val="C9CFD4"/>
          </a:solidFill>
          <a:ln/>
        </p:spPr>
      </p:sp>
      <p:sp>
        <p:nvSpPr>
          <p:cNvPr id="5" name="Shape 3"/>
          <p:cNvSpPr/>
          <p:nvPr/>
        </p:nvSpPr>
        <p:spPr>
          <a:xfrm rot="8100000">
            <a:off x="6359070" y="6441677"/>
            <a:ext cx="3253599" cy="76200"/>
          </a:xfrm>
          <a:prstGeom prst="rect">
            <a:avLst/>
          </a:prstGeom>
          <a:solidFill>
            <a:srgbClr val="C9CFD4"/>
          </a:solidFill>
          <a:ln/>
        </p:spPr>
      </p:sp>
      <p:sp>
        <p:nvSpPr>
          <p:cNvPr id="6" name="Text 4"/>
          <p:cNvSpPr/>
          <p:nvPr/>
        </p:nvSpPr>
        <p:spPr>
          <a:xfrm>
            <a:off x="668420" y="423962"/>
            <a:ext cx="11180284" cy="876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0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Обеспечение качества</a:t>
            </a:r>
            <a:endParaRPr lang="en-US" sz="5000" dirty="0"/>
          </a:p>
        </p:txBody>
      </p:sp>
      <p:sp>
        <p:nvSpPr>
          <p:cNvPr id="7" name="Shape 5"/>
          <p:cNvSpPr/>
          <p:nvPr/>
        </p:nvSpPr>
        <p:spPr>
          <a:xfrm>
            <a:off x="667229" y="1352550"/>
            <a:ext cx="11562465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717532" y="1714500"/>
            <a:ext cx="5219569" cy="59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600" dirty="0">
                <a:solidFill>
                  <a:srgbClr val="2064F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системе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7532" y="2476500"/>
            <a:ext cx="5219569" cy="1869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JSON-план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Синтаксис примеров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Фильтр вопросов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Кэш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6990" y="1714500"/>
            <a:ext cx="5219569" cy="59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600" dirty="0">
                <a:solidFill>
                  <a:srgbClr val="2064F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эксперименте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6990" y="2476500"/>
            <a:ext cx="5219569" cy="1092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Рубрика судей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 gate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Цена и скорость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900000">
            <a:off x="-4320671" y="-5309594"/>
            <a:ext cx="10767842" cy="10768012"/>
          </a:xfrm>
          <a:custGeom>
            <a:avLst/>
            <a:gdLst/>
            <a:ahLst/>
            <a:cxnLst/>
            <a:rect l="l" t="t" r="r" b="b"/>
            <a:pathLst>
              <a:path w="10767842" h="10768012">
                <a:moveTo>
                  <a:pt x="0" y="10768012"/>
                </a:moveTo>
                <a:lnTo>
                  <a:pt x="0" y="0"/>
                </a:lnTo>
                <a:lnTo>
                  <a:pt x="10767842" y="1076801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 rot="18900000">
            <a:off x="7063305" y="-5461994"/>
            <a:ext cx="10767842" cy="10768012"/>
          </a:xfrm>
          <a:custGeom>
            <a:avLst/>
            <a:gdLst/>
            <a:ahLst/>
            <a:cxnLst/>
            <a:rect l="l" t="t" r="r" b="b"/>
            <a:pathLst>
              <a:path w="10767842" h="10768012">
                <a:moveTo>
                  <a:pt x="0" y="10768012"/>
                </a:moveTo>
                <a:lnTo>
                  <a:pt x="0" y="0"/>
                </a:lnTo>
                <a:lnTo>
                  <a:pt x="10767842" y="10768012"/>
                </a:ln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4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1641" y="2819698"/>
            <a:ext cx="8653345" cy="462855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lnTo>
                  <a:pt x="46560" y="0"/>
                </a:lnTo>
                <a:lnTo>
                  <a:pt x="100000" y="100000"/>
                </a:lnTo>
                <a:close/>
              </a:path>
            </a:pathLst>
          </a:cu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00000">
            <a:off x="2658899" y="4680445"/>
            <a:ext cx="8984132" cy="898435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 rot="18900000">
            <a:off x="7063305" y="-6140253"/>
            <a:ext cx="10767842" cy="10768012"/>
          </a:xfrm>
          <a:custGeom>
            <a:avLst/>
            <a:gdLst/>
            <a:ahLst/>
            <a:cxnLst/>
            <a:rect l="l" t="t" r="r" b="b"/>
            <a:pathLst>
              <a:path w="10767842" h="10768012">
                <a:moveTo>
                  <a:pt x="0" y="10768012"/>
                </a:moveTo>
                <a:lnTo>
                  <a:pt x="0" y="0"/>
                </a:lnTo>
                <a:lnTo>
                  <a:pt x="10767842" y="10768012"/>
                </a:lnTo>
                <a:close/>
              </a:path>
            </a:pathLst>
          </a:custGeom>
          <a:solidFill>
            <a:srgbClr val="000000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900000">
            <a:off x="-2173929" y="-4894160"/>
            <a:ext cx="9330298" cy="9330531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 rot="2700000">
            <a:off x="7590539" y="1565080"/>
            <a:ext cx="7420484" cy="76200"/>
          </a:xfrm>
          <a:prstGeom prst="rect">
            <a:avLst/>
          </a:prstGeom>
          <a:solidFill>
            <a:srgbClr val="C9CFD4"/>
          </a:solidFill>
          <a:ln/>
        </p:spPr>
      </p:sp>
      <p:sp>
        <p:nvSpPr>
          <p:cNvPr id="9" name="Text 4"/>
          <p:cNvSpPr/>
          <p:nvPr/>
        </p:nvSpPr>
        <p:spPr>
          <a:xfrm>
            <a:off x="651752" y="518914"/>
            <a:ext cx="5310352" cy="876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0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Выводы</a:t>
            </a:r>
            <a:endParaRPr lang="en-US" sz="5000" dirty="0"/>
          </a:p>
        </p:txBody>
      </p:sp>
      <p:sp>
        <p:nvSpPr>
          <p:cNvPr id="10" name="Text 5"/>
          <p:cNvSpPr/>
          <p:nvPr/>
        </p:nvSpPr>
        <p:spPr>
          <a:xfrm>
            <a:off x="615935" y="1905000"/>
            <a:ext cx="6235544" cy="1869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Модульная система TeachAI в Jupyter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Многошаговый пайплайн LLM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Персонализация и прогресс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gpt-4o-mini выбрана по эксперименту (балл/₽)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Inference-only согласован с куратором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48" y="0"/>
            <a:ext cx="6095848" cy="6096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0"/>
            <a:ext cx="6095848" cy="6096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rot="5400000">
            <a:off x="6026789" y="-68957"/>
            <a:ext cx="6234056" cy="6234212"/>
          </a:xfrm>
          <a:custGeom>
            <a:avLst/>
            <a:gdLst/>
            <a:ahLst/>
            <a:cxnLst/>
            <a:rect l="l" t="t" r="r" b="b"/>
            <a:pathLst>
              <a:path w="6234056" h="6234212">
                <a:moveTo>
                  <a:pt x="6234056" y="6234212"/>
                </a:moveTo>
                <a:lnTo>
                  <a:pt x="6234056" y="0"/>
                </a:lnTo>
                <a:lnTo>
                  <a:pt x="0" y="623421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1"/>
          <p:cNvSpPr/>
          <p:nvPr/>
        </p:nvSpPr>
        <p:spPr>
          <a:xfrm rot="5400000">
            <a:off x="0" y="0"/>
            <a:ext cx="6095848" cy="6096000"/>
          </a:xfrm>
          <a:custGeom>
            <a:avLst/>
            <a:gdLst/>
            <a:ahLst/>
            <a:cxnLst/>
            <a:rect l="l" t="t" r="r" b="b"/>
            <a:pathLst>
              <a:path w="6095848" h="6096000">
                <a:moveTo>
                  <a:pt x="0" y="6096000"/>
                </a:moveTo>
                <a:lnTo>
                  <a:pt x="0" y="0"/>
                </a:lnTo>
                <a:lnTo>
                  <a:pt x="6095848" y="609600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" name="Text 2"/>
          <p:cNvSpPr/>
          <p:nvPr/>
        </p:nvSpPr>
        <p:spPr>
          <a:xfrm>
            <a:off x="700963" y="3374231"/>
            <a:ext cx="10789769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Спасибо за внимание</a:t>
            </a:r>
            <a:endParaRPr lang="en-US" sz="5500" dirty="0"/>
          </a:p>
        </p:txBody>
      </p:sp>
      <p:sp>
        <p:nvSpPr>
          <p:cNvPr id="7" name="Text 3"/>
          <p:cNvSpPr/>
          <p:nvPr/>
        </p:nvSpPr>
        <p:spPr>
          <a:xfrm>
            <a:off x="1453518" y="4916488"/>
            <a:ext cx="9284658" cy="6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Вопросы?</a:t>
            </a:r>
            <a:endParaRPr lang="en-US" sz="2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900000">
            <a:off x="-2871219" y="-8567737"/>
            <a:ext cx="10678647" cy="10678517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71" y="367903"/>
            <a:ext cx="2937099" cy="4019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2026-10-06T09:06:04Z</dcterms:created>
  <dcterms:modified xsi:type="dcterms:W3CDTF">2026-10-06T09:06:04Z</dcterms:modified>
</cp:coreProperties>
</file>